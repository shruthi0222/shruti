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AC0E92-1A90-06B6-F134-7C507E4BD2B5}" v="69" dt="2026-07-31T19:42:16.318"/>
    <p1510:client id="{D0D3A375-A23A-681C-6A0B-2328F53F708F}" v="43" dt="2026-07-31T19:41:23.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1" d="100"/>
          <a:sy n="51" d="100"/>
        </p:scale>
        <p:origin x="86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Churn Distribution</c:v>
                </c:pt>
              </c:strCache>
            </c:strRef>
          </c:tx>
          <c:spPr>
            <a:solidFill>
              <a:srgbClr val="0B2545"/>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c:v>
                </c:pt>
                <c:pt idx="1">
                  <c:v>Yes</c:v>
                </c:pt>
              </c:strCache>
            </c:strRef>
          </c:cat>
          <c:val>
            <c:numRef>
              <c:f>Sheet1!$B$2:$B$3</c:f>
              <c:numCache>
                <c:formatCode>General</c:formatCode>
                <c:ptCount val="2"/>
                <c:pt idx="0">
                  <c:v>5163</c:v>
                </c:pt>
                <c:pt idx="1">
                  <c:v>1869</c:v>
                </c:pt>
              </c:numCache>
            </c:numRef>
          </c:val>
          <c:extLst>
            <c:ext xmlns:c16="http://schemas.microsoft.com/office/drawing/2014/chart" uri="{C3380CC4-5D6E-409C-BE32-E72D297353CC}">
              <c16:uniqueId val="{00000000-1808-4926-9D01-5F325958F2AD}"/>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Contract Type</c:v>
                </c:pt>
              </c:strCache>
            </c:strRef>
          </c:tx>
          <c:spPr>
            <a:solidFill>
              <a:srgbClr val="0090B0"/>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Month-to-Month</c:v>
                </c:pt>
                <c:pt idx="1">
                  <c:v>One Year</c:v>
                </c:pt>
                <c:pt idx="2">
                  <c:v>Two Year</c:v>
                </c:pt>
              </c:strCache>
            </c:strRef>
          </c:cat>
          <c:val>
            <c:numRef>
              <c:f>Sheet1!$B$2:$B$4</c:f>
              <c:numCache>
                <c:formatCode>General</c:formatCode>
                <c:ptCount val="3"/>
                <c:pt idx="0">
                  <c:v>3875</c:v>
                </c:pt>
                <c:pt idx="1">
                  <c:v>1473</c:v>
                </c:pt>
                <c:pt idx="2">
                  <c:v>1695</c:v>
                </c:pt>
              </c:numCache>
            </c:numRef>
          </c:val>
          <c:extLst>
            <c:ext xmlns:c16="http://schemas.microsoft.com/office/drawing/2014/chart" uri="{C3380CC4-5D6E-409C-BE32-E72D297353CC}">
              <c16:uniqueId val="{00000000-A0C6-4D6C-B2CA-3FD71997AB9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Internet Service</c:v>
                </c:pt>
              </c:strCache>
            </c:strRef>
          </c:tx>
          <c:spPr>
            <a:solidFill>
              <a:srgbClr val="13315C"/>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DSL</c:v>
                </c:pt>
                <c:pt idx="1">
                  <c:v>Fiber Optic</c:v>
                </c:pt>
                <c:pt idx="2">
                  <c:v>None</c:v>
                </c:pt>
              </c:strCache>
            </c:strRef>
          </c:cat>
          <c:val>
            <c:numRef>
              <c:f>Sheet1!$B$2:$B$4</c:f>
              <c:numCache>
                <c:formatCode>General</c:formatCode>
                <c:ptCount val="3"/>
                <c:pt idx="0">
                  <c:v>2416</c:v>
                </c:pt>
                <c:pt idx="1">
                  <c:v>3096</c:v>
                </c:pt>
                <c:pt idx="2">
                  <c:v>1520</c:v>
                </c:pt>
              </c:numCache>
            </c:numRef>
          </c:val>
          <c:extLst>
            <c:ext xmlns:c16="http://schemas.microsoft.com/office/drawing/2014/chart" uri="{C3380CC4-5D6E-409C-BE32-E72D297353CC}">
              <c16:uniqueId val="{00000000-C2A3-4C58-BE13-974A7D30BD5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Gender</c:v>
                </c:pt>
              </c:strCache>
            </c:strRef>
          </c:tx>
          <c:spPr>
            <a:solidFill>
              <a:srgbClr val="E8A33D"/>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Female</c:v>
                </c:pt>
                <c:pt idx="1">
                  <c:v>Male</c:v>
                </c:pt>
              </c:strCache>
            </c:strRef>
          </c:cat>
          <c:val>
            <c:numRef>
              <c:f>Sheet1!$B$2:$B$3</c:f>
              <c:numCache>
                <c:formatCode>General</c:formatCode>
                <c:ptCount val="2"/>
                <c:pt idx="0">
                  <c:v>3483</c:v>
                </c:pt>
                <c:pt idx="1">
                  <c:v>3549</c:v>
                </c:pt>
              </c:numCache>
            </c:numRef>
          </c:val>
          <c:extLst>
            <c:ext xmlns:c16="http://schemas.microsoft.com/office/drawing/2014/chart" uri="{C3380CC4-5D6E-409C-BE32-E72D297353CC}">
              <c16:uniqueId val="{00000000-339E-40E0-BFFA-F65C837C82E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Senior Citizen</c:v>
                </c:pt>
              </c:strCache>
            </c:strRef>
          </c:tx>
          <c:spPr>
            <a:solidFill>
              <a:srgbClr val="2E9E5B"/>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Not Senior</c:v>
                </c:pt>
                <c:pt idx="1">
                  <c:v>Senior</c:v>
                </c:pt>
              </c:strCache>
            </c:strRef>
          </c:cat>
          <c:val>
            <c:numRef>
              <c:f>Sheet1!$B$2:$B$3</c:f>
              <c:numCache>
                <c:formatCode>General</c:formatCode>
                <c:ptCount val="2"/>
                <c:pt idx="0">
                  <c:v>5890</c:v>
                </c:pt>
                <c:pt idx="1">
                  <c:v>1142</c:v>
                </c:pt>
              </c:numCache>
            </c:numRef>
          </c:val>
          <c:extLst>
            <c:ext xmlns:c16="http://schemas.microsoft.com/office/drawing/2014/chart" uri="{C3380CC4-5D6E-409C-BE32-E72D297353CC}">
              <c16:uniqueId val="{00000000-C8E3-4CFB-87FC-6C4A9359720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Payment Method</c:v>
                </c:pt>
              </c:strCache>
            </c:strRef>
          </c:tx>
          <c:spPr>
            <a:solidFill>
              <a:srgbClr val="D7263D"/>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E-check</c:v>
                </c:pt>
                <c:pt idx="1">
                  <c:v>Mailed</c:v>
                </c:pt>
                <c:pt idx="2">
                  <c:v>Bank Xfer</c:v>
                </c:pt>
                <c:pt idx="3">
                  <c:v>Credit Card</c:v>
                </c:pt>
              </c:strCache>
            </c:strRef>
          </c:cat>
          <c:val>
            <c:numRef>
              <c:f>Sheet1!$B$2:$B$5</c:f>
              <c:numCache>
                <c:formatCode>General</c:formatCode>
                <c:ptCount val="4"/>
                <c:pt idx="0">
                  <c:v>2365</c:v>
                </c:pt>
                <c:pt idx="1">
                  <c:v>1612</c:v>
                </c:pt>
                <c:pt idx="2">
                  <c:v>1544</c:v>
                </c:pt>
                <c:pt idx="3">
                  <c:v>1521</c:v>
                </c:pt>
              </c:numCache>
            </c:numRef>
          </c:val>
          <c:extLst>
            <c:ext xmlns:c16="http://schemas.microsoft.com/office/drawing/2014/chart" uri="{C3380CC4-5D6E-409C-BE32-E72D297353CC}">
              <c16:uniqueId val="{00000000-4E61-437E-BEA8-F0CF4215E6F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Online Security</c:v>
                </c:pt>
              </c:strCache>
            </c:strRef>
          </c:tx>
          <c:spPr>
            <a:solidFill>
              <a:srgbClr val="0B2545"/>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c:v>
                </c:pt>
                <c:pt idx="1">
                  <c:v>Yes</c:v>
                </c:pt>
                <c:pt idx="2">
                  <c:v>No Internet</c:v>
                </c:pt>
              </c:strCache>
            </c:strRef>
          </c:cat>
          <c:val>
            <c:numRef>
              <c:f>Sheet1!$B$2:$B$4</c:f>
              <c:numCache>
                <c:formatCode>General</c:formatCode>
                <c:ptCount val="3"/>
                <c:pt idx="0">
                  <c:v>3498</c:v>
                </c:pt>
                <c:pt idx="1">
                  <c:v>2019</c:v>
                </c:pt>
                <c:pt idx="2">
                  <c:v>1520</c:v>
                </c:pt>
              </c:numCache>
            </c:numRef>
          </c:val>
          <c:extLst>
            <c:ext xmlns:c16="http://schemas.microsoft.com/office/drawing/2014/chart" uri="{C3380CC4-5D6E-409C-BE32-E72D297353CC}">
              <c16:uniqueId val="{00000000-CF48-4895-93D7-0D8DD3AE3BD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Tech Support</c:v>
                </c:pt>
              </c:strCache>
            </c:strRef>
          </c:tx>
          <c:spPr>
            <a:solidFill>
              <a:srgbClr val="0090B0"/>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c:v>
                </c:pt>
                <c:pt idx="1">
                  <c:v>Yes</c:v>
                </c:pt>
                <c:pt idx="2">
                  <c:v>No Internet</c:v>
                </c:pt>
              </c:strCache>
            </c:strRef>
          </c:cat>
          <c:val>
            <c:numRef>
              <c:f>Sheet1!$B$2:$B$4</c:f>
              <c:numCache>
                <c:formatCode>General</c:formatCode>
                <c:ptCount val="3"/>
                <c:pt idx="0">
                  <c:v>3473</c:v>
                </c:pt>
                <c:pt idx="1">
                  <c:v>2044</c:v>
                </c:pt>
                <c:pt idx="2">
                  <c:v>1520</c:v>
                </c:pt>
              </c:numCache>
            </c:numRef>
          </c:val>
          <c:extLst>
            <c:ext xmlns:c16="http://schemas.microsoft.com/office/drawing/2014/chart" uri="{C3380CC4-5D6E-409C-BE32-E72D297353CC}">
              <c16:uniqueId val="{00000000-A9A6-4FC0-AA21-5524423ABFC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Paperless Billing</c:v>
                </c:pt>
              </c:strCache>
            </c:strRef>
          </c:tx>
          <c:spPr>
            <a:solidFill>
              <a:srgbClr val="13315C"/>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General</c:formatCode>
                <c:ptCount val="2"/>
                <c:pt idx="0">
                  <c:v>4171</c:v>
                </c:pt>
                <c:pt idx="1">
                  <c:v>2862</c:v>
                </c:pt>
              </c:numCache>
            </c:numRef>
          </c:val>
          <c:extLst>
            <c:ext xmlns:c16="http://schemas.microsoft.com/office/drawing/2014/chart" uri="{C3380CC4-5D6E-409C-BE32-E72D297353CC}">
              <c16:uniqueId val="{00000000-474C-4C2E-A724-2CF39A58E438}"/>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Monthly Charges (₹ bins)</c:v>
                </c:pt>
              </c:strCache>
            </c:strRef>
          </c:tx>
          <c:spPr>
            <a:solidFill>
              <a:srgbClr val="E8A33D"/>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&lt;35</c:v>
                </c:pt>
                <c:pt idx="1">
                  <c:v>35-70</c:v>
                </c:pt>
                <c:pt idx="2">
                  <c:v>70-100</c:v>
                </c:pt>
                <c:pt idx="3">
                  <c:v>&gt;100</c:v>
                </c:pt>
              </c:strCache>
            </c:strRef>
          </c:cat>
          <c:val>
            <c:numRef>
              <c:f>Sheet1!$B$2:$B$5</c:f>
              <c:numCache>
                <c:formatCode>General</c:formatCode>
                <c:ptCount val="4"/>
                <c:pt idx="0">
                  <c:v>1418</c:v>
                </c:pt>
                <c:pt idx="1">
                  <c:v>1560</c:v>
                </c:pt>
                <c:pt idx="2">
                  <c:v>2515</c:v>
                </c:pt>
                <c:pt idx="3">
                  <c:v>1539</c:v>
                </c:pt>
              </c:numCache>
            </c:numRef>
          </c:val>
          <c:extLst>
            <c:ext xmlns:c16="http://schemas.microsoft.com/office/drawing/2014/chart" uri="{C3380CC4-5D6E-409C-BE32-E72D297353CC}">
              <c16:uniqueId val="{00000000-589B-43BA-9BF5-953AD2DB2A04}"/>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Tenure (months, avg by group)</c:v>
                </c:pt>
              </c:strCache>
            </c:strRef>
          </c:tx>
          <c:spPr>
            <a:solidFill>
              <a:srgbClr val="2E9E5B"/>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Churn: No</c:v>
                </c:pt>
                <c:pt idx="1">
                  <c:v>Churn: Yes</c:v>
                </c:pt>
              </c:strCache>
            </c:strRef>
          </c:cat>
          <c:val>
            <c:numRef>
              <c:f>Sheet1!$B$2:$B$3</c:f>
              <c:numCache>
                <c:formatCode>General</c:formatCode>
                <c:ptCount val="2"/>
                <c:pt idx="0">
                  <c:v>37.6</c:v>
                </c:pt>
                <c:pt idx="1">
                  <c:v>17.600000000000001</c:v>
                </c:pt>
              </c:numCache>
            </c:numRef>
          </c:val>
          <c:extLst>
            <c:ext xmlns:c16="http://schemas.microsoft.com/office/drawing/2014/chart" uri="{C3380CC4-5D6E-409C-BE32-E72D297353CC}">
              <c16:uniqueId val="{00000000-43A0-45A6-83CC-A95883AD32F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Streaming TV</c:v>
                </c:pt>
              </c:strCache>
            </c:strRef>
          </c:tx>
          <c:spPr>
            <a:solidFill>
              <a:srgbClr val="D7263D"/>
            </a:solidFill>
            <a:effectLst/>
          </c:spPr>
          <c:invertIfNegative val="0"/>
          <c:dLbls>
            <c:numFmt formatCode="#,##0" sourceLinked="0"/>
            <c:spPr>
              <a:noFill/>
              <a:ln>
                <a:noFill/>
              </a:ln>
              <a:effectLst/>
            </c:spPr>
            <c:txPr>
              <a:bodyPr/>
              <a:lstStyle/>
              <a:p>
                <a:pPr>
                  <a:defRPr sz="8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c:v>
                </c:pt>
                <c:pt idx="1">
                  <c:v>Yes</c:v>
                </c:pt>
                <c:pt idx="2">
                  <c:v>No Internet</c:v>
                </c:pt>
              </c:strCache>
            </c:strRef>
          </c:cat>
          <c:val>
            <c:numRef>
              <c:f>Sheet1!$B$2:$B$4</c:f>
              <c:numCache>
                <c:formatCode>General</c:formatCode>
                <c:ptCount val="3"/>
                <c:pt idx="0">
                  <c:v>2810</c:v>
                </c:pt>
                <c:pt idx="1">
                  <c:v>2703</c:v>
                </c:pt>
                <c:pt idx="2">
                  <c:v>1520</c:v>
                </c:pt>
              </c:numCache>
            </c:numRef>
          </c:val>
          <c:extLst>
            <c:ext xmlns:c16="http://schemas.microsoft.com/office/drawing/2014/chart" uri="{C3380CC4-5D6E-409C-BE32-E72D297353CC}">
              <c16:uniqueId val="{00000000-2AA4-4BD6-99F1-7CC75DAFA5E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0B2545"/>
            </a:solidFill>
            <a:effectLst/>
          </c:spPr>
          <c:invertIfNegative val="0"/>
          <c:cat>
            <c:strRef>
              <c:f>Sheet1!$A$2:$A$4</c:f>
              <c:strCache>
                <c:ptCount val="3"/>
                <c:pt idx="0">
                  <c:v>Logistic Reg.</c:v>
                </c:pt>
                <c:pt idx="1">
                  <c:v>Decision Tree</c:v>
                </c:pt>
                <c:pt idx="2">
                  <c:v>Random Forest</c:v>
                </c:pt>
              </c:strCache>
            </c:strRef>
          </c:cat>
          <c:val>
            <c:numRef>
              <c:f>Sheet1!$B$2:$B$4</c:f>
              <c:numCache>
                <c:formatCode>General</c:formatCode>
                <c:ptCount val="3"/>
                <c:pt idx="0">
                  <c:v>78.540000000000006</c:v>
                </c:pt>
                <c:pt idx="1">
                  <c:v>72.489999999999995</c:v>
                </c:pt>
                <c:pt idx="2">
                  <c:v>79.25</c:v>
                </c:pt>
              </c:numCache>
            </c:numRef>
          </c:val>
          <c:extLst>
            <c:ext xmlns:c16="http://schemas.microsoft.com/office/drawing/2014/chart" uri="{C3380CC4-5D6E-409C-BE32-E72D297353CC}">
              <c16:uniqueId val="{00000000-AC02-4216-9096-32D5D6810CDC}"/>
            </c:ext>
          </c:extLst>
        </c:ser>
        <c:ser>
          <c:idx val="1"/>
          <c:order val="1"/>
          <c:tx>
            <c:strRef>
              <c:f>Sheet1!$C$1</c:f>
              <c:strCache>
                <c:ptCount val="1"/>
                <c:pt idx="0">
                  <c:v>Precision</c:v>
                </c:pt>
              </c:strCache>
            </c:strRef>
          </c:tx>
          <c:spPr>
            <a:solidFill>
              <a:srgbClr val="0090B0"/>
            </a:solidFill>
            <a:effectLst/>
          </c:spPr>
          <c:invertIfNegative val="0"/>
          <c:cat>
            <c:strRef>
              <c:f>Sheet1!$A$2:$A$4</c:f>
              <c:strCache>
                <c:ptCount val="3"/>
                <c:pt idx="0">
                  <c:v>Logistic Reg.</c:v>
                </c:pt>
                <c:pt idx="1">
                  <c:v>Decision Tree</c:v>
                </c:pt>
                <c:pt idx="2">
                  <c:v>Random Forest</c:v>
                </c:pt>
              </c:strCache>
            </c:strRef>
          </c:cat>
          <c:val>
            <c:numRef>
              <c:f>Sheet1!$C$2:$C$4</c:f>
              <c:numCache>
                <c:formatCode>General</c:formatCode>
                <c:ptCount val="3"/>
                <c:pt idx="0">
                  <c:v>62.08</c:v>
                </c:pt>
                <c:pt idx="1">
                  <c:v>48.38</c:v>
                </c:pt>
                <c:pt idx="2">
                  <c:v>64.44</c:v>
                </c:pt>
              </c:numCache>
            </c:numRef>
          </c:val>
          <c:extLst>
            <c:ext xmlns:c16="http://schemas.microsoft.com/office/drawing/2014/chart" uri="{C3380CC4-5D6E-409C-BE32-E72D297353CC}">
              <c16:uniqueId val="{00000001-AC02-4216-9096-32D5D6810CDC}"/>
            </c:ext>
          </c:extLst>
        </c:ser>
        <c:ser>
          <c:idx val="2"/>
          <c:order val="2"/>
          <c:tx>
            <c:strRef>
              <c:f>Sheet1!$D$1</c:f>
              <c:strCache>
                <c:ptCount val="1"/>
                <c:pt idx="0">
                  <c:v>F1 Score</c:v>
                </c:pt>
              </c:strCache>
            </c:strRef>
          </c:tx>
          <c:spPr>
            <a:solidFill>
              <a:srgbClr val="E8A33D"/>
            </a:solidFill>
            <a:effectLst/>
          </c:spPr>
          <c:invertIfNegative val="0"/>
          <c:cat>
            <c:strRef>
              <c:f>Sheet1!$A$2:$A$4</c:f>
              <c:strCache>
                <c:ptCount val="3"/>
                <c:pt idx="0">
                  <c:v>Logistic Reg.</c:v>
                </c:pt>
                <c:pt idx="1">
                  <c:v>Decision Tree</c:v>
                </c:pt>
                <c:pt idx="2">
                  <c:v>Random Forest</c:v>
                </c:pt>
              </c:strCache>
            </c:strRef>
          </c:cat>
          <c:val>
            <c:numRef>
              <c:f>Sheet1!$D$2:$D$4</c:f>
              <c:numCache>
                <c:formatCode>General</c:formatCode>
                <c:ptCount val="3"/>
                <c:pt idx="0">
                  <c:v>55.06</c:v>
                </c:pt>
                <c:pt idx="1">
                  <c:v>50.06</c:v>
                </c:pt>
                <c:pt idx="2">
                  <c:v>55.62</c:v>
                </c:pt>
              </c:numCache>
            </c:numRef>
          </c:val>
          <c:extLst>
            <c:ext xmlns:c16="http://schemas.microsoft.com/office/drawing/2014/chart" uri="{C3380CC4-5D6E-409C-BE32-E72D297353CC}">
              <c16:uniqueId val="{00000002-AC02-4216-9096-32D5D6810CDC}"/>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DF2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7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3315C"/>
                </a:solidFill>
                <a:latin typeface="Arial"/>
              </a:defRPr>
            </a:pPr>
            <a:r>
              <a:rPr sz="1200" b="0" i="0" u="none" strike="noStrike">
                <a:solidFill>
                  <a:srgbClr val="13315C"/>
                </a:solidFill>
                <a:latin typeface="Arial"/>
              </a:rPr>
              <a:t>Correlation Coefficient with Churn</a:t>
            </a:r>
          </a:p>
        </c:rich>
      </c:tx>
      <c:overlay val="0"/>
    </c:title>
    <c:autoTitleDeleted val="0"/>
    <c:plotArea>
      <c:layout/>
      <c:barChart>
        <c:barDir val="bar"/>
        <c:grouping val="clustered"/>
        <c:varyColors val="0"/>
        <c:ser>
          <c:idx val="0"/>
          <c:order val="0"/>
          <c:tx>
            <c:strRef>
              <c:f>Sheet1!$B$1</c:f>
              <c:strCache>
                <c:ptCount val="1"/>
                <c:pt idx="0">
                  <c:v>Correlation with Churn</c:v>
                </c:pt>
              </c:strCache>
            </c:strRef>
          </c:tx>
          <c:spPr>
            <a:solidFill>
              <a:srgbClr val="0090B0"/>
            </a:solidFill>
            <a:effectLst/>
          </c:spPr>
          <c:invertIfNegative val="0"/>
          <c:dLbls>
            <c:numFmt formatCode="#,##0" sourceLinked="0"/>
            <c:spPr>
              <a:noFill/>
              <a:ln>
                <a:noFill/>
              </a:ln>
              <a:effectLst/>
            </c:spPr>
            <c:txPr>
              <a:bodyPr/>
              <a:lstStyle/>
              <a:p>
                <a:pPr>
                  <a:defRPr sz="900" b="0" i="0" u="none" strike="noStrike">
                    <a:solidFill>
                      <a:srgbClr val="1331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Contract</c:v>
                </c:pt>
                <c:pt idx="1">
                  <c:v>Tenure</c:v>
                </c:pt>
                <c:pt idx="2">
                  <c:v>OnlineSecurity</c:v>
                </c:pt>
                <c:pt idx="3">
                  <c:v>TechSupport</c:v>
                </c:pt>
                <c:pt idx="4">
                  <c:v>PaymentMethod</c:v>
                </c:pt>
                <c:pt idx="5">
                  <c:v>InternetService</c:v>
                </c:pt>
                <c:pt idx="6">
                  <c:v>MonthlyCharges</c:v>
                </c:pt>
                <c:pt idx="7">
                  <c:v>Gender</c:v>
                </c:pt>
              </c:strCache>
            </c:strRef>
          </c:cat>
          <c:val>
            <c:numRef>
              <c:f>Sheet1!$B$2:$B$9</c:f>
              <c:numCache>
                <c:formatCode>General</c:formatCode>
                <c:ptCount val="8"/>
                <c:pt idx="0">
                  <c:v>-0.4</c:v>
                </c:pt>
                <c:pt idx="1">
                  <c:v>-0.35</c:v>
                </c:pt>
                <c:pt idx="2">
                  <c:v>-0.28999999999999998</c:v>
                </c:pt>
                <c:pt idx="3">
                  <c:v>-0.28000000000000003</c:v>
                </c:pt>
                <c:pt idx="4">
                  <c:v>0.19</c:v>
                </c:pt>
                <c:pt idx="5">
                  <c:v>0.19</c:v>
                </c:pt>
                <c:pt idx="6">
                  <c:v>0.19</c:v>
                </c:pt>
                <c:pt idx="7">
                  <c:v>-0.01</c:v>
                </c:pt>
              </c:numCache>
            </c:numRef>
          </c:val>
          <c:extLst>
            <c:ext xmlns:c16="http://schemas.microsoft.com/office/drawing/2014/chart" uri="{C3380CC4-5D6E-409C-BE32-E72D297353CC}">
              <c16:uniqueId val="{00000000-C88C-4CC9-966B-44B89C4923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EDF2F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202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Introduce the project title: Customer Churn Prediction using Machine Learning. State your name, roll number, department, and college. Briefly mention this project applies supervised machine learning to predict which telecom customers are likely to discontinue their subscription, using the Telco Customer Churn dataset.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churn refers to customers discontinuing their relationship with a business. Retaining existing customers is more cost-effective than acquiring new ones, since acquisition costs are typically five to seven times higher than retention costs. In our dataset, roughly 27% of customers have churned, which represents significant lost revenue — this motivates the need for a predictive model that flags at-risk customers early so the business can intervene.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statement is a binary classification task: given a customer's profile — demographics, subscribed services, contract type, and billing information — predict whether that customer will churn. Solving this lets the business proactively target at-risk customers with retention offers rather than reacting after they've already left.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were five-fold: first, explore and understand the raw customer data; second, identify which factors correlate most with churn; third, build multiple machine learning models; fourth, compare their performance using standard classification metrics; and fifth, use feature engineering to push prediction accuracy higher.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used is the Telco Customer Churn dataset, containing 7,043 customer records across 21 columns — 20 features plus the target variable, Churn. Features fall into four natural groups: demographics, account information, subscribed services, and billing details. Most features are categorical, with tenure, MonthlyCharges, and TotalCharges being numerical. The target variable is binary: whether the customer churned or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followed five steps. First, we dropped customerID since it is a unique identifier with no predictive value. Second, TotalCharges was stored as a text column and needed conversion to numeric, using pd.to_numeric with errors='coerce', which exposed 11 blank values. Third, those 11 rows with missing TotalCharges were dropped, taking the dataset from 7,043 to 7,032 rows. Fourth, every remaining categorical column was label-encoded into numeric form. The dataset was then fully numeric and ready for correlation analysis and model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Exploring the customer base: about 26.6% of customers have churned. Month-to-month contracts are by far the most common type. Fiber optic is the most subscribed internet service, ahead of DSL, with a smaller group having no internet service at all. Gender is almost evenly split, most customers are not senior citizens, and Electronic Check is the most common payment method, followed by mailed cheques, automatic bank transfer, and automatic credit card payment.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majority of customers do not subscribe to Online Security or Tech Support, and these are two services that turned out to be strongly linked to churn later in our correlation analysis. Most customers use Paperless Billing. Monthly charges cluster between seventy and one hundred rupees for most subscribers. Tenure shows a clear pattern — churned customers had a much shorter median tenure than retained customers. Streaming TV usage is roughly split between subscribers and non-subscribers.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insights stand out from the exploratory analysis. Month-to-month contract customers churn the most, since they face no penalty for leaving. Fiber optic customers, despite being the largest internet service segment, show the highest churn — possibly due to pricing or service quality perception. Customers paying higher monthly charges are more likely to churn. Tenure has an inverse relationship with churn: the longer someone stays, the less likely they are to leave. Finally, the absence of value-added services like Tech Support and Online Security correlates with higher churn, suggesting these services improve stickiness.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machine learning workflow follows seven stages: we start with data collection from the Telco Customer Churn dataset, move to preprocessing to clean and encode the data, then feature engineering to create additional predictive signals, followed by a train-test split. We then train multiple models, use them to generate predictions on unseen data, and finally evaluate their performance using classification metrics. This structured pipeline ensures reproducibility and makes it easy to compare models fairly.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label encoding, we engineered three additional features. LongTermCustomer flags customers with tenure of 24 months or more. HighMonthlyCharges flags customers paying above the median monthly charge. AverageMonthlySpend divides TotalCharges by tenure to normalize spending across customers with different subscription lengths. After engineering, the dataset grew to 22 feature columns before the target, and was re-split 80:20 into 5,625 training and 1,407 testing rows. Cross-validation was also applied to Logistic Regression to verify the model generalizes rather than overfitting.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and compared three supervised classification algorithms: Logistic Regression, which models churn probability as a linear combination of features and serves as an interpretable baseline; Decision Tree, which learns a series of splitting rules; and Random Forest, an ensemble of many decision trees that averages their predictions to reduce variance and overfitting. As we'll see in the results, Random Forest emerged as the best-performing model on this dataset.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our models using four core classification metrics. Accuracy measures the overall proportion of correct predictions. Precision tells us, of everyone predicted to churn, how many really did. Recall tells us, of everyone who actually churned, how many we successfully caught. F1 Score balances precision and recall into a single number, which matters here because the dataset is imbalanced — roughly 73% stay and 27% churn — so accuracy alone can be misleading. The confusion matrix breaks predictions into true positives, true negatives, false positives, and false negatives, giving a fuller picture of where each model succeeds or struggles. ROC-AUC is a related metric we've flagged as a future extension.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all three models: Logistic Regression achieved 78.54% accuracy, 62.08% precision, 49.47% recall, and an F1-score of 55.06%. Decision Tree underperformed the other two, at 72.49% accuracy but with a slightly higher recall of 51.87%. Random Forest came out on top with 79.25% accuracy, 64.44% precision, and the best F1-score at 55.62%, making it our recommended model for deployment. Recall remains the weakest metric across all models, meaning there is still room to catch more true churners — an area for future tuning.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confusion matrices in detail: Logistic Regression correctly classified 920 non-churners and 185 churners, with 113 false positives and 189 false negatives. Decision Tree correctly identified 826 non-churners and 194 churners but produced more false positives, at 207. Random Forest achieved the strongest results overall — 932 true negatives and 183 true positives, with only 101 false positives, the lowest of the three models. Across all models, false negatives — actual churners the model misses — remain in a similar 180 to 191 range, which is the primary area for future improvement.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correlation heatmap across all encoded features confirmed our EDA findings quantitatively. Contract type and tenure show the strongest negative correlation with churn — customers on longer contracts and with longer tenure are least likely to churn. Online Security and Tech Support show moderate negative correlations, meaning customers with these add-ons tend to stay. Conversely, Monthly Charges, Payment Method, and Internet Service show moderate positive correlation with churn. Gender showed almost no correlation, confirming it is not a meaningful predictor. These findings guided our feature engineering and helped validate which signals the models should rely on most.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value of an accurate churn model is significant. It lets a company reduce churn by intervening before a customer leaves, improve retention by targeting the right customers with the right offers, and improve satisfaction by fixing underlying service gaps. It also enables smarter, risk-segmented marketing, and ultimately protects and grows revenue, since retaining a customer is far cheaper than acquiring a new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has clear paths for extension. On the modelling side, algorithms like XGBoost and deep learning could be benchmarked against our current models, alongside a formal ROC-AUC evaluation and GridSearchCV-based hyperparameter tuning to close the recall gap identified earlier. Operationally, the model could move from batch analysis to real-time scoring, use explainable AI techniques like SHAP or LIME so business teams trust and understand its predictions, and ultimately be deployed as a Streamlit or Flask web app integrated directly into the company's CRM system.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developed a complete machine learning pipeline for customer churn prediction, starting from raw data cleaning through to model evaluation. Among the three models tested, Random Forest was the best performer, achieving the highest accuracy, precision, and F1-score. Our analysis confirmed that contract type, tenure, and the presence of support services like Online Security and Tech Support are the strongest churn drivers. Ultimately, this model equips the business with a practical, data-driven tool to identify at-risk customers early and take targeted action to retain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drew on the official scikit-learn documentation for model implementation and evaluation metrics, the XGBoost documentation as a reference for potential future extensions, the Telco Customer Churn dataset from Kaggle as our data source, relevant research papers on churn prediction methodology, and the Python documentation for pandas, NumPy, Matplotlib, and Seaborn.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chart" Target="../charts/chart7.xml"/><Relationship Id="rId7" Type="http://schemas.openxmlformats.org/officeDocument/2006/relationships/chart" Target="../charts/chart1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8869680" y="457200"/>
            <a:ext cx="54864" cy="54864"/>
          </a:xfrm>
          <a:prstGeom prst="ellipse">
            <a:avLst/>
          </a:prstGeom>
          <a:solidFill>
            <a:srgbClr val="1C4270"/>
          </a:solidFill>
          <a:ln/>
        </p:spPr>
      </p:sp>
      <p:sp>
        <p:nvSpPr>
          <p:cNvPr id="3" name="Shape 1"/>
          <p:cNvSpPr/>
          <p:nvPr/>
        </p:nvSpPr>
        <p:spPr>
          <a:xfrm>
            <a:off x="8869680" y="749808"/>
            <a:ext cx="54864" cy="54864"/>
          </a:xfrm>
          <a:prstGeom prst="ellipse">
            <a:avLst/>
          </a:prstGeom>
          <a:solidFill>
            <a:srgbClr val="1C4270"/>
          </a:solidFill>
          <a:ln/>
        </p:spPr>
      </p:sp>
      <p:sp>
        <p:nvSpPr>
          <p:cNvPr id="4" name="Shape 2"/>
          <p:cNvSpPr/>
          <p:nvPr/>
        </p:nvSpPr>
        <p:spPr>
          <a:xfrm>
            <a:off x="8869680" y="1042416"/>
            <a:ext cx="54864" cy="54864"/>
          </a:xfrm>
          <a:prstGeom prst="ellipse">
            <a:avLst/>
          </a:prstGeom>
          <a:solidFill>
            <a:srgbClr val="1C4270"/>
          </a:solidFill>
          <a:ln/>
        </p:spPr>
      </p:sp>
      <p:sp>
        <p:nvSpPr>
          <p:cNvPr id="5" name="Shape 3"/>
          <p:cNvSpPr/>
          <p:nvPr/>
        </p:nvSpPr>
        <p:spPr>
          <a:xfrm>
            <a:off x="8869680" y="1335024"/>
            <a:ext cx="54864" cy="54864"/>
          </a:xfrm>
          <a:prstGeom prst="ellipse">
            <a:avLst/>
          </a:prstGeom>
          <a:solidFill>
            <a:srgbClr val="1C4270"/>
          </a:solidFill>
          <a:ln/>
        </p:spPr>
      </p:sp>
      <p:sp>
        <p:nvSpPr>
          <p:cNvPr id="6" name="Shape 4"/>
          <p:cNvSpPr/>
          <p:nvPr/>
        </p:nvSpPr>
        <p:spPr>
          <a:xfrm>
            <a:off x="8869680" y="1627632"/>
            <a:ext cx="54864" cy="54864"/>
          </a:xfrm>
          <a:prstGeom prst="ellipse">
            <a:avLst/>
          </a:prstGeom>
          <a:solidFill>
            <a:srgbClr val="1C4270"/>
          </a:solidFill>
          <a:ln/>
        </p:spPr>
      </p:sp>
      <p:sp>
        <p:nvSpPr>
          <p:cNvPr id="7" name="Shape 5"/>
          <p:cNvSpPr/>
          <p:nvPr/>
        </p:nvSpPr>
        <p:spPr>
          <a:xfrm>
            <a:off x="8869680" y="1920240"/>
            <a:ext cx="54864" cy="54864"/>
          </a:xfrm>
          <a:prstGeom prst="ellipse">
            <a:avLst/>
          </a:prstGeom>
          <a:solidFill>
            <a:srgbClr val="1C4270"/>
          </a:solidFill>
          <a:ln/>
        </p:spPr>
      </p:sp>
      <p:sp>
        <p:nvSpPr>
          <p:cNvPr id="8" name="Shape 6"/>
          <p:cNvSpPr/>
          <p:nvPr/>
        </p:nvSpPr>
        <p:spPr>
          <a:xfrm>
            <a:off x="9162288" y="457200"/>
            <a:ext cx="54864" cy="54864"/>
          </a:xfrm>
          <a:prstGeom prst="ellipse">
            <a:avLst/>
          </a:prstGeom>
          <a:solidFill>
            <a:srgbClr val="1C4270"/>
          </a:solidFill>
          <a:ln/>
        </p:spPr>
      </p:sp>
      <p:sp>
        <p:nvSpPr>
          <p:cNvPr id="9" name="Shape 7"/>
          <p:cNvSpPr/>
          <p:nvPr/>
        </p:nvSpPr>
        <p:spPr>
          <a:xfrm>
            <a:off x="9162288" y="749808"/>
            <a:ext cx="54864" cy="54864"/>
          </a:xfrm>
          <a:prstGeom prst="ellipse">
            <a:avLst/>
          </a:prstGeom>
          <a:solidFill>
            <a:srgbClr val="1C4270"/>
          </a:solidFill>
          <a:ln/>
        </p:spPr>
      </p:sp>
      <p:sp>
        <p:nvSpPr>
          <p:cNvPr id="10" name="Shape 8"/>
          <p:cNvSpPr/>
          <p:nvPr/>
        </p:nvSpPr>
        <p:spPr>
          <a:xfrm>
            <a:off x="9162288" y="1042416"/>
            <a:ext cx="54864" cy="54864"/>
          </a:xfrm>
          <a:prstGeom prst="ellipse">
            <a:avLst/>
          </a:prstGeom>
          <a:solidFill>
            <a:srgbClr val="1C4270"/>
          </a:solidFill>
          <a:ln/>
        </p:spPr>
      </p:sp>
      <p:sp>
        <p:nvSpPr>
          <p:cNvPr id="11" name="Shape 9"/>
          <p:cNvSpPr/>
          <p:nvPr/>
        </p:nvSpPr>
        <p:spPr>
          <a:xfrm>
            <a:off x="9162288" y="1335024"/>
            <a:ext cx="54864" cy="54864"/>
          </a:xfrm>
          <a:prstGeom prst="ellipse">
            <a:avLst/>
          </a:prstGeom>
          <a:solidFill>
            <a:srgbClr val="1C4270"/>
          </a:solidFill>
          <a:ln/>
        </p:spPr>
      </p:sp>
      <p:sp>
        <p:nvSpPr>
          <p:cNvPr id="12" name="Shape 10"/>
          <p:cNvSpPr/>
          <p:nvPr/>
        </p:nvSpPr>
        <p:spPr>
          <a:xfrm>
            <a:off x="9162288" y="1627632"/>
            <a:ext cx="54864" cy="54864"/>
          </a:xfrm>
          <a:prstGeom prst="ellipse">
            <a:avLst/>
          </a:prstGeom>
          <a:solidFill>
            <a:srgbClr val="1C4270"/>
          </a:solidFill>
          <a:ln/>
        </p:spPr>
      </p:sp>
      <p:sp>
        <p:nvSpPr>
          <p:cNvPr id="13" name="Shape 11"/>
          <p:cNvSpPr/>
          <p:nvPr/>
        </p:nvSpPr>
        <p:spPr>
          <a:xfrm>
            <a:off x="9162288" y="1920240"/>
            <a:ext cx="54864" cy="54864"/>
          </a:xfrm>
          <a:prstGeom prst="ellipse">
            <a:avLst/>
          </a:prstGeom>
          <a:solidFill>
            <a:srgbClr val="1C4270"/>
          </a:solidFill>
          <a:ln/>
        </p:spPr>
      </p:sp>
      <p:sp>
        <p:nvSpPr>
          <p:cNvPr id="14" name="Shape 12"/>
          <p:cNvSpPr/>
          <p:nvPr/>
        </p:nvSpPr>
        <p:spPr>
          <a:xfrm>
            <a:off x="9454896" y="457200"/>
            <a:ext cx="54864" cy="54864"/>
          </a:xfrm>
          <a:prstGeom prst="ellipse">
            <a:avLst/>
          </a:prstGeom>
          <a:solidFill>
            <a:srgbClr val="1C4270"/>
          </a:solidFill>
          <a:ln/>
        </p:spPr>
      </p:sp>
      <p:sp>
        <p:nvSpPr>
          <p:cNvPr id="15" name="Shape 13"/>
          <p:cNvSpPr/>
          <p:nvPr/>
        </p:nvSpPr>
        <p:spPr>
          <a:xfrm>
            <a:off x="9454896" y="749808"/>
            <a:ext cx="54864" cy="54864"/>
          </a:xfrm>
          <a:prstGeom prst="ellipse">
            <a:avLst/>
          </a:prstGeom>
          <a:solidFill>
            <a:srgbClr val="1C4270"/>
          </a:solidFill>
          <a:ln/>
        </p:spPr>
      </p:sp>
      <p:sp>
        <p:nvSpPr>
          <p:cNvPr id="16" name="Shape 14"/>
          <p:cNvSpPr/>
          <p:nvPr/>
        </p:nvSpPr>
        <p:spPr>
          <a:xfrm>
            <a:off x="9454896" y="1042416"/>
            <a:ext cx="54864" cy="54864"/>
          </a:xfrm>
          <a:prstGeom prst="ellipse">
            <a:avLst/>
          </a:prstGeom>
          <a:solidFill>
            <a:srgbClr val="1C4270"/>
          </a:solidFill>
          <a:ln/>
        </p:spPr>
      </p:sp>
      <p:sp>
        <p:nvSpPr>
          <p:cNvPr id="17" name="Shape 15"/>
          <p:cNvSpPr/>
          <p:nvPr/>
        </p:nvSpPr>
        <p:spPr>
          <a:xfrm>
            <a:off x="9454896" y="1335024"/>
            <a:ext cx="54864" cy="54864"/>
          </a:xfrm>
          <a:prstGeom prst="ellipse">
            <a:avLst/>
          </a:prstGeom>
          <a:solidFill>
            <a:srgbClr val="1C4270"/>
          </a:solidFill>
          <a:ln/>
        </p:spPr>
      </p:sp>
      <p:sp>
        <p:nvSpPr>
          <p:cNvPr id="18" name="Shape 16"/>
          <p:cNvSpPr/>
          <p:nvPr/>
        </p:nvSpPr>
        <p:spPr>
          <a:xfrm>
            <a:off x="9454896" y="1627632"/>
            <a:ext cx="54864" cy="54864"/>
          </a:xfrm>
          <a:prstGeom prst="ellipse">
            <a:avLst/>
          </a:prstGeom>
          <a:solidFill>
            <a:srgbClr val="1C4270"/>
          </a:solidFill>
          <a:ln/>
        </p:spPr>
      </p:sp>
      <p:sp>
        <p:nvSpPr>
          <p:cNvPr id="19" name="Shape 17"/>
          <p:cNvSpPr/>
          <p:nvPr/>
        </p:nvSpPr>
        <p:spPr>
          <a:xfrm>
            <a:off x="9454896" y="1920240"/>
            <a:ext cx="54864" cy="54864"/>
          </a:xfrm>
          <a:prstGeom prst="ellipse">
            <a:avLst/>
          </a:prstGeom>
          <a:solidFill>
            <a:srgbClr val="1C4270"/>
          </a:solidFill>
          <a:ln/>
        </p:spPr>
      </p:sp>
      <p:sp>
        <p:nvSpPr>
          <p:cNvPr id="20" name="Shape 18"/>
          <p:cNvSpPr/>
          <p:nvPr/>
        </p:nvSpPr>
        <p:spPr>
          <a:xfrm>
            <a:off x="9747504" y="457200"/>
            <a:ext cx="54864" cy="54864"/>
          </a:xfrm>
          <a:prstGeom prst="ellipse">
            <a:avLst/>
          </a:prstGeom>
          <a:solidFill>
            <a:srgbClr val="1C4270"/>
          </a:solidFill>
          <a:ln/>
        </p:spPr>
      </p:sp>
      <p:sp>
        <p:nvSpPr>
          <p:cNvPr id="21" name="Shape 19"/>
          <p:cNvSpPr/>
          <p:nvPr/>
        </p:nvSpPr>
        <p:spPr>
          <a:xfrm>
            <a:off x="9747504" y="749808"/>
            <a:ext cx="54864" cy="54864"/>
          </a:xfrm>
          <a:prstGeom prst="ellipse">
            <a:avLst/>
          </a:prstGeom>
          <a:solidFill>
            <a:srgbClr val="1C4270"/>
          </a:solidFill>
          <a:ln/>
        </p:spPr>
      </p:sp>
      <p:sp>
        <p:nvSpPr>
          <p:cNvPr id="22" name="Shape 20"/>
          <p:cNvSpPr/>
          <p:nvPr/>
        </p:nvSpPr>
        <p:spPr>
          <a:xfrm>
            <a:off x="9747504" y="1042416"/>
            <a:ext cx="54864" cy="54864"/>
          </a:xfrm>
          <a:prstGeom prst="ellipse">
            <a:avLst/>
          </a:prstGeom>
          <a:solidFill>
            <a:srgbClr val="1C4270"/>
          </a:solidFill>
          <a:ln/>
        </p:spPr>
      </p:sp>
      <p:sp>
        <p:nvSpPr>
          <p:cNvPr id="23" name="Shape 21"/>
          <p:cNvSpPr/>
          <p:nvPr/>
        </p:nvSpPr>
        <p:spPr>
          <a:xfrm>
            <a:off x="9747504" y="1335024"/>
            <a:ext cx="54864" cy="54864"/>
          </a:xfrm>
          <a:prstGeom prst="ellipse">
            <a:avLst/>
          </a:prstGeom>
          <a:solidFill>
            <a:srgbClr val="1C4270"/>
          </a:solidFill>
          <a:ln/>
        </p:spPr>
      </p:sp>
      <p:sp>
        <p:nvSpPr>
          <p:cNvPr id="24" name="Shape 22"/>
          <p:cNvSpPr/>
          <p:nvPr/>
        </p:nvSpPr>
        <p:spPr>
          <a:xfrm>
            <a:off x="9747504" y="1627632"/>
            <a:ext cx="54864" cy="54864"/>
          </a:xfrm>
          <a:prstGeom prst="ellipse">
            <a:avLst/>
          </a:prstGeom>
          <a:solidFill>
            <a:srgbClr val="1C4270"/>
          </a:solidFill>
          <a:ln/>
        </p:spPr>
      </p:sp>
      <p:sp>
        <p:nvSpPr>
          <p:cNvPr id="25" name="Shape 23"/>
          <p:cNvSpPr/>
          <p:nvPr/>
        </p:nvSpPr>
        <p:spPr>
          <a:xfrm>
            <a:off x="9747504" y="1920240"/>
            <a:ext cx="54864" cy="54864"/>
          </a:xfrm>
          <a:prstGeom prst="ellipse">
            <a:avLst/>
          </a:prstGeom>
          <a:solidFill>
            <a:srgbClr val="1C4270"/>
          </a:solidFill>
          <a:ln/>
        </p:spPr>
      </p:sp>
      <p:sp>
        <p:nvSpPr>
          <p:cNvPr id="26" name="Shape 24"/>
          <p:cNvSpPr/>
          <p:nvPr/>
        </p:nvSpPr>
        <p:spPr>
          <a:xfrm>
            <a:off x="10040112" y="457200"/>
            <a:ext cx="54864" cy="54864"/>
          </a:xfrm>
          <a:prstGeom prst="ellipse">
            <a:avLst/>
          </a:prstGeom>
          <a:solidFill>
            <a:srgbClr val="1C4270"/>
          </a:solidFill>
          <a:ln/>
        </p:spPr>
      </p:sp>
      <p:sp>
        <p:nvSpPr>
          <p:cNvPr id="27" name="Shape 25"/>
          <p:cNvSpPr/>
          <p:nvPr/>
        </p:nvSpPr>
        <p:spPr>
          <a:xfrm>
            <a:off x="10040112" y="749808"/>
            <a:ext cx="54864" cy="54864"/>
          </a:xfrm>
          <a:prstGeom prst="ellipse">
            <a:avLst/>
          </a:prstGeom>
          <a:solidFill>
            <a:srgbClr val="1C4270"/>
          </a:solidFill>
          <a:ln/>
        </p:spPr>
      </p:sp>
      <p:sp>
        <p:nvSpPr>
          <p:cNvPr id="28" name="Shape 26"/>
          <p:cNvSpPr/>
          <p:nvPr/>
        </p:nvSpPr>
        <p:spPr>
          <a:xfrm>
            <a:off x="10040112" y="1042416"/>
            <a:ext cx="54864" cy="54864"/>
          </a:xfrm>
          <a:prstGeom prst="ellipse">
            <a:avLst/>
          </a:prstGeom>
          <a:solidFill>
            <a:srgbClr val="1C4270"/>
          </a:solidFill>
          <a:ln/>
        </p:spPr>
      </p:sp>
      <p:sp>
        <p:nvSpPr>
          <p:cNvPr id="29" name="Shape 27"/>
          <p:cNvSpPr/>
          <p:nvPr/>
        </p:nvSpPr>
        <p:spPr>
          <a:xfrm>
            <a:off x="10040112" y="1335024"/>
            <a:ext cx="54864" cy="54864"/>
          </a:xfrm>
          <a:prstGeom prst="ellipse">
            <a:avLst/>
          </a:prstGeom>
          <a:solidFill>
            <a:srgbClr val="1C4270"/>
          </a:solidFill>
          <a:ln/>
        </p:spPr>
      </p:sp>
      <p:sp>
        <p:nvSpPr>
          <p:cNvPr id="30" name="Shape 28"/>
          <p:cNvSpPr/>
          <p:nvPr/>
        </p:nvSpPr>
        <p:spPr>
          <a:xfrm>
            <a:off x="10040112" y="1627632"/>
            <a:ext cx="54864" cy="54864"/>
          </a:xfrm>
          <a:prstGeom prst="ellipse">
            <a:avLst/>
          </a:prstGeom>
          <a:solidFill>
            <a:srgbClr val="1C4270"/>
          </a:solidFill>
          <a:ln/>
        </p:spPr>
      </p:sp>
      <p:sp>
        <p:nvSpPr>
          <p:cNvPr id="31" name="Shape 29"/>
          <p:cNvSpPr/>
          <p:nvPr/>
        </p:nvSpPr>
        <p:spPr>
          <a:xfrm>
            <a:off x="10040112" y="1920240"/>
            <a:ext cx="54864" cy="54864"/>
          </a:xfrm>
          <a:prstGeom prst="ellipse">
            <a:avLst/>
          </a:prstGeom>
          <a:solidFill>
            <a:srgbClr val="1C4270"/>
          </a:solidFill>
          <a:ln/>
        </p:spPr>
      </p:sp>
      <p:sp>
        <p:nvSpPr>
          <p:cNvPr id="32" name="Shape 30"/>
          <p:cNvSpPr/>
          <p:nvPr/>
        </p:nvSpPr>
        <p:spPr>
          <a:xfrm>
            <a:off x="10332720" y="457200"/>
            <a:ext cx="54864" cy="54864"/>
          </a:xfrm>
          <a:prstGeom prst="ellipse">
            <a:avLst/>
          </a:prstGeom>
          <a:solidFill>
            <a:srgbClr val="1C4270"/>
          </a:solidFill>
          <a:ln/>
        </p:spPr>
      </p:sp>
      <p:sp>
        <p:nvSpPr>
          <p:cNvPr id="33" name="Shape 31"/>
          <p:cNvSpPr/>
          <p:nvPr/>
        </p:nvSpPr>
        <p:spPr>
          <a:xfrm>
            <a:off x="10332720" y="749808"/>
            <a:ext cx="54864" cy="54864"/>
          </a:xfrm>
          <a:prstGeom prst="ellipse">
            <a:avLst/>
          </a:prstGeom>
          <a:solidFill>
            <a:srgbClr val="1C4270"/>
          </a:solidFill>
          <a:ln/>
        </p:spPr>
      </p:sp>
      <p:sp>
        <p:nvSpPr>
          <p:cNvPr id="34" name="Shape 32"/>
          <p:cNvSpPr/>
          <p:nvPr/>
        </p:nvSpPr>
        <p:spPr>
          <a:xfrm>
            <a:off x="10332720" y="1042416"/>
            <a:ext cx="54864" cy="54864"/>
          </a:xfrm>
          <a:prstGeom prst="ellipse">
            <a:avLst/>
          </a:prstGeom>
          <a:solidFill>
            <a:srgbClr val="1C4270"/>
          </a:solidFill>
          <a:ln/>
        </p:spPr>
      </p:sp>
      <p:sp>
        <p:nvSpPr>
          <p:cNvPr id="35" name="Shape 33"/>
          <p:cNvSpPr/>
          <p:nvPr/>
        </p:nvSpPr>
        <p:spPr>
          <a:xfrm>
            <a:off x="10332720" y="1335024"/>
            <a:ext cx="54864" cy="54864"/>
          </a:xfrm>
          <a:prstGeom prst="ellipse">
            <a:avLst/>
          </a:prstGeom>
          <a:solidFill>
            <a:srgbClr val="1C4270"/>
          </a:solidFill>
          <a:ln/>
        </p:spPr>
      </p:sp>
      <p:sp>
        <p:nvSpPr>
          <p:cNvPr id="36" name="Shape 34"/>
          <p:cNvSpPr/>
          <p:nvPr/>
        </p:nvSpPr>
        <p:spPr>
          <a:xfrm>
            <a:off x="10332720" y="1627632"/>
            <a:ext cx="54864" cy="54864"/>
          </a:xfrm>
          <a:prstGeom prst="ellipse">
            <a:avLst/>
          </a:prstGeom>
          <a:solidFill>
            <a:srgbClr val="1C4270"/>
          </a:solidFill>
          <a:ln/>
        </p:spPr>
      </p:sp>
      <p:sp>
        <p:nvSpPr>
          <p:cNvPr id="37" name="Shape 35"/>
          <p:cNvSpPr/>
          <p:nvPr/>
        </p:nvSpPr>
        <p:spPr>
          <a:xfrm>
            <a:off x="10332720" y="1920240"/>
            <a:ext cx="54864" cy="54864"/>
          </a:xfrm>
          <a:prstGeom prst="ellipse">
            <a:avLst/>
          </a:prstGeom>
          <a:solidFill>
            <a:srgbClr val="1C4270"/>
          </a:solidFill>
          <a:ln/>
        </p:spPr>
      </p:sp>
      <p:sp>
        <p:nvSpPr>
          <p:cNvPr id="38" name="Shape 36"/>
          <p:cNvSpPr/>
          <p:nvPr/>
        </p:nvSpPr>
        <p:spPr>
          <a:xfrm>
            <a:off x="822960" y="914400"/>
            <a:ext cx="914400" cy="914400"/>
          </a:xfrm>
          <a:prstGeom prst="ellipse">
            <a:avLst/>
          </a:prstGeom>
          <a:solidFill>
            <a:srgbClr val="00B4D8"/>
          </a:solidFill>
          <a:ln/>
        </p:spPr>
      </p:sp>
      <p:pic>
        <p:nvPicPr>
          <p:cNvPr id="39" name="Image 0" descr="/home/claude/churn_ppt/icons/robot_navy.png"/>
          <p:cNvPicPr>
            <a:picLocks noChangeAspect="1"/>
          </p:cNvPicPr>
          <p:nvPr/>
        </p:nvPicPr>
        <p:blipFill>
          <a:blip r:embed="rId3"/>
          <a:stretch>
            <a:fillRect/>
          </a:stretch>
        </p:blipFill>
        <p:spPr>
          <a:xfrm>
            <a:off x="950976" y="1042416"/>
            <a:ext cx="658368" cy="658368"/>
          </a:xfrm>
          <a:prstGeom prst="rect">
            <a:avLst/>
          </a:prstGeom>
        </p:spPr>
      </p:pic>
      <p:sp>
        <p:nvSpPr>
          <p:cNvPr id="40" name="Text 37"/>
          <p:cNvSpPr/>
          <p:nvPr/>
        </p:nvSpPr>
        <p:spPr>
          <a:xfrm>
            <a:off x="822960" y="2148840"/>
            <a:ext cx="9144000" cy="365760"/>
          </a:xfrm>
          <a:prstGeom prst="rect">
            <a:avLst/>
          </a:prstGeom>
          <a:noFill/>
          <a:ln/>
        </p:spPr>
        <p:txBody>
          <a:bodyPr wrap="square" lIns="91440" tIns="45720" rIns="91440" bIns="45720" rtlCol="0" anchor="ctr"/>
          <a:lstStyle/>
          <a:p>
            <a:r>
              <a:rPr lang="en-US" b="1" kern="0" spc="200">
                <a:solidFill>
                  <a:srgbClr val="00B4D8"/>
                </a:solidFill>
                <a:ea typeface="+mn-lt"/>
                <a:cs typeface="+mn-lt"/>
              </a:rPr>
              <a:t>Minor Project</a:t>
            </a:r>
            <a:endParaRPr lang="en-US" b="1" kern="0" spc="200">
              <a:solidFill>
                <a:srgbClr val="00B4D8"/>
              </a:solidFill>
              <a:latin typeface="Calibri"/>
              <a:ea typeface="Calibri"/>
              <a:cs typeface="Calibri"/>
            </a:endParaRPr>
          </a:p>
        </p:txBody>
      </p:sp>
      <p:sp>
        <p:nvSpPr>
          <p:cNvPr id="41" name="Text 38"/>
          <p:cNvSpPr/>
          <p:nvPr/>
        </p:nvSpPr>
        <p:spPr>
          <a:xfrm>
            <a:off x="777240" y="2514600"/>
            <a:ext cx="10515600" cy="1737360"/>
          </a:xfrm>
          <a:prstGeom prst="rect">
            <a:avLst/>
          </a:prstGeom>
          <a:noFill/>
          <a:ln/>
        </p:spPr>
        <p:txBody>
          <a:bodyPr wrap="square" lIns="91440" tIns="45720" rIns="91440" bIns="4572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Customer Churn Prediction</a:t>
            </a:r>
            <a:endParaRPr lang="en-US" sz="4000" dirty="0"/>
          </a:p>
          <a:p>
            <a:pPr>
              <a:lnSpc>
                <a:spcPct val="108000"/>
              </a:lnSpc>
            </a:pPr>
            <a:r>
              <a:rPr lang="en-US" sz="4000" b="1">
                <a:solidFill>
                  <a:srgbClr val="FFFFFF"/>
                </a:solidFill>
                <a:latin typeface="Cambria"/>
                <a:ea typeface="Cambria"/>
                <a:cs typeface="Cambria" pitchFamily="34" charset="-120"/>
              </a:rPr>
              <a:t>using Artificial</a:t>
            </a:r>
            <a:r>
              <a:rPr lang="en-US" sz="4000" dirty="0">
                <a:solidFill>
                  <a:srgbClr val="FFFFFF"/>
                </a:solidFill>
                <a:ea typeface="+mn-lt"/>
                <a:cs typeface="+mn-lt"/>
              </a:rPr>
              <a:t> </a:t>
            </a:r>
            <a:r>
              <a:rPr lang="en-US" sz="4000" b="1">
                <a:solidFill>
                  <a:srgbClr val="FFFFFF"/>
                </a:solidFill>
                <a:ea typeface="+mn-lt"/>
                <a:cs typeface="+mn-lt"/>
              </a:rPr>
              <a:t>Intelligence</a:t>
            </a:r>
            <a:endParaRPr lang="en-US" sz="4000" b="1" dirty="0">
              <a:ea typeface="+mn-lt"/>
              <a:cs typeface="+mn-lt"/>
            </a:endParaRPr>
          </a:p>
        </p:txBody>
      </p:sp>
      <p:sp>
        <p:nvSpPr>
          <p:cNvPr id="42" name="Text 39"/>
          <p:cNvSpPr/>
          <p:nvPr/>
        </p:nvSpPr>
        <p:spPr>
          <a:xfrm>
            <a:off x="822960" y="4251960"/>
            <a:ext cx="9601200" cy="457200"/>
          </a:xfrm>
          <a:prstGeom prst="rect">
            <a:avLst/>
          </a:prstGeom>
          <a:noFill/>
          <a:ln/>
        </p:spPr>
        <p:txBody>
          <a:bodyPr wrap="square" rtlCol="0" anchor="ctr"/>
          <a:lstStyle/>
          <a:p>
            <a:pPr marL="0" indent="0">
              <a:buNone/>
            </a:pPr>
            <a:r>
              <a:rPr lang="en-US" sz="1500" i="1" dirty="0">
                <a:solidFill>
                  <a:srgbClr val="AFC8E8"/>
                </a:solidFill>
                <a:latin typeface="Calibri" pitchFamily="34" charset="0"/>
                <a:ea typeface="Calibri" pitchFamily="34" charset="-122"/>
                <a:cs typeface="Calibri" pitchFamily="34" charset="-120"/>
              </a:rPr>
              <a:t>Predicting customer attrition in the telecom sector through data-driven classification models</a:t>
            </a:r>
            <a:endParaRPr lang="en-US" sz="1500" dirty="0"/>
          </a:p>
        </p:txBody>
      </p:sp>
      <p:sp>
        <p:nvSpPr>
          <p:cNvPr id="43" name="Shape 40"/>
          <p:cNvSpPr/>
          <p:nvPr/>
        </p:nvSpPr>
        <p:spPr>
          <a:xfrm>
            <a:off x="822960" y="4892040"/>
            <a:ext cx="4937760" cy="0"/>
          </a:xfrm>
          <a:prstGeom prst="line">
            <a:avLst/>
          </a:prstGeom>
          <a:noFill/>
          <a:ln w="12700">
            <a:solidFill>
              <a:srgbClr val="27507F"/>
            </a:solidFill>
            <a:prstDash val="solid"/>
          </a:ln>
        </p:spPr>
      </p:sp>
      <p:sp>
        <p:nvSpPr>
          <p:cNvPr id="44" name="Text 41"/>
          <p:cNvSpPr/>
          <p:nvPr/>
        </p:nvSpPr>
        <p:spPr>
          <a:xfrm>
            <a:off x="822960" y="5120640"/>
            <a:ext cx="7315200" cy="256032"/>
          </a:xfrm>
          <a:prstGeom prst="rect">
            <a:avLst/>
          </a:prstGeom>
          <a:noFill/>
          <a:ln/>
        </p:spPr>
        <p:txBody>
          <a:bodyPr wrap="square" lIns="91440" tIns="45720" rIns="91440" bIns="45720" rtlCol="0" anchor="ctr"/>
          <a:lstStyle/>
          <a:p>
            <a:r>
              <a:rPr lang="en-US" sz="1600" b="1">
                <a:solidFill>
                  <a:srgbClr val="7FA5CE"/>
                </a:solidFill>
                <a:latin typeface="Calibri"/>
                <a:ea typeface="Calibri"/>
                <a:cs typeface="Calibri"/>
              </a:rPr>
              <a:t>Student Name: Shruthi Rathod</a:t>
            </a:r>
            <a:endParaRPr lang="en-US" sz="1600">
              <a:solidFill>
                <a:srgbClr val="FFFFFF"/>
              </a:solidFill>
              <a:ea typeface="Calibri"/>
              <a:cs typeface="Calibri"/>
            </a:endParaRPr>
          </a:p>
        </p:txBody>
      </p:sp>
      <p:sp>
        <p:nvSpPr>
          <p:cNvPr id="47" name="Text 44"/>
          <p:cNvSpPr/>
          <p:nvPr/>
        </p:nvSpPr>
        <p:spPr>
          <a:xfrm>
            <a:off x="779944" y="5377803"/>
            <a:ext cx="7315200" cy="256032"/>
          </a:xfrm>
          <a:prstGeom prst="rect">
            <a:avLst/>
          </a:prstGeom>
          <a:noFill/>
          <a:ln/>
        </p:spPr>
        <p:txBody>
          <a:bodyPr wrap="square" lIns="91440" tIns="45720" rIns="91440" bIns="45720" rtlCol="0" anchor="ctr"/>
          <a:lstStyle/>
          <a:p>
            <a:r>
              <a:rPr lang="en-US" sz="1600" b="1" dirty="0">
                <a:solidFill>
                  <a:srgbClr val="7FA5CE"/>
                </a:solidFill>
                <a:latin typeface="Calibri"/>
                <a:ea typeface="Calibri"/>
                <a:cs typeface="Calibri"/>
              </a:rPr>
              <a:t>College: </a:t>
            </a:r>
            <a:r>
              <a:rPr lang="en-US" sz="1600" b="1" dirty="0">
                <a:solidFill>
                  <a:srgbClr val="7FA5CE"/>
                </a:solidFill>
                <a:ea typeface="+mn-lt"/>
                <a:cs typeface="+mn-lt"/>
              </a:rPr>
              <a:t>I</a:t>
            </a:r>
            <a:r>
              <a:rPr lang="en-US" sz="1600">
                <a:solidFill>
                  <a:srgbClr val="7FA5CE"/>
                </a:solidFill>
                <a:ea typeface="+mn-lt"/>
                <a:cs typeface="+mn-lt"/>
              </a:rPr>
              <a:t>ndian Institute of Information Technology Nagpur</a:t>
            </a:r>
            <a:endParaRPr lang="en-US" sz="1600">
              <a:solidFill>
                <a:srgbClr val="FFFFFF"/>
              </a:solidFill>
              <a:ea typeface="Calibri"/>
              <a:cs typeface="Calibri"/>
            </a:endParaRPr>
          </a:p>
        </p:txBody>
      </p:sp>
      <p:sp>
        <p:nvSpPr>
          <p:cNvPr id="48" name="Text 45"/>
          <p:cNvSpPr/>
          <p:nvPr/>
        </p:nvSpPr>
        <p:spPr>
          <a:xfrm>
            <a:off x="822960" y="6291072"/>
            <a:ext cx="7315200" cy="256032"/>
          </a:xfrm>
          <a:prstGeom prst="rect">
            <a:avLst/>
          </a:prstGeom>
          <a:noFill/>
          <a:ln/>
        </p:spPr>
        <p:txBody>
          <a:bodyPr wrap="square" lIns="91440" tIns="45720" rIns="91440" bIns="45720" rtlCol="0" anchor="ctr"/>
          <a:lstStyle/>
          <a:p>
            <a:pPr marL="0" indent="0">
              <a:buNone/>
            </a:pPr>
            <a:endParaRPr lang="en-US" sz="1200" b="1" dirty="0">
              <a:solidFill>
                <a:srgbClr val="7FA5CE"/>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Understanding Customer Churn</a:t>
            </a:r>
            <a:endParaRPr lang="en-US" sz="3000" dirty="0"/>
          </a:p>
        </p:txBody>
      </p:sp>
      <p:sp>
        <p:nvSpPr>
          <p:cNvPr id="4" name="Shape 2"/>
          <p:cNvSpPr/>
          <p:nvPr/>
        </p:nvSpPr>
        <p:spPr>
          <a:xfrm>
            <a:off x="640080" y="1600200"/>
            <a:ext cx="777240" cy="777240"/>
          </a:xfrm>
          <a:prstGeom prst="ellipse">
            <a:avLst/>
          </a:prstGeom>
          <a:solidFill>
            <a:srgbClr val="EAF4FB"/>
          </a:solidFill>
          <a:ln/>
        </p:spPr>
      </p:sp>
      <p:pic>
        <p:nvPicPr>
          <p:cNvPr id="5" name="Image 0" descr="/home/claude/churn_ppt/icons/userSlash_navy.png"/>
          <p:cNvPicPr>
            <a:picLocks noChangeAspect="1"/>
          </p:cNvPicPr>
          <p:nvPr/>
        </p:nvPicPr>
        <p:blipFill>
          <a:blip r:embed="rId3"/>
          <a:stretch>
            <a:fillRect/>
          </a:stretch>
        </p:blipFill>
        <p:spPr>
          <a:xfrm>
            <a:off x="756666" y="1716786"/>
            <a:ext cx="544068" cy="544068"/>
          </a:xfrm>
          <a:prstGeom prst="rect">
            <a:avLst/>
          </a:prstGeom>
        </p:spPr>
      </p:pic>
      <p:sp>
        <p:nvSpPr>
          <p:cNvPr id="6" name="Text 3"/>
          <p:cNvSpPr/>
          <p:nvPr/>
        </p:nvSpPr>
        <p:spPr>
          <a:xfrm>
            <a:off x="1691640" y="1618488"/>
            <a:ext cx="8961120" cy="365760"/>
          </a:xfrm>
          <a:prstGeom prst="rect">
            <a:avLst/>
          </a:prstGeom>
          <a:noFill/>
          <a:ln/>
        </p:spPr>
        <p:txBody>
          <a:bodyPr wrap="square"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What is Customer Churn?</a:t>
            </a:r>
            <a:endParaRPr lang="en-US" sz="1800" dirty="0"/>
          </a:p>
        </p:txBody>
      </p:sp>
      <p:sp>
        <p:nvSpPr>
          <p:cNvPr id="7" name="Text 4"/>
          <p:cNvSpPr/>
          <p:nvPr/>
        </p:nvSpPr>
        <p:spPr>
          <a:xfrm>
            <a:off x="1691640" y="1984248"/>
            <a:ext cx="9509760" cy="640080"/>
          </a:xfrm>
          <a:prstGeom prst="rect">
            <a:avLst/>
          </a:prstGeom>
          <a:noFill/>
          <a:ln/>
        </p:spPr>
        <p:txBody>
          <a:bodyPr wrap="square" lIns="91440" tIns="45720" rIns="91440" bIns="45720" rtlCol="0" anchor="ctr"/>
          <a:lstStyle/>
          <a:p>
            <a:pPr marL="0" indent="0">
              <a:lnSpc>
                <a:spcPct val="115000"/>
              </a:lnSpc>
              <a:buNone/>
            </a:pPr>
            <a:r>
              <a:rPr lang="en-US" sz="1400" b="1">
                <a:solidFill>
                  <a:srgbClr val="3B3B3B"/>
                </a:solidFill>
                <a:latin typeface="Calibri"/>
                <a:ea typeface="Calibri"/>
                <a:cs typeface="Calibri"/>
              </a:rPr>
              <a:t>The phenomenon where customers stop using a company's product or service and move to a competitor.</a:t>
            </a:r>
            <a:endParaRPr lang="en-US" sz="1400" b="1">
              <a:latin typeface="Calibri"/>
              <a:ea typeface="Calibri"/>
              <a:cs typeface="Calibri"/>
            </a:endParaRPr>
          </a:p>
        </p:txBody>
      </p:sp>
      <p:sp>
        <p:nvSpPr>
          <p:cNvPr id="8" name="Shape 5"/>
          <p:cNvSpPr/>
          <p:nvPr/>
        </p:nvSpPr>
        <p:spPr>
          <a:xfrm>
            <a:off x="640080" y="3017520"/>
            <a:ext cx="777240" cy="777240"/>
          </a:xfrm>
          <a:prstGeom prst="ellipse">
            <a:avLst/>
          </a:prstGeom>
          <a:solidFill>
            <a:srgbClr val="EAF4FB"/>
          </a:solidFill>
          <a:ln/>
        </p:spPr>
      </p:sp>
      <p:pic>
        <p:nvPicPr>
          <p:cNvPr id="9" name="Image 1" descr="/home/claude/churn_ppt/icons/userCheck_navy.png"/>
          <p:cNvPicPr>
            <a:picLocks noChangeAspect="1"/>
          </p:cNvPicPr>
          <p:nvPr/>
        </p:nvPicPr>
        <p:blipFill>
          <a:blip r:embed="rId4"/>
          <a:stretch>
            <a:fillRect/>
          </a:stretch>
        </p:blipFill>
        <p:spPr>
          <a:xfrm>
            <a:off x="756666" y="3134106"/>
            <a:ext cx="544068" cy="544068"/>
          </a:xfrm>
          <a:prstGeom prst="rect">
            <a:avLst/>
          </a:prstGeom>
        </p:spPr>
      </p:pic>
      <p:sp>
        <p:nvSpPr>
          <p:cNvPr id="10" name="Text 6"/>
          <p:cNvSpPr/>
          <p:nvPr/>
        </p:nvSpPr>
        <p:spPr>
          <a:xfrm>
            <a:off x="1691640" y="3035808"/>
            <a:ext cx="8961120" cy="365760"/>
          </a:xfrm>
          <a:prstGeom prst="rect">
            <a:avLst/>
          </a:prstGeom>
          <a:noFill/>
          <a:ln/>
        </p:spPr>
        <p:txBody>
          <a:bodyPr wrap="square"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Why Retention Matters</a:t>
            </a:r>
            <a:endParaRPr lang="en-US" sz="1800" dirty="0"/>
          </a:p>
        </p:txBody>
      </p:sp>
      <p:sp>
        <p:nvSpPr>
          <p:cNvPr id="11" name="Text 7"/>
          <p:cNvSpPr/>
          <p:nvPr/>
        </p:nvSpPr>
        <p:spPr>
          <a:xfrm>
            <a:off x="1691640" y="3401568"/>
            <a:ext cx="7491490" cy="701863"/>
          </a:xfrm>
          <a:prstGeom prst="rect">
            <a:avLst/>
          </a:prstGeom>
          <a:noFill/>
          <a:ln/>
        </p:spPr>
        <p:txBody>
          <a:bodyPr wrap="square" lIns="91440" tIns="45720" rIns="91440" bIns="45720" rtlCol="0" anchor="ctr"/>
          <a:lstStyle/>
          <a:p>
            <a:pPr marL="0" indent="0">
              <a:lnSpc>
                <a:spcPct val="115000"/>
              </a:lnSpc>
              <a:buNone/>
            </a:pPr>
            <a:r>
              <a:rPr lang="en-US" sz="1350" b="1">
                <a:solidFill>
                  <a:srgbClr val="3B3B3B"/>
                </a:solidFill>
                <a:latin typeface="Calibri"/>
                <a:ea typeface="Calibri"/>
                <a:cs typeface="Calibri"/>
              </a:rPr>
              <a:t>Acquiring a new customer costs far more than retaining an existing one — loyal customers drive stable, recurring revenue.</a:t>
            </a:r>
            <a:endParaRPr lang="en-US" sz="1350" b="1">
              <a:latin typeface="Calibri"/>
              <a:ea typeface="Calibri"/>
              <a:cs typeface="Calibri"/>
            </a:endParaRPr>
          </a:p>
        </p:txBody>
      </p:sp>
      <p:sp>
        <p:nvSpPr>
          <p:cNvPr id="12" name="Shape 8"/>
          <p:cNvSpPr/>
          <p:nvPr/>
        </p:nvSpPr>
        <p:spPr>
          <a:xfrm>
            <a:off x="763648" y="4558408"/>
            <a:ext cx="777240" cy="777240"/>
          </a:xfrm>
          <a:prstGeom prst="ellipse">
            <a:avLst/>
          </a:prstGeom>
          <a:solidFill>
            <a:srgbClr val="EAF4FB"/>
          </a:solidFill>
          <a:ln/>
        </p:spPr>
      </p:sp>
      <p:pic>
        <p:nvPicPr>
          <p:cNvPr id="13" name="Image 2" descr="/home/claude/churn_ppt/icons/chartLine_navy.png"/>
          <p:cNvPicPr>
            <a:picLocks noChangeAspect="1"/>
          </p:cNvPicPr>
          <p:nvPr/>
        </p:nvPicPr>
        <p:blipFill>
          <a:blip r:embed="rId5"/>
          <a:stretch>
            <a:fillRect/>
          </a:stretch>
        </p:blipFill>
        <p:spPr>
          <a:xfrm>
            <a:off x="880234" y="4674994"/>
            <a:ext cx="544068" cy="544068"/>
          </a:xfrm>
          <a:prstGeom prst="rect">
            <a:avLst/>
          </a:prstGeom>
        </p:spPr>
      </p:pic>
      <p:sp>
        <p:nvSpPr>
          <p:cNvPr id="14" name="Text 9"/>
          <p:cNvSpPr/>
          <p:nvPr/>
        </p:nvSpPr>
        <p:spPr>
          <a:xfrm>
            <a:off x="1691640" y="4453128"/>
            <a:ext cx="8961120" cy="365760"/>
          </a:xfrm>
          <a:prstGeom prst="rect">
            <a:avLst/>
          </a:prstGeom>
          <a:noFill/>
          <a:ln/>
        </p:spPr>
        <p:txBody>
          <a:bodyPr wrap="square"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Business Impact</a:t>
            </a:r>
            <a:endParaRPr lang="en-US" sz="1800" dirty="0"/>
          </a:p>
        </p:txBody>
      </p:sp>
      <p:sp>
        <p:nvSpPr>
          <p:cNvPr id="15" name="Text 10"/>
          <p:cNvSpPr/>
          <p:nvPr/>
        </p:nvSpPr>
        <p:spPr>
          <a:xfrm>
            <a:off x="1691640" y="4818888"/>
            <a:ext cx="7285544" cy="640080"/>
          </a:xfrm>
          <a:prstGeom prst="rect">
            <a:avLst/>
          </a:prstGeom>
          <a:noFill/>
          <a:ln/>
        </p:spPr>
        <p:txBody>
          <a:bodyPr wrap="square" lIns="91440" tIns="45720" rIns="91440" bIns="45720" rtlCol="0" anchor="ctr"/>
          <a:lstStyle/>
          <a:p>
            <a:pPr marL="0" indent="0">
              <a:lnSpc>
                <a:spcPct val="115000"/>
              </a:lnSpc>
              <a:buNone/>
            </a:pPr>
            <a:r>
              <a:rPr lang="en-US" sz="1350" b="1">
                <a:solidFill>
                  <a:srgbClr val="3B3B3B"/>
                </a:solidFill>
                <a:latin typeface="Calibri"/>
                <a:ea typeface="Calibri"/>
                <a:cs typeface="Calibri"/>
              </a:rPr>
              <a:t>Even small reductions in churn compound into significant revenue gains and stronger long-term customer relationships.</a:t>
            </a:r>
            <a:endParaRPr lang="en-US" sz="1350" b="1">
              <a:latin typeface="Calibri"/>
              <a:ea typeface="Calibri"/>
              <a:cs typeface="Calibri"/>
            </a:endParaRPr>
          </a:p>
        </p:txBody>
      </p:sp>
      <p:sp>
        <p:nvSpPr>
          <p:cNvPr id="16" name="Shape 11"/>
          <p:cNvSpPr/>
          <p:nvPr/>
        </p:nvSpPr>
        <p:spPr>
          <a:xfrm>
            <a:off x="9646920" y="1554480"/>
            <a:ext cx="1920240" cy="4206240"/>
          </a:xfrm>
          <a:prstGeom prst="roundRect">
            <a:avLst>
              <a:gd name="adj" fmla="val 4762"/>
            </a:avLst>
          </a:prstGeom>
          <a:solidFill>
            <a:srgbClr val="EAF4FB"/>
          </a:solidFill>
          <a:ln/>
        </p:spPr>
      </p:sp>
      <p:sp>
        <p:nvSpPr>
          <p:cNvPr id="17" name="Text 12"/>
          <p:cNvSpPr/>
          <p:nvPr/>
        </p:nvSpPr>
        <p:spPr>
          <a:xfrm>
            <a:off x="9646920" y="2377440"/>
            <a:ext cx="1920240" cy="640080"/>
          </a:xfrm>
          <a:prstGeom prst="rect">
            <a:avLst/>
          </a:prstGeom>
          <a:noFill/>
          <a:ln/>
        </p:spPr>
        <p:txBody>
          <a:bodyPr wrap="square" rtlCol="0" anchor="ctr"/>
          <a:lstStyle/>
          <a:p>
            <a:pPr marL="0" indent="0" algn="ctr">
              <a:buNone/>
            </a:pPr>
            <a:r>
              <a:rPr lang="en-US" sz="3000" b="1" dirty="0">
                <a:solidFill>
                  <a:srgbClr val="0090B0"/>
                </a:solidFill>
                <a:latin typeface="Cambria" pitchFamily="34" charset="0"/>
                <a:ea typeface="Cambria" pitchFamily="34" charset="-122"/>
                <a:cs typeface="Cambria" pitchFamily="34" charset="-120"/>
              </a:rPr>
              <a:t>26.6%</a:t>
            </a:r>
            <a:endParaRPr lang="en-US" sz="3000" dirty="0"/>
          </a:p>
        </p:txBody>
      </p:sp>
      <p:sp>
        <p:nvSpPr>
          <p:cNvPr id="18" name="Text 13"/>
          <p:cNvSpPr/>
          <p:nvPr/>
        </p:nvSpPr>
        <p:spPr>
          <a:xfrm>
            <a:off x="9738360" y="3063240"/>
            <a:ext cx="1737360" cy="914400"/>
          </a:xfrm>
          <a:prstGeom prst="rect">
            <a:avLst/>
          </a:prstGeom>
          <a:noFill/>
          <a:ln/>
        </p:spPr>
        <p:txBody>
          <a:bodyPr wrap="square" rtlCol="0" anchor="ctr"/>
          <a:lstStyle/>
          <a:p>
            <a:pPr marL="0" indent="0" algn="ctr">
              <a:buNone/>
            </a:pPr>
            <a:r>
              <a:rPr lang="en-US" sz="1150" dirty="0">
                <a:solidFill>
                  <a:srgbClr val="13315C"/>
                </a:solidFill>
                <a:latin typeface="Calibri" pitchFamily="34" charset="0"/>
                <a:ea typeface="Calibri" pitchFamily="34" charset="-122"/>
                <a:cs typeface="Calibri" pitchFamily="34" charset="-120"/>
              </a:rPr>
              <a:t>of customers</a:t>
            </a:r>
            <a:endParaRPr lang="en-US" sz="1150" dirty="0"/>
          </a:p>
          <a:p>
            <a:pPr marL="0" indent="0" algn="ctr">
              <a:buNone/>
            </a:pPr>
            <a:r>
              <a:rPr lang="en-US" sz="1150" dirty="0">
                <a:solidFill>
                  <a:srgbClr val="13315C"/>
                </a:solidFill>
                <a:latin typeface="Calibri" pitchFamily="34" charset="0"/>
                <a:ea typeface="Calibri" pitchFamily="34" charset="-122"/>
                <a:cs typeface="Calibri" pitchFamily="34" charset="-120"/>
              </a:rPr>
              <a:t>in the dataset</a:t>
            </a:r>
            <a:endParaRPr lang="en-US" sz="1150" dirty="0"/>
          </a:p>
          <a:p>
            <a:pPr marL="0" indent="0" algn="ctr">
              <a:buNone/>
            </a:pPr>
            <a:r>
              <a:rPr lang="en-US" sz="1150" dirty="0">
                <a:solidFill>
                  <a:srgbClr val="13315C"/>
                </a:solidFill>
                <a:latin typeface="Calibri" pitchFamily="34" charset="0"/>
                <a:ea typeface="Calibri" pitchFamily="34" charset="-122"/>
                <a:cs typeface="Calibri" pitchFamily="34" charset="-120"/>
              </a:rPr>
              <a:t>have churned</a:t>
            </a:r>
            <a:endParaRPr lang="en-US" sz="1150" dirty="0"/>
          </a:p>
        </p:txBody>
      </p:sp>
      <p:sp>
        <p:nvSpPr>
          <p:cNvPr id="19" name="Shape 14"/>
          <p:cNvSpPr/>
          <p:nvPr/>
        </p:nvSpPr>
        <p:spPr>
          <a:xfrm>
            <a:off x="9829800" y="4114800"/>
            <a:ext cx="1554480" cy="0"/>
          </a:xfrm>
          <a:prstGeom prst="line">
            <a:avLst/>
          </a:prstGeom>
          <a:noFill/>
          <a:ln w="12700">
            <a:solidFill>
              <a:srgbClr val="C7DDEF"/>
            </a:solidFill>
            <a:prstDash val="solid"/>
          </a:ln>
        </p:spPr>
      </p:sp>
      <p:sp>
        <p:nvSpPr>
          <p:cNvPr id="20" name="Text 15"/>
          <p:cNvSpPr/>
          <p:nvPr/>
        </p:nvSpPr>
        <p:spPr>
          <a:xfrm>
            <a:off x="9738360" y="4297680"/>
            <a:ext cx="1737360" cy="731520"/>
          </a:xfrm>
          <a:prstGeom prst="rect">
            <a:avLst/>
          </a:prstGeom>
          <a:noFill/>
          <a:ln/>
        </p:spPr>
        <p:txBody>
          <a:bodyPr wrap="square" rtlCol="0" anchor="ctr"/>
          <a:lstStyle/>
          <a:p>
            <a:pPr marL="0" indent="0" algn="ctr">
              <a:buNone/>
            </a:pPr>
            <a:r>
              <a:rPr lang="en-US" sz="1050" i="1" dirty="0">
                <a:solidFill>
                  <a:srgbClr val="5A6B7B"/>
                </a:solidFill>
                <a:latin typeface="Calibri" pitchFamily="34" charset="0"/>
                <a:ea typeface="Calibri" pitchFamily="34" charset="-122"/>
                <a:cs typeface="Calibri" pitchFamily="34" charset="-120"/>
              </a:rPr>
              <a:t>Retention = Revenue</a:t>
            </a:r>
            <a:endParaRPr lang="en-US" sz="1050" dirty="0"/>
          </a:p>
          <a:p>
            <a:pPr marL="0" indent="0" algn="ctr">
              <a:buNone/>
            </a:pPr>
            <a:r>
              <a:rPr lang="en-US" sz="1050" i="1" dirty="0">
                <a:solidFill>
                  <a:srgbClr val="5A6B7B"/>
                </a:solidFill>
                <a:latin typeface="Calibri" pitchFamily="34" charset="0"/>
                <a:ea typeface="Calibri" pitchFamily="34" charset="-122"/>
                <a:cs typeface="Calibri" pitchFamily="34" charset="-120"/>
              </a:rPr>
              <a:t>protection strategy</a:t>
            </a:r>
            <a:endParaRPr lang="en-US" sz="1050" dirty="0"/>
          </a:p>
        </p:txBody>
      </p:sp>
      <p:sp>
        <p:nvSpPr>
          <p:cNvPr id="21" name="Text 16"/>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The Challenge We're Solving</a:t>
            </a:r>
            <a:endParaRPr lang="en-US" sz="3000" dirty="0"/>
          </a:p>
        </p:txBody>
      </p:sp>
      <p:sp>
        <p:nvSpPr>
          <p:cNvPr id="4" name="Shape 2"/>
          <p:cNvSpPr/>
          <p:nvPr/>
        </p:nvSpPr>
        <p:spPr>
          <a:xfrm>
            <a:off x="548640" y="1691640"/>
            <a:ext cx="6400800" cy="4206240"/>
          </a:xfrm>
          <a:prstGeom prst="roundRect">
            <a:avLst>
              <a:gd name="adj" fmla="val 2609"/>
            </a:avLst>
          </a:prstGeom>
          <a:solidFill>
            <a:srgbClr val="13315C"/>
          </a:solidFill>
          <a:ln/>
        </p:spPr>
      </p:sp>
      <p:sp>
        <p:nvSpPr>
          <p:cNvPr id="5" name="Text 3"/>
          <p:cNvSpPr/>
          <p:nvPr/>
        </p:nvSpPr>
        <p:spPr>
          <a:xfrm>
            <a:off x="777240" y="1783080"/>
            <a:ext cx="914400" cy="914400"/>
          </a:xfrm>
          <a:prstGeom prst="rect">
            <a:avLst/>
          </a:prstGeom>
          <a:noFill/>
          <a:ln/>
        </p:spPr>
        <p:txBody>
          <a:bodyPr wrap="square" rtlCol="0" anchor="ctr"/>
          <a:lstStyle/>
          <a:p>
            <a:pPr marL="0" indent="0">
              <a:buNone/>
            </a:pPr>
            <a:r>
              <a:rPr lang="en-US" sz="6000" b="1" dirty="0">
                <a:solidFill>
                  <a:srgbClr val="00B4D8"/>
                </a:solidFill>
                <a:latin typeface="Cambria" pitchFamily="34" charset="0"/>
                <a:ea typeface="Cambria" pitchFamily="34" charset="-122"/>
                <a:cs typeface="Cambria" pitchFamily="34" charset="-120"/>
              </a:rPr>
              <a:t>“</a:t>
            </a:r>
            <a:endParaRPr lang="en-US" sz="6000" dirty="0"/>
          </a:p>
        </p:txBody>
      </p:sp>
      <p:sp>
        <p:nvSpPr>
          <p:cNvPr id="6" name="Text 4"/>
          <p:cNvSpPr/>
          <p:nvPr/>
        </p:nvSpPr>
        <p:spPr>
          <a:xfrm>
            <a:off x="1005840" y="2468880"/>
            <a:ext cx="5577840" cy="2011680"/>
          </a:xfrm>
          <a:prstGeom prst="rect">
            <a:avLst/>
          </a:prstGeom>
          <a:noFill/>
          <a:ln/>
        </p:spPr>
        <p:txBody>
          <a:bodyPr wrap="square" rtlCol="0" anchor="ctr"/>
          <a:lstStyle/>
          <a:p>
            <a:pPr marL="0" indent="0">
              <a:lnSpc>
                <a:spcPct val="125000"/>
              </a:lnSpc>
              <a:buNone/>
            </a:pPr>
            <a:r>
              <a:rPr lang="en-US" sz="1900" i="1" dirty="0">
                <a:solidFill>
                  <a:srgbClr val="FFFFFF"/>
                </a:solidFill>
                <a:latin typeface="Cambria" pitchFamily="34" charset="0"/>
                <a:ea typeface="Cambria" pitchFamily="34" charset="-122"/>
                <a:cs typeface="Cambria" pitchFamily="34" charset="-120"/>
              </a:rPr>
              <a:t>Can we accurately predict whether a customer will leave the company, based on their service usage, contract, and billing behaviour?</a:t>
            </a:r>
            <a:endParaRPr lang="en-US" sz="1900" dirty="0"/>
          </a:p>
        </p:txBody>
      </p:sp>
      <p:sp>
        <p:nvSpPr>
          <p:cNvPr id="7" name="Shape 5"/>
          <p:cNvSpPr/>
          <p:nvPr/>
        </p:nvSpPr>
        <p:spPr>
          <a:xfrm>
            <a:off x="1005840" y="4709160"/>
            <a:ext cx="4389120" cy="0"/>
          </a:xfrm>
          <a:prstGeom prst="line">
            <a:avLst/>
          </a:prstGeom>
          <a:noFill/>
          <a:ln w="12700">
            <a:solidFill>
              <a:srgbClr val="3E6693"/>
            </a:solidFill>
            <a:prstDash val="solid"/>
          </a:ln>
        </p:spPr>
      </p:sp>
      <p:sp>
        <p:nvSpPr>
          <p:cNvPr id="8" name="Text 6"/>
          <p:cNvSpPr/>
          <p:nvPr/>
        </p:nvSpPr>
        <p:spPr>
          <a:xfrm>
            <a:off x="1005840" y="4892040"/>
            <a:ext cx="5577840" cy="822960"/>
          </a:xfrm>
          <a:prstGeom prst="rect">
            <a:avLst/>
          </a:prstGeom>
          <a:noFill/>
          <a:ln/>
        </p:spPr>
        <p:txBody>
          <a:bodyPr wrap="square"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Helping telecom businesses reduce customer loss through early, data-driven intervention using supervised machine learning.</a:t>
            </a:r>
            <a:endParaRPr lang="en-US" sz="1250" dirty="0"/>
          </a:p>
        </p:txBody>
      </p:sp>
      <p:sp>
        <p:nvSpPr>
          <p:cNvPr id="9" name="Shape 7"/>
          <p:cNvSpPr/>
          <p:nvPr/>
        </p:nvSpPr>
        <p:spPr>
          <a:xfrm>
            <a:off x="7269480" y="1691640"/>
            <a:ext cx="4343400" cy="1965960"/>
          </a:xfrm>
          <a:prstGeom prst="roundRect">
            <a:avLst>
              <a:gd name="adj" fmla="val 4651"/>
            </a:avLst>
          </a:prstGeom>
          <a:solidFill>
            <a:srgbClr val="EAF4FB"/>
          </a:solidFill>
          <a:ln/>
        </p:spPr>
      </p:sp>
      <p:sp>
        <p:nvSpPr>
          <p:cNvPr id="10" name="Shape 8"/>
          <p:cNvSpPr/>
          <p:nvPr/>
        </p:nvSpPr>
        <p:spPr>
          <a:xfrm>
            <a:off x="7498080" y="1965960"/>
            <a:ext cx="640080" cy="640080"/>
          </a:xfrm>
          <a:prstGeom prst="ellipse">
            <a:avLst/>
          </a:prstGeom>
          <a:solidFill>
            <a:srgbClr val="0B2545"/>
          </a:solidFill>
          <a:ln/>
        </p:spPr>
      </p:sp>
      <p:pic>
        <p:nvPicPr>
          <p:cNvPr id="11" name="Image 0" descr="/home/claude/churn_ppt/icons/target_white.png"/>
          <p:cNvPicPr>
            <a:picLocks noChangeAspect="1"/>
          </p:cNvPicPr>
          <p:nvPr/>
        </p:nvPicPr>
        <p:blipFill>
          <a:blip r:embed="rId3"/>
          <a:stretch>
            <a:fillRect/>
          </a:stretch>
        </p:blipFill>
        <p:spPr>
          <a:xfrm>
            <a:off x="7600493" y="2068373"/>
            <a:ext cx="435254" cy="435254"/>
          </a:xfrm>
          <a:prstGeom prst="rect">
            <a:avLst/>
          </a:prstGeom>
        </p:spPr>
      </p:pic>
      <p:sp>
        <p:nvSpPr>
          <p:cNvPr id="12" name="Text 9"/>
          <p:cNvSpPr/>
          <p:nvPr/>
        </p:nvSpPr>
        <p:spPr>
          <a:xfrm>
            <a:off x="8321040" y="1984248"/>
            <a:ext cx="3108960" cy="320040"/>
          </a:xfrm>
          <a:prstGeom prst="rect">
            <a:avLst/>
          </a:prstGeom>
          <a:noFill/>
          <a:ln/>
        </p:spPr>
        <p:txBody>
          <a:bodyPr wrap="square" rtlCol="0" anchor="ctr"/>
          <a:lstStyle/>
          <a:p>
            <a:pPr marL="0" indent="0">
              <a:buNone/>
            </a:pPr>
            <a:r>
              <a:rPr lang="en-US" sz="1200" b="1" kern="0" spc="100" dirty="0">
                <a:solidFill>
                  <a:srgbClr val="0090B0"/>
                </a:solidFill>
                <a:latin typeface="Calibri" pitchFamily="34" charset="0"/>
                <a:ea typeface="Calibri" pitchFamily="34" charset="-122"/>
                <a:cs typeface="Calibri" pitchFamily="34" charset="-120"/>
              </a:rPr>
              <a:t>GOAL</a:t>
            </a:r>
            <a:endParaRPr lang="en-US" sz="1200" dirty="0"/>
          </a:p>
        </p:txBody>
      </p:sp>
      <p:sp>
        <p:nvSpPr>
          <p:cNvPr id="13" name="Text 10"/>
          <p:cNvSpPr/>
          <p:nvPr/>
        </p:nvSpPr>
        <p:spPr>
          <a:xfrm>
            <a:off x="8321040" y="2313432"/>
            <a:ext cx="3154680" cy="1005840"/>
          </a:xfrm>
          <a:prstGeom prst="rect">
            <a:avLst/>
          </a:prstGeom>
          <a:noFill/>
          <a:ln/>
        </p:spPr>
        <p:txBody>
          <a:bodyPr wrap="square" rtlCol="0" anchor="ctr"/>
          <a:lstStyle/>
          <a:p>
            <a:pPr marL="0" indent="0">
              <a:lnSpc>
                <a:spcPct val="120000"/>
              </a:lnSpc>
              <a:buNone/>
            </a:pPr>
            <a:r>
              <a:rPr lang="en-US" sz="1250" dirty="0">
                <a:solidFill>
                  <a:srgbClr val="2C2C2C"/>
                </a:solidFill>
                <a:latin typeface="Calibri" pitchFamily="34" charset="0"/>
                <a:ea typeface="Calibri" pitchFamily="34" charset="-122"/>
                <a:cs typeface="Calibri" pitchFamily="34" charset="-120"/>
              </a:rPr>
              <a:t>Classify each customer as likely to churn (Yes) or stay (No).</a:t>
            </a:r>
            <a:endParaRPr lang="en-US" sz="1250" dirty="0"/>
          </a:p>
        </p:txBody>
      </p:sp>
      <p:sp>
        <p:nvSpPr>
          <p:cNvPr id="14" name="Shape 11"/>
          <p:cNvSpPr/>
          <p:nvPr/>
        </p:nvSpPr>
        <p:spPr>
          <a:xfrm>
            <a:off x="7269480" y="3886200"/>
            <a:ext cx="4343400" cy="1965960"/>
          </a:xfrm>
          <a:prstGeom prst="roundRect">
            <a:avLst>
              <a:gd name="adj" fmla="val 4651"/>
            </a:avLst>
          </a:prstGeom>
          <a:solidFill>
            <a:srgbClr val="EAF4FB"/>
          </a:solidFill>
          <a:ln/>
        </p:spPr>
      </p:sp>
      <p:sp>
        <p:nvSpPr>
          <p:cNvPr id="15" name="Shape 12"/>
          <p:cNvSpPr/>
          <p:nvPr/>
        </p:nvSpPr>
        <p:spPr>
          <a:xfrm>
            <a:off x="7498080" y="4160520"/>
            <a:ext cx="640080" cy="640080"/>
          </a:xfrm>
          <a:prstGeom prst="ellipse">
            <a:avLst/>
          </a:prstGeom>
          <a:solidFill>
            <a:srgbClr val="0B2545"/>
          </a:solidFill>
          <a:ln/>
        </p:spPr>
      </p:sp>
      <p:pic>
        <p:nvPicPr>
          <p:cNvPr id="16" name="Image 1" descr="/home/claude/churn_ppt/icons/bullhorn_white.png"/>
          <p:cNvPicPr>
            <a:picLocks noChangeAspect="1"/>
          </p:cNvPicPr>
          <p:nvPr/>
        </p:nvPicPr>
        <p:blipFill>
          <a:blip r:embed="rId4"/>
          <a:stretch>
            <a:fillRect/>
          </a:stretch>
        </p:blipFill>
        <p:spPr>
          <a:xfrm>
            <a:off x="7600493" y="4262933"/>
            <a:ext cx="435254" cy="435254"/>
          </a:xfrm>
          <a:prstGeom prst="rect">
            <a:avLst/>
          </a:prstGeom>
        </p:spPr>
      </p:pic>
      <p:sp>
        <p:nvSpPr>
          <p:cNvPr id="17" name="Text 13"/>
          <p:cNvSpPr/>
          <p:nvPr/>
        </p:nvSpPr>
        <p:spPr>
          <a:xfrm>
            <a:off x="8321040" y="4178808"/>
            <a:ext cx="3108960" cy="320040"/>
          </a:xfrm>
          <a:prstGeom prst="rect">
            <a:avLst/>
          </a:prstGeom>
          <a:noFill/>
          <a:ln/>
        </p:spPr>
        <p:txBody>
          <a:bodyPr wrap="square" rtlCol="0" anchor="ctr"/>
          <a:lstStyle/>
          <a:p>
            <a:pPr marL="0" indent="0">
              <a:buNone/>
            </a:pPr>
            <a:r>
              <a:rPr lang="en-US" sz="1200" b="1" kern="0" spc="100" dirty="0">
                <a:solidFill>
                  <a:srgbClr val="0090B0"/>
                </a:solidFill>
                <a:latin typeface="Calibri" pitchFamily="34" charset="0"/>
                <a:ea typeface="Calibri" pitchFamily="34" charset="-122"/>
                <a:cs typeface="Calibri" pitchFamily="34" charset="-120"/>
              </a:rPr>
              <a:t>OUTCOME</a:t>
            </a:r>
            <a:endParaRPr lang="en-US" sz="1200" dirty="0"/>
          </a:p>
        </p:txBody>
      </p:sp>
      <p:sp>
        <p:nvSpPr>
          <p:cNvPr id="18" name="Text 14"/>
          <p:cNvSpPr/>
          <p:nvPr/>
        </p:nvSpPr>
        <p:spPr>
          <a:xfrm>
            <a:off x="8321040" y="4507992"/>
            <a:ext cx="3154680" cy="1005840"/>
          </a:xfrm>
          <a:prstGeom prst="rect">
            <a:avLst/>
          </a:prstGeom>
          <a:noFill/>
          <a:ln/>
        </p:spPr>
        <p:txBody>
          <a:bodyPr wrap="square" rtlCol="0" anchor="ctr"/>
          <a:lstStyle/>
          <a:p>
            <a:pPr marL="0" indent="0">
              <a:lnSpc>
                <a:spcPct val="120000"/>
              </a:lnSpc>
              <a:buNone/>
            </a:pPr>
            <a:r>
              <a:rPr lang="en-US" sz="1250" dirty="0">
                <a:solidFill>
                  <a:srgbClr val="2C2C2C"/>
                </a:solidFill>
                <a:latin typeface="Calibri" pitchFamily="34" charset="0"/>
                <a:ea typeface="Calibri" pitchFamily="34" charset="-122"/>
                <a:cs typeface="Calibri" pitchFamily="34" charset="-120"/>
              </a:rPr>
              <a:t>Give the business a ranked, actionable list of at-risk customers.</a:t>
            </a:r>
            <a:endParaRPr lang="en-US" sz="1250" dirty="0"/>
          </a:p>
        </p:txBody>
      </p:sp>
      <p:sp>
        <p:nvSpPr>
          <p:cNvPr id="19" name="Text 15"/>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OBJECTIVES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91640"/>
            <a:ext cx="3611880" cy="2148840"/>
          </a:xfrm>
          <a:prstGeom prst="roundRect">
            <a:avLst>
              <a:gd name="adj" fmla="val 4255"/>
            </a:avLst>
          </a:prstGeom>
          <a:solidFill>
            <a:srgbClr val="EAF4FB"/>
          </a:solidFill>
          <a:ln/>
          <a:effectLst>
            <a:outerShdw blurRad="76200" dist="25400" dir="5400000" algn="bl" rotWithShape="0">
              <a:srgbClr val="9AB4CE">
                <a:alpha val="35000"/>
              </a:srgbClr>
            </a:outerShdw>
          </a:effectLst>
        </p:spPr>
      </p:sp>
      <p:sp>
        <p:nvSpPr>
          <p:cNvPr id="5" name="Shape 3"/>
          <p:cNvSpPr/>
          <p:nvPr/>
        </p:nvSpPr>
        <p:spPr>
          <a:xfrm>
            <a:off x="777240" y="1920240"/>
            <a:ext cx="594360" cy="594360"/>
          </a:xfrm>
          <a:prstGeom prst="ellipse">
            <a:avLst/>
          </a:prstGeom>
          <a:solidFill>
            <a:srgbClr val="0B2545"/>
          </a:solidFill>
          <a:ln/>
        </p:spPr>
      </p:sp>
      <p:pic>
        <p:nvPicPr>
          <p:cNvPr id="6" name="Image 0" descr="/home/claude/churn_ppt/icons/search_white.png"/>
          <p:cNvPicPr>
            <a:picLocks noChangeAspect="1"/>
          </p:cNvPicPr>
          <p:nvPr/>
        </p:nvPicPr>
        <p:blipFill>
          <a:blip r:embed="rId3"/>
          <a:stretch>
            <a:fillRect/>
          </a:stretch>
        </p:blipFill>
        <p:spPr>
          <a:xfrm>
            <a:off x="866394" y="2009394"/>
            <a:ext cx="416052" cy="416052"/>
          </a:xfrm>
          <a:prstGeom prst="rect">
            <a:avLst/>
          </a:prstGeom>
        </p:spPr>
      </p:pic>
      <p:sp>
        <p:nvSpPr>
          <p:cNvPr id="7" name="Text 4"/>
          <p:cNvSpPr/>
          <p:nvPr/>
        </p:nvSpPr>
        <p:spPr>
          <a:xfrm>
            <a:off x="777240" y="2606040"/>
            <a:ext cx="315468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Analyze Customer Data</a:t>
            </a:r>
            <a:endParaRPr lang="en-US" sz="1450" dirty="0"/>
          </a:p>
        </p:txBody>
      </p:sp>
      <p:sp>
        <p:nvSpPr>
          <p:cNvPr id="8" name="Text 5"/>
          <p:cNvSpPr/>
          <p:nvPr/>
        </p:nvSpPr>
        <p:spPr>
          <a:xfrm>
            <a:off x="777240" y="304495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Explore demographic, service, and billing attributes to understand customer behaviour.</a:t>
            </a:r>
            <a:endParaRPr lang="en-US" sz="1100" dirty="0"/>
          </a:p>
        </p:txBody>
      </p:sp>
      <p:sp>
        <p:nvSpPr>
          <p:cNvPr id="9" name="Shape 6"/>
          <p:cNvSpPr/>
          <p:nvPr/>
        </p:nvSpPr>
        <p:spPr>
          <a:xfrm>
            <a:off x="4389120" y="1691640"/>
            <a:ext cx="3611880" cy="2148840"/>
          </a:xfrm>
          <a:prstGeom prst="roundRect">
            <a:avLst>
              <a:gd name="adj" fmla="val 4255"/>
            </a:avLst>
          </a:prstGeom>
          <a:solidFill>
            <a:srgbClr val="EAF4FB"/>
          </a:solidFill>
          <a:ln/>
          <a:effectLst>
            <a:outerShdw blurRad="76200" dist="25400" dir="5400000" algn="bl" rotWithShape="0">
              <a:srgbClr val="9AB4CE">
                <a:alpha val="35000"/>
              </a:srgbClr>
            </a:outerShdw>
          </a:effectLst>
        </p:spPr>
      </p:sp>
      <p:sp>
        <p:nvSpPr>
          <p:cNvPr id="10" name="Shape 7"/>
          <p:cNvSpPr/>
          <p:nvPr/>
        </p:nvSpPr>
        <p:spPr>
          <a:xfrm>
            <a:off x="4617720" y="1920240"/>
            <a:ext cx="594360" cy="594360"/>
          </a:xfrm>
          <a:prstGeom prst="ellipse">
            <a:avLst/>
          </a:prstGeom>
          <a:solidFill>
            <a:srgbClr val="0B2545"/>
          </a:solidFill>
          <a:ln/>
        </p:spPr>
      </p:sp>
      <p:pic>
        <p:nvPicPr>
          <p:cNvPr id="11" name="Image 1" descr="/home/claude/churn_ppt/icons/filter_white.png"/>
          <p:cNvPicPr>
            <a:picLocks noChangeAspect="1"/>
          </p:cNvPicPr>
          <p:nvPr/>
        </p:nvPicPr>
        <p:blipFill>
          <a:blip r:embed="rId4"/>
          <a:stretch>
            <a:fillRect/>
          </a:stretch>
        </p:blipFill>
        <p:spPr>
          <a:xfrm>
            <a:off x="4706874" y="2009394"/>
            <a:ext cx="416052" cy="416052"/>
          </a:xfrm>
          <a:prstGeom prst="rect">
            <a:avLst/>
          </a:prstGeom>
        </p:spPr>
      </p:pic>
      <p:sp>
        <p:nvSpPr>
          <p:cNvPr id="12" name="Text 8"/>
          <p:cNvSpPr/>
          <p:nvPr/>
        </p:nvSpPr>
        <p:spPr>
          <a:xfrm>
            <a:off x="4617720" y="2606040"/>
            <a:ext cx="315468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Identify Churn Factors</a:t>
            </a:r>
            <a:endParaRPr lang="en-US" sz="1450" dirty="0"/>
          </a:p>
        </p:txBody>
      </p:sp>
      <p:sp>
        <p:nvSpPr>
          <p:cNvPr id="13" name="Text 9"/>
          <p:cNvSpPr/>
          <p:nvPr/>
        </p:nvSpPr>
        <p:spPr>
          <a:xfrm>
            <a:off x="4617720" y="304495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Determine which features are most strongly associated with customer attrition.</a:t>
            </a:r>
            <a:endParaRPr lang="en-US" sz="1100" dirty="0"/>
          </a:p>
        </p:txBody>
      </p:sp>
      <p:sp>
        <p:nvSpPr>
          <p:cNvPr id="14" name="Shape 10"/>
          <p:cNvSpPr/>
          <p:nvPr/>
        </p:nvSpPr>
        <p:spPr>
          <a:xfrm>
            <a:off x="8229600" y="1691640"/>
            <a:ext cx="3611880" cy="2148840"/>
          </a:xfrm>
          <a:prstGeom prst="roundRect">
            <a:avLst>
              <a:gd name="adj" fmla="val 4255"/>
            </a:avLst>
          </a:prstGeom>
          <a:solidFill>
            <a:srgbClr val="EAF4FB"/>
          </a:solidFill>
          <a:ln/>
          <a:effectLst>
            <a:outerShdw blurRad="76200" dist="25400" dir="5400000" algn="bl" rotWithShape="0">
              <a:srgbClr val="9AB4CE">
                <a:alpha val="35000"/>
              </a:srgbClr>
            </a:outerShdw>
          </a:effectLst>
        </p:spPr>
      </p:sp>
      <p:sp>
        <p:nvSpPr>
          <p:cNvPr id="15" name="Shape 11"/>
          <p:cNvSpPr/>
          <p:nvPr/>
        </p:nvSpPr>
        <p:spPr>
          <a:xfrm>
            <a:off x="8458200" y="1920240"/>
            <a:ext cx="594360" cy="594360"/>
          </a:xfrm>
          <a:prstGeom prst="ellipse">
            <a:avLst/>
          </a:prstGeom>
          <a:solidFill>
            <a:srgbClr val="0B2545"/>
          </a:solidFill>
          <a:ln/>
        </p:spPr>
      </p:sp>
      <p:pic>
        <p:nvPicPr>
          <p:cNvPr id="16" name="Image 2" descr="/home/claude/churn_ppt/icons/cogs_white.png"/>
          <p:cNvPicPr>
            <a:picLocks noChangeAspect="1"/>
          </p:cNvPicPr>
          <p:nvPr/>
        </p:nvPicPr>
        <p:blipFill>
          <a:blip r:embed="rId5"/>
          <a:stretch>
            <a:fillRect/>
          </a:stretch>
        </p:blipFill>
        <p:spPr>
          <a:xfrm>
            <a:off x="8547354" y="2009394"/>
            <a:ext cx="416052" cy="416052"/>
          </a:xfrm>
          <a:prstGeom prst="rect">
            <a:avLst/>
          </a:prstGeom>
        </p:spPr>
      </p:pic>
      <p:sp>
        <p:nvSpPr>
          <p:cNvPr id="17" name="Text 12"/>
          <p:cNvSpPr/>
          <p:nvPr/>
        </p:nvSpPr>
        <p:spPr>
          <a:xfrm>
            <a:off x="8458200" y="2606040"/>
            <a:ext cx="315468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Build Prediction Models</a:t>
            </a:r>
            <a:endParaRPr lang="en-US" sz="1450" dirty="0"/>
          </a:p>
        </p:txBody>
      </p:sp>
      <p:sp>
        <p:nvSpPr>
          <p:cNvPr id="18" name="Text 13"/>
          <p:cNvSpPr/>
          <p:nvPr/>
        </p:nvSpPr>
        <p:spPr>
          <a:xfrm>
            <a:off x="8458200" y="304495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Train multiple supervised classification algorithms on the prepared dataset.</a:t>
            </a:r>
            <a:endParaRPr lang="en-US" sz="1100" dirty="0"/>
          </a:p>
        </p:txBody>
      </p:sp>
      <p:sp>
        <p:nvSpPr>
          <p:cNvPr id="19" name="Shape 14"/>
          <p:cNvSpPr/>
          <p:nvPr/>
        </p:nvSpPr>
        <p:spPr>
          <a:xfrm>
            <a:off x="548640" y="4114800"/>
            <a:ext cx="3611880" cy="2148840"/>
          </a:xfrm>
          <a:prstGeom prst="roundRect">
            <a:avLst>
              <a:gd name="adj" fmla="val 4255"/>
            </a:avLst>
          </a:prstGeom>
          <a:solidFill>
            <a:srgbClr val="EAF4FB"/>
          </a:solidFill>
          <a:ln/>
          <a:effectLst>
            <a:outerShdw blurRad="76200" dist="25400" dir="5400000" algn="bl" rotWithShape="0">
              <a:srgbClr val="9AB4CE">
                <a:alpha val="35000"/>
              </a:srgbClr>
            </a:outerShdw>
          </a:effectLst>
        </p:spPr>
      </p:sp>
      <p:sp>
        <p:nvSpPr>
          <p:cNvPr id="20" name="Shape 15"/>
          <p:cNvSpPr/>
          <p:nvPr/>
        </p:nvSpPr>
        <p:spPr>
          <a:xfrm>
            <a:off x="777240" y="4343400"/>
            <a:ext cx="594360" cy="594360"/>
          </a:xfrm>
          <a:prstGeom prst="ellipse">
            <a:avLst/>
          </a:prstGeom>
          <a:solidFill>
            <a:srgbClr val="0B2545"/>
          </a:solidFill>
          <a:ln/>
        </p:spPr>
      </p:sp>
      <p:pic>
        <p:nvPicPr>
          <p:cNvPr id="21" name="Image 3" descr="/home/claude/churn_ppt/icons/balanceScale_white.png"/>
          <p:cNvPicPr>
            <a:picLocks noChangeAspect="1"/>
          </p:cNvPicPr>
          <p:nvPr/>
        </p:nvPicPr>
        <p:blipFill>
          <a:blip r:embed="rId6"/>
          <a:stretch>
            <a:fillRect/>
          </a:stretch>
        </p:blipFill>
        <p:spPr>
          <a:xfrm>
            <a:off x="866394" y="4432554"/>
            <a:ext cx="416052" cy="416052"/>
          </a:xfrm>
          <a:prstGeom prst="rect">
            <a:avLst/>
          </a:prstGeom>
        </p:spPr>
      </p:pic>
      <p:sp>
        <p:nvSpPr>
          <p:cNvPr id="22" name="Text 16"/>
          <p:cNvSpPr/>
          <p:nvPr/>
        </p:nvSpPr>
        <p:spPr>
          <a:xfrm>
            <a:off x="777240" y="5029200"/>
            <a:ext cx="315468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Compare Model Performance</a:t>
            </a:r>
            <a:endParaRPr lang="en-US" sz="1450" dirty="0"/>
          </a:p>
        </p:txBody>
      </p:sp>
      <p:sp>
        <p:nvSpPr>
          <p:cNvPr id="23" name="Text 17"/>
          <p:cNvSpPr/>
          <p:nvPr/>
        </p:nvSpPr>
        <p:spPr>
          <a:xfrm>
            <a:off x="777240" y="546811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Evaluate models using accuracy, precision, recall, and F1-score.</a:t>
            </a:r>
            <a:endParaRPr lang="en-US" sz="1100" dirty="0"/>
          </a:p>
        </p:txBody>
      </p:sp>
      <p:sp>
        <p:nvSpPr>
          <p:cNvPr id="24" name="Shape 18"/>
          <p:cNvSpPr/>
          <p:nvPr/>
        </p:nvSpPr>
        <p:spPr>
          <a:xfrm>
            <a:off x="4389120" y="4114800"/>
            <a:ext cx="3611880" cy="2148840"/>
          </a:xfrm>
          <a:prstGeom prst="roundRect">
            <a:avLst>
              <a:gd name="adj" fmla="val 4255"/>
            </a:avLst>
          </a:prstGeom>
          <a:solidFill>
            <a:srgbClr val="EAF4FB"/>
          </a:solidFill>
          <a:ln/>
          <a:effectLst>
            <a:outerShdw blurRad="76200" dist="25400" dir="5400000" algn="bl" rotWithShape="0">
              <a:srgbClr val="9AB4CE">
                <a:alpha val="35000"/>
              </a:srgbClr>
            </a:outerShdw>
          </a:effectLst>
        </p:spPr>
      </p:sp>
      <p:sp>
        <p:nvSpPr>
          <p:cNvPr id="25" name="Shape 19"/>
          <p:cNvSpPr/>
          <p:nvPr/>
        </p:nvSpPr>
        <p:spPr>
          <a:xfrm>
            <a:off x="4617720" y="4343400"/>
            <a:ext cx="594360" cy="594360"/>
          </a:xfrm>
          <a:prstGeom prst="ellipse">
            <a:avLst/>
          </a:prstGeom>
          <a:solidFill>
            <a:srgbClr val="0B2545"/>
          </a:solidFill>
          <a:ln/>
        </p:spPr>
      </p:sp>
      <p:pic>
        <p:nvPicPr>
          <p:cNvPr id="26" name="Image 4" descr="/home/claude/churn_ppt/icons/chartLine_white.png"/>
          <p:cNvPicPr>
            <a:picLocks noChangeAspect="1"/>
          </p:cNvPicPr>
          <p:nvPr/>
        </p:nvPicPr>
        <p:blipFill>
          <a:blip r:embed="rId7"/>
          <a:stretch>
            <a:fillRect/>
          </a:stretch>
        </p:blipFill>
        <p:spPr>
          <a:xfrm>
            <a:off x="4706874" y="4432554"/>
            <a:ext cx="416052" cy="416052"/>
          </a:xfrm>
          <a:prstGeom prst="rect">
            <a:avLst/>
          </a:prstGeom>
        </p:spPr>
      </p:pic>
      <p:sp>
        <p:nvSpPr>
          <p:cNvPr id="27" name="Text 20"/>
          <p:cNvSpPr/>
          <p:nvPr/>
        </p:nvSpPr>
        <p:spPr>
          <a:xfrm>
            <a:off x="4617720" y="5029200"/>
            <a:ext cx="3154680" cy="45720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Improve Prediction Accuracy</a:t>
            </a:r>
            <a:endParaRPr lang="en-US" sz="1450" dirty="0"/>
          </a:p>
        </p:txBody>
      </p:sp>
      <p:sp>
        <p:nvSpPr>
          <p:cNvPr id="28" name="Text 21"/>
          <p:cNvSpPr/>
          <p:nvPr/>
        </p:nvSpPr>
        <p:spPr>
          <a:xfrm>
            <a:off x="4617720" y="546811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Apply feature engineering to strengthen the models' predictive power.</a:t>
            </a:r>
            <a:endParaRPr lang="en-US" sz="1100" dirty="0"/>
          </a:p>
        </p:txBody>
      </p:sp>
      <p:sp>
        <p:nvSpPr>
          <p:cNvPr id="29" name="Text 2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DATASET OVERVIEW</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The Telco Customer Churn Dataset</a:t>
            </a:r>
            <a:endParaRPr lang="en-US" sz="3000" dirty="0"/>
          </a:p>
        </p:txBody>
      </p:sp>
      <p:sp>
        <p:nvSpPr>
          <p:cNvPr id="4" name="Shape 2"/>
          <p:cNvSpPr/>
          <p:nvPr/>
        </p:nvSpPr>
        <p:spPr>
          <a:xfrm>
            <a:off x="548640" y="1645920"/>
            <a:ext cx="2606040" cy="1188720"/>
          </a:xfrm>
          <a:prstGeom prst="roundRect">
            <a:avLst>
              <a:gd name="adj" fmla="val 7692"/>
            </a:avLst>
          </a:prstGeom>
          <a:solidFill>
            <a:srgbClr val="0B2545"/>
          </a:solidFill>
          <a:ln/>
        </p:spPr>
      </p:sp>
      <p:sp>
        <p:nvSpPr>
          <p:cNvPr id="5" name="Text 3"/>
          <p:cNvSpPr/>
          <p:nvPr/>
        </p:nvSpPr>
        <p:spPr>
          <a:xfrm>
            <a:off x="548640" y="1737360"/>
            <a:ext cx="2606040" cy="548640"/>
          </a:xfrm>
          <a:prstGeom prst="rect">
            <a:avLst/>
          </a:prstGeom>
          <a:noFill/>
          <a:ln/>
        </p:spPr>
        <p:txBody>
          <a:bodyPr wrap="square" rtlCol="0" anchor="ctr"/>
          <a:lstStyle/>
          <a:p>
            <a:pPr marL="0" indent="0" algn="ctr">
              <a:buNone/>
            </a:pPr>
            <a:r>
              <a:rPr lang="en-US" sz="2400" b="1" dirty="0">
                <a:solidFill>
                  <a:srgbClr val="00B4D8"/>
                </a:solidFill>
                <a:latin typeface="Cambria" pitchFamily="34" charset="0"/>
                <a:ea typeface="Cambria" pitchFamily="34" charset="-122"/>
                <a:cs typeface="Cambria" pitchFamily="34" charset="-120"/>
              </a:rPr>
              <a:t>7,043</a:t>
            </a:r>
            <a:endParaRPr lang="en-US" sz="2400" dirty="0"/>
          </a:p>
        </p:txBody>
      </p:sp>
      <p:sp>
        <p:nvSpPr>
          <p:cNvPr id="6" name="Text 4"/>
          <p:cNvSpPr/>
          <p:nvPr/>
        </p:nvSpPr>
        <p:spPr>
          <a:xfrm>
            <a:off x="548640" y="2286000"/>
            <a:ext cx="2606040" cy="502920"/>
          </a:xfrm>
          <a:prstGeom prst="rect">
            <a:avLst/>
          </a:prstGeom>
          <a:noFill/>
          <a:ln/>
        </p:spPr>
        <p:txBody>
          <a:bodyPr wrap="square" rtlCol="0" anchor="ctr"/>
          <a:lstStyle/>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Total customer</a:t>
            </a:r>
            <a:endParaRPr lang="en-US" sz="1050" dirty="0"/>
          </a:p>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records</a:t>
            </a:r>
            <a:endParaRPr lang="en-US" sz="1050" dirty="0"/>
          </a:p>
        </p:txBody>
      </p:sp>
      <p:sp>
        <p:nvSpPr>
          <p:cNvPr id="7" name="Shape 5"/>
          <p:cNvSpPr/>
          <p:nvPr/>
        </p:nvSpPr>
        <p:spPr>
          <a:xfrm>
            <a:off x="3291840" y="1645920"/>
            <a:ext cx="2606040" cy="1188720"/>
          </a:xfrm>
          <a:prstGeom prst="roundRect">
            <a:avLst>
              <a:gd name="adj" fmla="val 7692"/>
            </a:avLst>
          </a:prstGeom>
          <a:solidFill>
            <a:srgbClr val="0B2545"/>
          </a:solidFill>
          <a:ln/>
        </p:spPr>
      </p:sp>
      <p:sp>
        <p:nvSpPr>
          <p:cNvPr id="8" name="Text 6"/>
          <p:cNvSpPr/>
          <p:nvPr/>
        </p:nvSpPr>
        <p:spPr>
          <a:xfrm>
            <a:off x="3291840" y="1737360"/>
            <a:ext cx="2606040" cy="548640"/>
          </a:xfrm>
          <a:prstGeom prst="rect">
            <a:avLst/>
          </a:prstGeom>
          <a:noFill/>
          <a:ln/>
        </p:spPr>
        <p:txBody>
          <a:bodyPr wrap="square" rtlCol="0" anchor="ctr"/>
          <a:lstStyle/>
          <a:p>
            <a:pPr marL="0" indent="0" algn="ctr">
              <a:buNone/>
            </a:pPr>
            <a:r>
              <a:rPr lang="en-US" sz="2400" b="1" dirty="0">
                <a:solidFill>
                  <a:srgbClr val="00B4D8"/>
                </a:solidFill>
                <a:latin typeface="Cambria" pitchFamily="34" charset="0"/>
                <a:ea typeface="Cambria" pitchFamily="34" charset="-122"/>
                <a:cs typeface="Cambria" pitchFamily="34" charset="-120"/>
              </a:rPr>
              <a:t>21</a:t>
            </a:r>
            <a:endParaRPr lang="en-US" sz="2400" dirty="0"/>
          </a:p>
        </p:txBody>
      </p:sp>
      <p:sp>
        <p:nvSpPr>
          <p:cNvPr id="9" name="Text 7"/>
          <p:cNvSpPr/>
          <p:nvPr/>
        </p:nvSpPr>
        <p:spPr>
          <a:xfrm>
            <a:off x="3291840" y="2286000"/>
            <a:ext cx="2606040" cy="502920"/>
          </a:xfrm>
          <a:prstGeom prst="rect">
            <a:avLst/>
          </a:prstGeom>
          <a:noFill/>
          <a:ln/>
        </p:spPr>
        <p:txBody>
          <a:bodyPr wrap="square" rtlCol="0" anchor="ctr"/>
          <a:lstStyle/>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Original columns</a:t>
            </a:r>
            <a:endParaRPr lang="en-US" sz="1050" dirty="0"/>
          </a:p>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(20 features + target)</a:t>
            </a:r>
            <a:endParaRPr lang="en-US" sz="1050" dirty="0"/>
          </a:p>
        </p:txBody>
      </p:sp>
      <p:sp>
        <p:nvSpPr>
          <p:cNvPr id="10" name="Shape 8"/>
          <p:cNvSpPr/>
          <p:nvPr/>
        </p:nvSpPr>
        <p:spPr>
          <a:xfrm>
            <a:off x="6035040" y="1645920"/>
            <a:ext cx="2606040" cy="1188720"/>
          </a:xfrm>
          <a:prstGeom prst="roundRect">
            <a:avLst>
              <a:gd name="adj" fmla="val 7692"/>
            </a:avLst>
          </a:prstGeom>
          <a:solidFill>
            <a:srgbClr val="0B2545"/>
          </a:solidFill>
          <a:ln/>
        </p:spPr>
      </p:sp>
      <p:sp>
        <p:nvSpPr>
          <p:cNvPr id="11" name="Text 9"/>
          <p:cNvSpPr/>
          <p:nvPr/>
        </p:nvSpPr>
        <p:spPr>
          <a:xfrm>
            <a:off x="6035040" y="1737360"/>
            <a:ext cx="2606040" cy="548640"/>
          </a:xfrm>
          <a:prstGeom prst="rect">
            <a:avLst/>
          </a:prstGeom>
          <a:noFill/>
          <a:ln/>
        </p:spPr>
        <p:txBody>
          <a:bodyPr wrap="square" rtlCol="0" anchor="ctr"/>
          <a:lstStyle/>
          <a:p>
            <a:pPr marL="0" indent="0" algn="ctr">
              <a:buNone/>
            </a:pPr>
            <a:r>
              <a:rPr lang="en-US" sz="2400" b="1" dirty="0">
                <a:solidFill>
                  <a:srgbClr val="00B4D8"/>
                </a:solidFill>
                <a:latin typeface="Cambria" pitchFamily="34" charset="0"/>
                <a:ea typeface="Cambria" pitchFamily="34" charset="-122"/>
                <a:cs typeface="Cambria" pitchFamily="34" charset="-120"/>
              </a:rPr>
              <a:t>3</a:t>
            </a:r>
            <a:endParaRPr lang="en-US" sz="2400" dirty="0"/>
          </a:p>
        </p:txBody>
      </p:sp>
      <p:sp>
        <p:nvSpPr>
          <p:cNvPr id="12" name="Text 10"/>
          <p:cNvSpPr/>
          <p:nvPr/>
        </p:nvSpPr>
        <p:spPr>
          <a:xfrm>
            <a:off x="6035040" y="2286000"/>
            <a:ext cx="2606040" cy="502920"/>
          </a:xfrm>
          <a:prstGeom prst="rect">
            <a:avLst/>
          </a:prstGeom>
          <a:noFill/>
          <a:ln/>
        </p:spPr>
        <p:txBody>
          <a:bodyPr wrap="square" rtlCol="0" anchor="ctr"/>
          <a:lstStyle/>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Numerical</a:t>
            </a:r>
            <a:endParaRPr lang="en-US" sz="1050" dirty="0"/>
          </a:p>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attributes</a:t>
            </a:r>
            <a:endParaRPr lang="en-US" sz="1050" dirty="0"/>
          </a:p>
        </p:txBody>
      </p:sp>
      <p:sp>
        <p:nvSpPr>
          <p:cNvPr id="13" name="Shape 11"/>
          <p:cNvSpPr/>
          <p:nvPr/>
        </p:nvSpPr>
        <p:spPr>
          <a:xfrm>
            <a:off x="8778240" y="1645920"/>
            <a:ext cx="2606040" cy="1188720"/>
          </a:xfrm>
          <a:prstGeom prst="roundRect">
            <a:avLst>
              <a:gd name="adj" fmla="val 7692"/>
            </a:avLst>
          </a:prstGeom>
          <a:solidFill>
            <a:srgbClr val="0B2545"/>
          </a:solidFill>
          <a:ln/>
        </p:spPr>
      </p:sp>
      <p:sp>
        <p:nvSpPr>
          <p:cNvPr id="14" name="Text 12"/>
          <p:cNvSpPr/>
          <p:nvPr/>
        </p:nvSpPr>
        <p:spPr>
          <a:xfrm>
            <a:off x="8778240" y="1737360"/>
            <a:ext cx="2606040" cy="548640"/>
          </a:xfrm>
          <a:prstGeom prst="rect">
            <a:avLst/>
          </a:prstGeom>
          <a:noFill/>
          <a:ln/>
        </p:spPr>
        <p:txBody>
          <a:bodyPr wrap="square" rtlCol="0" anchor="ctr"/>
          <a:lstStyle/>
          <a:p>
            <a:pPr marL="0" indent="0" algn="ctr">
              <a:buNone/>
            </a:pPr>
            <a:r>
              <a:rPr lang="en-US" sz="2400" b="1" dirty="0">
                <a:solidFill>
                  <a:srgbClr val="00B4D8"/>
                </a:solidFill>
                <a:latin typeface="Cambria" pitchFamily="34" charset="0"/>
                <a:ea typeface="Cambria" pitchFamily="34" charset="-122"/>
                <a:cs typeface="Cambria" pitchFamily="34" charset="-120"/>
              </a:rPr>
              <a:t>Churn</a:t>
            </a:r>
            <a:endParaRPr lang="en-US" sz="2400" dirty="0"/>
          </a:p>
        </p:txBody>
      </p:sp>
      <p:sp>
        <p:nvSpPr>
          <p:cNvPr id="15" name="Text 13"/>
          <p:cNvSpPr/>
          <p:nvPr/>
        </p:nvSpPr>
        <p:spPr>
          <a:xfrm>
            <a:off x="8778240" y="2286000"/>
            <a:ext cx="2606040" cy="502920"/>
          </a:xfrm>
          <a:prstGeom prst="rect">
            <a:avLst/>
          </a:prstGeom>
          <a:noFill/>
          <a:ln/>
        </p:spPr>
        <p:txBody>
          <a:bodyPr wrap="square" rtlCol="0" anchor="ctr"/>
          <a:lstStyle/>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Target variable</a:t>
            </a:r>
            <a:endParaRPr lang="en-US" sz="1050" dirty="0"/>
          </a:p>
          <a:p>
            <a:pPr marL="0" indent="0" algn="ctr">
              <a:lnSpc>
                <a:spcPct val="105000"/>
              </a:lnSpc>
              <a:buNone/>
            </a:pPr>
            <a:r>
              <a:rPr lang="en-US" sz="1050" dirty="0">
                <a:solidFill>
                  <a:srgbClr val="D8E6F2"/>
                </a:solidFill>
                <a:latin typeface="Calibri" pitchFamily="34" charset="0"/>
                <a:ea typeface="Calibri" pitchFamily="34" charset="-122"/>
                <a:cs typeface="Calibri" pitchFamily="34" charset="-120"/>
              </a:rPr>
              <a:t>(Yes / No)</a:t>
            </a:r>
            <a:endParaRPr lang="en-US" sz="1050" dirty="0"/>
          </a:p>
        </p:txBody>
      </p:sp>
      <p:sp>
        <p:nvSpPr>
          <p:cNvPr id="16" name="Text 14"/>
          <p:cNvSpPr/>
          <p:nvPr/>
        </p:nvSpPr>
        <p:spPr>
          <a:xfrm>
            <a:off x="548640" y="3108960"/>
            <a:ext cx="3657600" cy="320040"/>
          </a:xfrm>
          <a:prstGeom prst="rect">
            <a:avLst/>
          </a:prstGeom>
          <a:noFill/>
          <a:ln/>
        </p:spPr>
        <p:txBody>
          <a:bodyPr wrap="square" rtlCol="0" anchor="ctr"/>
          <a:lstStyle/>
          <a:p>
            <a:pPr marL="0" indent="0">
              <a:buNone/>
            </a:pPr>
            <a:r>
              <a:rPr lang="en-US" sz="1400" b="1" dirty="0">
                <a:solidFill>
                  <a:srgbClr val="13315C"/>
                </a:solidFill>
                <a:latin typeface="Calibri" pitchFamily="34" charset="0"/>
                <a:ea typeface="Calibri" pitchFamily="34" charset="-122"/>
                <a:cs typeface="Calibri" pitchFamily="34" charset="-120"/>
              </a:rPr>
              <a:t>Sample Records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7543800" cy="1737360"/>
        </p:xfrm>
        <a:graphic>
          <a:graphicData uri="http://schemas.openxmlformats.org/drawingml/2006/table">
            <a:tbl>
              <a:tblPr/>
              <a:tblGrid>
                <a:gridCol w="15544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289560">
                <a:tc>
                  <a:txBody>
                    <a:bodyPr/>
                    <a:lstStyle/>
                    <a:p>
                      <a:pPr marL="0" indent="0" algn="ctr">
                        <a:buNone/>
                      </a:pPr>
                      <a:r>
                        <a:rPr lang="en-US" sz="1200" b="1" dirty="0">
                          <a:solidFill>
                            <a:srgbClr val="FFFFFF"/>
                          </a:solidFill>
                        </a:rPr>
                        <a:t>customerID</a:t>
                      </a:r>
                      <a:endParaRPr lang="en-US" sz="12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200" b="1" dirty="0">
                          <a:solidFill>
                            <a:srgbClr val="FFFFFF"/>
                          </a:solidFill>
                        </a:rPr>
                        <a:t>gender</a:t>
                      </a:r>
                      <a:endParaRPr lang="en-US" sz="12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200" b="1" dirty="0">
                          <a:solidFill>
                            <a:srgbClr val="FFFFFF"/>
                          </a:solidFill>
                        </a:rPr>
                        <a:t>tenure</a:t>
                      </a:r>
                      <a:endParaRPr lang="en-US" sz="12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200" b="1" dirty="0">
                          <a:solidFill>
                            <a:srgbClr val="FFFFFF"/>
                          </a:solidFill>
                        </a:rPr>
                        <a:t>Contract</a:t>
                      </a:r>
                      <a:endParaRPr lang="en-US" sz="12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200" b="1" dirty="0">
                          <a:solidFill>
                            <a:srgbClr val="FFFFFF"/>
                          </a:solidFill>
                        </a:rPr>
                        <a:t>MonthlyCharges</a:t>
                      </a:r>
                      <a:endParaRPr lang="en-US" sz="12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200" b="1" dirty="0">
                          <a:solidFill>
                            <a:srgbClr val="FFFFFF"/>
                          </a:solidFill>
                        </a:rPr>
                        <a:t>Churn</a:t>
                      </a:r>
                      <a:endParaRPr lang="en-US" sz="12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289560">
                <a:tc>
                  <a:txBody>
                    <a:bodyPr/>
                    <a:lstStyle/>
                    <a:p>
                      <a:pPr marL="0" indent="0" algn="ctr">
                        <a:buNone/>
                      </a:pPr>
                      <a:r>
                        <a:rPr lang="en-US" sz="1050" dirty="0">
                          <a:solidFill>
                            <a:srgbClr val="2C2C2C"/>
                          </a:solidFill>
                        </a:rPr>
                        <a:t>7590-VHVEG</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Female</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1</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Month-to-month</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29.85</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No</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1"/>
                  </a:ext>
                </a:extLst>
              </a:tr>
              <a:tr h="289560">
                <a:tc>
                  <a:txBody>
                    <a:bodyPr/>
                    <a:lstStyle/>
                    <a:p>
                      <a:pPr marL="0" indent="0" algn="ctr">
                        <a:buNone/>
                      </a:pPr>
                      <a:r>
                        <a:rPr lang="en-US" sz="1050" dirty="0">
                          <a:solidFill>
                            <a:srgbClr val="2C2C2C"/>
                          </a:solidFill>
                        </a:rPr>
                        <a:t>5575-GNVDE</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Male</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34</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One year</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56.95</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No</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2"/>
                  </a:ext>
                </a:extLst>
              </a:tr>
              <a:tr h="289560">
                <a:tc>
                  <a:txBody>
                    <a:bodyPr/>
                    <a:lstStyle/>
                    <a:p>
                      <a:pPr marL="0" indent="0" algn="ctr">
                        <a:buNone/>
                      </a:pPr>
                      <a:r>
                        <a:rPr lang="en-US" sz="1050" dirty="0">
                          <a:solidFill>
                            <a:srgbClr val="2C2C2C"/>
                          </a:solidFill>
                        </a:rPr>
                        <a:t>3668-QPYBK</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Male</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2</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Month-to-month</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53.85</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Yes</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3"/>
                  </a:ext>
                </a:extLst>
              </a:tr>
              <a:tr h="289560">
                <a:tc>
                  <a:txBody>
                    <a:bodyPr/>
                    <a:lstStyle/>
                    <a:p>
                      <a:pPr marL="0" indent="0" algn="ctr">
                        <a:buNone/>
                      </a:pPr>
                      <a:r>
                        <a:rPr lang="en-US" sz="1050" dirty="0">
                          <a:solidFill>
                            <a:srgbClr val="2C2C2C"/>
                          </a:solidFill>
                        </a:rPr>
                        <a:t>7795-CFOCW</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Male</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45</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One year</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42.30</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No</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4"/>
                  </a:ext>
                </a:extLst>
              </a:tr>
              <a:tr h="289560">
                <a:tc>
                  <a:txBody>
                    <a:bodyPr/>
                    <a:lstStyle/>
                    <a:p>
                      <a:pPr marL="0" indent="0" algn="ctr">
                        <a:buNone/>
                      </a:pPr>
                      <a:r>
                        <a:rPr lang="en-US" sz="1050" dirty="0">
                          <a:solidFill>
                            <a:srgbClr val="2C2C2C"/>
                          </a:solidFill>
                        </a:rPr>
                        <a:t>9237-HQITU</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Female</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2</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Month-to-month</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70.70</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50" dirty="0">
                          <a:solidFill>
                            <a:srgbClr val="2C2C2C"/>
                          </a:solidFill>
                        </a:rPr>
                        <a:t>Yes</a:t>
                      </a:r>
                      <a:endParaRPr lang="en-US" sz="105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8" name="Shape 15"/>
          <p:cNvSpPr/>
          <p:nvPr/>
        </p:nvSpPr>
        <p:spPr>
          <a:xfrm>
            <a:off x="8229600" y="1645920"/>
            <a:ext cx="3383280" cy="4434840"/>
          </a:xfrm>
          <a:prstGeom prst="roundRect">
            <a:avLst>
              <a:gd name="adj" fmla="val 2703"/>
            </a:avLst>
          </a:prstGeom>
          <a:solidFill>
            <a:srgbClr val="EAF4FB"/>
          </a:solidFill>
          <a:ln/>
        </p:spPr>
      </p:sp>
      <p:sp>
        <p:nvSpPr>
          <p:cNvPr id="19" name="Text 16"/>
          <p:cNvSpPr/>
          <p:nvPr/>
        </p:nvSpPr>
        <p:spPr>
          <a:xfrm>
            <a:off x="8458200" y="1783080"/>
            <a:ext cx="29260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Feature Groups</a:t>
            </a:r>
            <a:endParaRPr lang="en-US" sz="1400" dirty="0"/>
          </a:p>
        </p:txBody>
      </p:sp>
      <p:sp>
        <p:nvSpPr>
          <p:cNvPr id="20" name="Shape 17"/>
          <p:cNvSpPr/>
          <p:nvPr/>
        </p:nvSpPr>
        <p:spPr>
          <a:xfrm>
            <a:off x="8458200" y="2240280"/>
            <a:ext cx="91440" cy="91440"/>
          </a:xfrm>
          <a:prstGeom prst="ellipse">
            <a:avLst/>
          </a:prstGeom>
          <a:solidFill>
            <a:srgbClr val="0090B0"/>
          </a:solidFill>
          <a:ln/>
        </p:spPr>
      </p:sp>
      <p:sp>
        <p:nvSpPr>
          <p:cNvPr id="21" name="Text 18"/>
          <p:cNvSpPr/>
          <p:nvPr/>
        </p:nvSpPr>
        <p:spPr>
          <a:xfrm>
            <a:off x="8641080" y="2121408"/>
            <a:ext cx="2834640" cy="274320"/>
          </a:xfrm>
          <a:prstGeom prst="rect">
            <a:avLst/>
          </a:prstGeom>
          <a:noFill/>
          <a:ln/>
        </p:spPr>
        <p:txBody>
          <a:bodyPr wrap="square" rtlCol="0" anchor="ctr"/>
          <a:lstStyle/>
          <a:p>
            <a:pPr marL="0" indent="0">
              <a:buNone/>
            </a:pPr>
            <a:r>
              <a:rPr lang="en-US" sz="1200" b="1" dirty="0">
                <a:solidFill>
                  <a:srgbClr val="13315C"/>
                </a:solidFill>
                <a:latin typeface="Calibri" pitchFamily="34" charset="0"/>
                <a:ea typeface="Calibri" pitchFamily="34" charset="-122"/>
                <a:cs typeface="Calibri" pitchFamily="34" charset="-120"/>
              </a:rPr>
              <a:t>Demographics</a:t>
            </a:r>
            <a:endParaRPr lang="en-US" sz="1200" dirty="0"/>
          </a:p>
        </p:txBody>
      </p:sp>
      <p:sp>
        <p:nvSpPr>
          <p:cNvPr id="22" name="Text 19"/>
          <p:cNvSpPr/>
          <p:nvPr/>
        </p:nvSpPr>
        <p:spPr>
          <a:xfrm>
            <a:off x="8641080" y="2395728"/>
            <a:ext cx="2880360" cy="502920"/>
          </a:xfrm>
          <a:prstGeom prst="rect">
            <a:avLst/>
          </a:prstGeom>
          <a:noFill/>
          <a:ln/>
        </p:spPr>
        <p:txBody>
          <a:bodyPr wrap="square" rtlCol="0" anchor="ctr"/>
          <a:lstStyle/>
          <a:p>
            <a:pPr marL="0" indent="0">
              <a:lnSpc>
                <a:spcPct val="110000"/>
              </a:lnSpc>
              <a:buNone/>
            </a:pPr>
            <a:r>
              <a:rPr lang="en-US" sz="1000" dirty="0">
                <a:solidFill>
                  <a:srgbClr val="3B3B3B"/>
                </a:solidFill>
                <a:latin typeface="Calibri" pitchFamily="34" charset="0"/>
                <a:ea typeface="Calibri" pitchFamily="34" charset="-122"/>
                <a:cs typeface="Calibri" pitchFamily="34" charset="-120"/>
              </a:rPr>
              <a:t>gender, SeniorCitizen, Partner, Dependents</a:t>
            </a:r>
            <a:endParaRPr lang="en-US" sz="1000" dirty="0"/>
          </a:p>
        </p:txBody>
      </p:sp>
      <p:sp>
        <p:nvSpPr>
          <p:cNvPr id="23" name="Shape 20"/>
          <p:cNvSpPr/>
          <p:nvPr/>
        </p:nvSpPr>
        <p:spPr>
          <a:xfrm>
            <a:off x="8458200" y="2999232"/>
            <a:ext cx="91440" cy="91440"/>
          </a:xfrm>
          <a:prstGeom prst="ellipse">
            <a:avLst/>
          </a:prstGeom>
          <a:solidFill>
            <a:srgbClr val="0090B0"/>
          </a:solidFill>
          <a:ln/>
        </p:spPr>
      </p:sp>
      <p:sp>
        <p:nvSpPr>
          <p:cNvPr id="24" name="Text 21"/>
          <p:cNvSpPr/>
          <p:nvPr/>
        </p:nvSpPr>
        <p:spPr>
          <a:xfrm>
            <a:off x="8641080" y="2880360"/>
            <a:ext cx="2834640" cy="274320"/>
          </a:xfrm>
          <a:prstGeom prst="rect">
            <a:avLst/>
          </a:prstGeom>
          <a:noFill/>
          <a:ln/>
        </p:spPr>
        <p:txBody>
          <a:bodyPr wrap="square" rtlCol="0" anchor="ctr"/>
          <a:lstStyle/>
          <a:p>
            <a:pPr marL="0" indent="0">
              <a:buNone/>
            </a:pPr>
            <a:r>
              <a:rPr lang="en-US" sz="1200" b="1" dirty="0">
                <a:solidFill>
                  <a:srgbClr val="13315C"/>
                </a:solidFill>
                <a:latin typeface="Calibri" pitchFamily="34" charset="0"/>
                <a:ea typeface="Calibri" pitchFamily="34" charset="-122"/>
                <a:cs typeface="Calibri" pitchFamily="34" charset="-120"/>
              </a:rPr>
              <a:t>Account Info</a:t>
            </a:r>
            <a:endParaRPr lang="en-US" sz="1200" dirty="0"/>
          </a:p>
        </p:txBody>
      </p:sp>
      <p:sp>
        <p:nvSpPr>
          <p:cNvPr id="25" name="Text 22"/>
          <p:cNvSpPr/>
          <p:nvPr/>
        </p:nvSpPr>
        <p:spPr>
          <a:xfrm>
            <a:off x="8641080" y="3154680"/>
            <a:ext cx="2880360" cy="502920"/>
          </a:xfrm>
          <a:prstGeom prst="rect">
            <a:avLst/>
          </a:prstGeom>
          <a:noFill/>
          <a:ln/>
        </p:spPr>
        <p:txBody>
          <a:bodyPr wrap="square" rtlCol="0" anchor="ctr"/>
          <a:lstStyle/>
          <a:p>
            <a:pPr marL="0" indent="0">
              <a:lnSpc>
                <a:spcPct val="110000"/>
              </a:lnSpc>
              <a:buNone/>
            </a:pPr>
            <a:r>
              <a:rPr lang="en-US" sz="1000" dirty="0">
                <a:solidFill>
                  <a:srgbClr val="3B3B3B"/>
                </a:solidFill>
                <a:latin typeface="Calibri" pitchFamily="34" charset="0"/>
                <a:ea typeface="Calibri" pitchFamily="34" charset="-122"/>
                <a:cs typeface="Calibri" pitchFamily="34" charset="-120"/>
              </a:rPr>
              <a:t>tenure, Contract, PaperlessBilling, PaymentMethod</a:t>
            </a:r>
            <a:endParaRPr lang="en-US" sz="1000" dirty="0"/>
          </a:p>
        </p:txBody>
      </p:sp>
      <p:sp>
        <p:nvSpPr>
          <p:cNvPr id="26" name="Shape 23"/>
          <p:cNvSpPr/>
          <p:nvPr/>
        </p:nvSpPr>
        <p:spPr>
          <a:xfrm>
            <a:off x="8458200" y="3758184"/>
            <a:ext cx="91440" cy="91440"/>
          </a:xfrm>
          <a:prstGeom prst="ellipse">
            <a:avLst/>
          </a:prstGeom>
          <a:solidFill>
            <a:srgbClr val="0090B0"/>
          </a:solidFill>
          <a:ln/>
        </p:spPr>
      </p:sp>
      <p:sp>
        <p:nvSpPr>
          <p:cNvPr id="27" name="Text 24"/>
          <p:cNvSpPr/>
          <p:nvPr/>
        </p:nvSpPr>
        <p:spPr>
          <a:xfrm>
            <a:off x="8641080" y="3639312"/>
            <a:ext cx="2834640" cy="274320"/>
          </a:xfrm>
          <a:prstGeom prst="rect">
            <a:avLst/>
          </a:prstGeom>
          <a:noFill/>
          <a:ln/>
        </p:spPr>
        <p:txBody>
          <a:bodyPr wrap="square" rtlCol="0" anchor="ctr"/>
          <a:lstStyle/>
          <a:p>
            <a:pPr marL="0" indent="0">
              <a:buNone/>
            </a:pPr>
            <a:r>
              <a:rPr lang="en-US" sz="1200" b="1" dirty="0">
                <a:solidFill>
                  <a:srgbClr val="13315C"/>
                </a:solidFill>
                <a:latin typeface="Calibri" pitchFamily="34" charset="0"/>
                <a:ea typeface="Calibri" pitchFamily="34" charset="-122"/>
                <a:cs typeface="Calibri" pitchFamily="34" charset="-120"/>
              </a:rPr>
              <a:t>Services</a:t>
            </a:r>
            <a:endParaRPr lang="en-US" sz="1200" dirty="0"/>
          </a:p>
        </p:txBody>
      </p:sp>
      <p:sp>
        <p:nvSpPr>
          <p:cNvPr id="28" name="Text 25"/>
          <p:cNvSpPr/>
          <p:nvPr/>
        </p:nvSpPr>
        <p:spPr>
          <a:xfrm>
            <a:off x="8641080" y="3913632"/>
            <a:ext cx="2880360" cy="502920"/>
          </a:xfrm>
          <a:prstGeom prst="rect">
            <a:avLst/>
          </a:prstGeom>
          <a:noFill/>
          <a:ln/>
        </p:spPr>
        <p:txBody>
          <a:bodyPr wrap="square" rtlCol="0" anchor="ctr"/>
          <a:lstStyle/>
          <a:p>
            <a:pPr marL="0" indent="0">
              <a:lnSpc>
                <a:spcPct val="110000"/>
              </a:lnSpc>
              <a:buNone/>
            </a:pPr>
            <a:r>
              <a:rPr lang="en-US" sz="1000" dirty="0">
                <a:solidFill>
                  <a:srgbClr val="3B3B3B"/>
                </a:solidFill>
                <a:latin typeface="Calibri" pitchFamily="34" charset="0"/>
                <a:ea typeface="Calibri" pitchFamily="34" charset="-122"/>
                <a:cs typeface="Calibri" pitchFamily="34" charset="-120"/>
              </a:rPr>
              <a:t>PhoneService, InternetService, OnlineSecurity, TechSupport, Streaming...</a:t>
            </a:r>
            <a:endParaRPr lang="en-US" sz="1000" dirty="0"/>
          </a:p>
        </p:txBody>
      </p:sp>
      <p:sp>
        <p:nvSpPr>
          <p:cNvPr id="29" name="Shape 26"/>
          <p:cNvSpPr/>
          <p:nvPr/>
        </p:nvSpPr>
        <p:spPr>
          <a:xfrm>
            <a:off x="8458200" y="4517136"/>
            <a:ext cx="91440" cy="91440"/>
          </a:xfrm>
          <a:prstGeom prst="ellipse">
            <a:avLst/>
          </a:prstGeom>
          <a:solidFill>
            <a:srgbClr val="0090B0"/>
          </a:solidFill>
          <a:ln/>
        </p:spPr>
      </p:sp>
      <p:sp>
        <p:nvSpPr>
          <p:cNvPr id="30" name="Text 27"/>
          <p:cNvSpPr/>
          <p:nvPr/>
        </p:nvSpPr>
        <p:spPr>
          <a:xfrm>
            <a:off x="8641080" y="4398264"/>
            <a:ext cx="2834640" cy="274320"/>
          </a:xfrm>
          <a:prstGeom prst="rect">
            <a:avLst/>
          </a:prstGeom>
          <a:noFill/>
          <a:ln/>
        </p:spPr>
        <p:txBody>
          <a:bodyPr wrap="square" rtlCol="0" anchor="ctr"/>
          <a:lstStyle/>
          <a:p>
            <a:pPr marL="0" indent="0">
              <a:buNone/>
            </a:pPr>
            <a:r>
              <a:rPr lang="en-US" sz="1200" b="1" dirty="0">
                <a:solidFill>
                  <a:srgbClr val="13315C"/>
                </a:solidFill>
                <a:latin typeface="Calibri" pitchFamily="34" charset="0"/>
                <a:ea typeface="Calibri" pitchFamily="34" charset="-122"/>
                <a:cs typeface="Calibri" pitchFamily="34" charset="-120"/>
              </a:rPr>
              <a:t>Billing</a:t>
            </a:r>
            <a:endParaRPr lang="en-US" sz="1200" dirty="0"/>
          </a:p>
        </p:txBody>
      </p:sp>
      <p:sp>
        <p:nvSpPr>
          <p:cNvPr id="31" name="Text 28"/>
          <p:cNvSpPr/>
          <p:nvPr/>
        </p:nvSpPr>
        <p:spPr>
          <a:xfrm>
            <a:off x="8641080" y="4672584"/>
            <a:ext cx="2880360" cy="502920"/>
          </a:xfrm>
          <a:prstGeom prst="rect">
            <a:avLst/>
          </a:prstGeom>
          <a:noFill/>
          <a:ln/>
        </p:spPr>
        <p:txBody>
          <a:bodyPr wrap="square" rtlCol="0" anchor="ctr"/>
          <a:lstStyle/>
          <a:p>
            <a:pPr marL="0" indent="0">
              <a:lnSpc>
                <a:spcPct val="110000"/>
              </a:lnSpc>
              <a:buNone/>
            </a:pPr>
            <a:r>
              <a:rPr lang="en-US" sz="1000" dirty="0">
                <a:solidFill>
                  <a:srgbClr val="3B3B3B"/>
                </a:solidFill>
                <a:latin typeface="Calibri" pitchFamily="34" charset="0"/>
                <a:ea typeface="Calibri" pitchFamily="34" charset="-122"/>
                <a:cs typeface="Calibri" pitchFamily="34" charset="-120"/>
              </a:rPr>
              <a:t>MonthlyCharges, TotalCharges</a:t>
            </a:r>
            <a:endParaRPr lang="en-US" sz="1000" dirty="0"/>
          </a:p>
        </p:txBody>
      </p:sp>
      <p:sp>
        <p:nvSpPr>
          <p:cNvPr id="32" name="Shape 29"/>
          <p:cNvSpPr/>
          <p:nvPr/>
        </p:nvSpPr>
        <p:spPr>
          <a:xfrm>
            <a:off x="8458200" y="5276088"/>
            <a:ext cx="91440" cy="91440"/>
          </a:xfrm>
          <a:prstGeom prst="ellipse">
            <a:avLst/>
          </a:prstGeom>
          <a:solidFill>
            <a:srgbClr val="0090B0"/>
          </a:solidFill>
          <a:ln/>
        </p:spPr>
      </p:sp>
      <p:sp>
        <p:nvSpPr>
          <p:cNvPr id="33" name="Text 30"/>
          <p:cNvSpPr/>
          <p:nvPr/>
        </p:nvSpPr>
        <p:spPr>
          <a:xfrm>
            <a:off x="8641080" y="5157216"/>
            <a:ext cx="2834640" cy="274320"/>
          </a:xfrm>
          <a:prstGeom prst="rect">
            <a:avLst/>
          </a:prstGeom>
          <a:noFill/>
          <a:ln/>
        </p:spPr>
        <p:txBody>
          <a:bodyPr wrap="square" rtlCol="0" anchor="ctr"/>
          <a:lstStyle/>
          <a:p>
            <a:pPr marL="0" indent="0">
              <a:buNone/>
            </a:pPr>
            <a:r>
              <a:rPr lang="en-US" sz="1200" b="1" dirty="0">
                <a:solidFill>
                  <a:srgbClr val="13315C"/>
                </a:solidFill>
                <a:latin typeface="Calibri" pitchFamily="34" charset="0"/>
                <a:ea typeface="Calibri" pitchFamily="34" charset="-122"/>
                <a:cs typeface="Calibri" pitchFamily="34" charset="-120"/>
              </a:rPr>
              <a:t>Target</a:t>
            </a:r>
            <a:endParaRPr lang="en-US" sz="1200" dirty="0"/>
          </a:p>
        </p:txBody>
      </p:sp>
      <p:sp>
        <p:nvSpPr>
          <p:cNvPr id="34" name="Text 31"/>
          <p:cNvSpPr/>
          <p:nvPr/>
        </p:nvSpPr>
        <p:spPr>
          <a:xfrm>
            <a:off x="8641080" y="5431536"/>
            <a:ext cx="2880360" cy="502920"/>
          </a:xfrm>
          <a:prstGeom prst="rect">
            <a:avLst/>
          </a:prstGeom>
          <a:noFill/>
          <a:ln/>
        </p:spPr>
        <p:txBody>
          <a:bodyPr wrap="square" rtlCol="0" anchor="ctr"/>
          <a:lstStyle/>
          <a:p>
            <a:pPr marL="0" indent="0">
              <a:lnSpc>
                <a:spcPct val="110000"/>
              </a:lnSpc>
              <a:buNone/>
            </a:pPr>
            <a:r>
              <a:rPr lang="en-US" sz="1000" dirty="0">
                <a:solidFill>
                  <a:srgbClr val="3B3B3B"/>
                </a:solidFill>
                <a:latin typeface="Calibri" pitchFamily="34" charset="0"/>
                <a:ea typeface="Calibri" pitchFamily="34" charset="-122"/>
                <a:cs typeface="Calibri" pitchFamily="34" charset="-120"/>
              </a:rPr>
              <a:t>Churn (Yes / No)</a:t>
            </a:r>
            <a:endParaRPr lang="en-US" sz="1000" dirty="0"/>
          </a:p>
        </p:txBody>
      </p:sp>
      <p:sp>
        <p:nvSpPr>
          <p:cNvPr id="35" name="Text 3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DATA PREPROCESSING</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Preparing the Data for Modelling</a:t>
            </a:r>
            <a:endParaRPr lang="en-US" sz="3000" dirty="0"/>
          </a:p>
        </p:txBody>
      </p:sp>
      <p:sp>
        <p:nvSpPr>
          <p:cNvPr id="4" name="Shape 2"/>
          <p:cNvSpPr/>
          <p:nvPr/>
        </p:nvSpPr>
        <p:spPr>
          <a:xfrm>
            <a:off x="653796" y="1828800"/>
            <a:ext cx="1920240" cy="1417320"/>
          </a:xfrm>
          <a:prstGeom prst="roundRect">
            <a:avLst>
              <a:gd name="adj" fmla="val 5806"/>
            </a:avLst>
          </a:prstGeom>
          <a:solidFill>
            <a:srgbClr val="EAF4FB"/>
          </a:solidFill>
          <a:ln/>
        </p:spPr>
      </p:sp>
      <p:sp>
        <p:nvSpPr>
          <p:cNvPr id="5" name="Shape 3"/>
          <p:cNvSpPr/>
          <p:nvPr/>
        </p:nvSpPr>
        <p:spPr>
          <a:xfrm>
            <a:off x="1339596" y="1993392"/>
            <a:ext cx="548640" cy="548640"/>
          </a:xfrm>
          <a:prstGeom prst="ellipse">
            <a:avLst/>
          </a:prstGeom>
          <a:solidFill>
            <a:srgbClr val="0B2545"/>
          </a:solidFill>
          <a:ln/>
        </p:spPr>
      </p:sp>
      <p:pic>
        <p:nvPicPr>
          <p:cNvPr id="6" name="Image 0" descr="/home/claude/churn_ppt/icons/userSlash_white.png"/>
          <p:cNvPicPr>
            <a:picLocks noChangeAspect="1"/>
          </p:cNvPicPr>
          <p:nvPr/>
        </p:nvPicPr>
        <p:blipFill>
          <a:blip r:embed="rId3"/>
          <a:stretch>
            <a:fillRect/>
          </a:stretch>
        </p:blipFill>
        <p:spPr>
          <a:xfrm>
            <a:off x="1421892" y="2075688"/>
            <a:ext cx="384048" cy="384048"/>
          </a:xfrm>
          <a:prstGeom prst="rect">
            <a:avLst/>
          </a:prstGeom>
        </p:spPr>
      </p:pic>
      <p:sp>
        <p:nvSpPr>
          <p:cNvPr id="7" name="Text 4"/>
          <p:cNvSpPr/>
          <p:nvPr/>
        </p:nvSpPr>
        <p:spPr>
          <a:xfrm>
            <a:off x="745236" y="2606040"/>
            <a:ext cx="1737360" cy="594360"/>
          </a:xfrm>
          <a:prstGeom prst="rect">
            <a:avLst/>
          </a:prstGeom>
          <a:noFill/>
          <a:ln/>
        </p:spPr>
        <p:txBody>
          <a:bodyPr wrap="square" rtlCol="0" anchor="ctr"/>
          <a:lstStyle/>
          <a:p>
            <a:pPr marL="0" indent="0" algn="ctr">
              <a:lnSpc>
                <a:spcPct val="105000"/>
              </a:lnSpc>
              <a:buNone/>
            </a:pPr>
            <a:r>
              <a:rPr lang="en-US" sz="1050" b="1" dirty="0">
                <a:solidFill>
                  <a:srgbClr val="0B2545"/>
                </a:solidFill>
                <a:latin typeface="Calibri" pitchFamily="34" charset="0"/>
                <a:ea typeface="Calibri" pitchFamily="34" charset="-122"/>
                <a:cs typeface="Calibri" pitchFamily="34" charset="-120"/>
              </a:rPr>
              <a:t>Remove customerID</a:t>
            </a:r>
            <a:endParaRPr lang="en-US" sz="1050" dirty="0"/>
          </a:p>
        </p:txBody>
      </p:sp>
      <p:sp>
        <p:nvSpPr>
          <p:cNvPr id="8" name="Text 5"/>
          <p:cNvSpPr/>
          <p:nvPr/>
        </p:nvSpPr>
        <p:spPr>
          <a:xfrm>
            <a:off x="2574036" y="2286000"/>
            <a:ext cx="320040" cy="457200"/>
          </a:xfrm>
          <a:prstGeom prst="rect">
            <a:avLst/>
          </a:prstGeom>
          <a:noFill/>
          <a:ln/>
        </p:spPr>
        <p:txBody>
          <a:bodyPr wrap="square" rtlCol="0" anchor="ctr"/>
          <a:lstStyle/>
          <a:p>
            <a:pPr marL="0" indent="0" algn="ctr">
              <a:buNone/>
            </a:pPr>
            <a:r>
              <a:rPr lang="en-US" sz="2000" b="1" dirty="0">
                <a:solidFill>
                  <a:srgbClr val="0090B0"/>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894076" y="1828800"/>
            <a:ext cx="1920240" cy="1417320"/>
          </a:xfrm>
          <a:prstGeom prst="roundRect">
            <a:avLst>
              <a:gd name="adj" fmla="val 5806"/>
            </a:avLst>
          </a:prstGeom>
          <a:solidFill>
            <a:srgbClr val="EAF4FB"/>
          </a:solidFill>
          <a:ln/>
        </p:spPr>
      </p:sp>
      <p:sp>
        <p:nvSpPr>
          <p:cNvPr id="10" name="Shape 7"/>
          <p:cNvSpPr/>
          <p:nvPr/>
        </p:nvSpPr>
        <p:spPr>
          <a:xfrm>
            <a:off x="3579876" y="1993392"/>
            <a:ext cx="548640" cy="548640"/>
          </a:xfrm>
          <a:prstGeom prst="ellipse">
            <a:avLst/>
          </a:prstGeom>
          <a:solidFill>
            <a:srgbClr val="0B2545"/>
          </a:solidFill>
          <a:ln/>
        </p:spPr>
      </p:sp>
      <p:pic>
        <p:nvPicPr>
          <p:cNvPr id="11" name="Image 1" descr="/home/claude/churn_ppt/icons/cogs_white.png"/>
          <p:cNvPicPr>
            <a:picLocks noChangeAspect="1"/>
          </p:cNvPicPr>
          <p:nvPr/>
        </p:nvPicPr>
        <p:blipFill>
          <a:blip r:embed="rId4"/>
          <a:stretch>
            <a:fillRect/>
          </a:stretch>
        </p:blipFill>
        <p:spPr>
          <a:xfrm>
            <a:off x="3662172" y="2075688"/>
            <a:ext cx="384048" cy="384048"/>
          </a:xfrm>
          <a:prstGeom prst="rect">
            <a:avLst/>
          </a:prstGeom>
        </p:spPr>
      </p:pic>
      <p:sp>
        <p:nvSpPr>
          <p:cNvPr id="12" name="Text 8"/>
          <p:cNvSpPr/>
          <p:nvPr/>
        </p:nvSpPr>
        <p:spPr>
          <a:xfrm>
            <a:off x="2985516" y="2606040"/>
            <a:ext cx="1737360" cy="594360"/>
          </a:xfrm>
          <a:prstGeom prst="rect">
            <a:avLst/>
          </a:prstGeom>
          <a:noFill/>
          <a:ln/>
        </p:spPr>
        <p:txBody>
          <a:bodyPr wrap="square" rtlCol="0" anchor="ctr"/>
          <a:lstStyle/>
          <a:p>
            <a:pPr marL="0" indent="0" algn="ctr">
              <a:lnSpc>
                <a:spcPct val="105000"/>
              </a:lnSpc>
              <a:buNone/>
            </a:pPr>
            <a:r>
              <a:rPr lang="en-US" sz="1050" b="1" dirty="0">
                <a:solidFill>
                  <a:srgbClr val="0B2545"/>
                </a:solidFill>
                <a:latin typeface="Calibri" pitchFamily="34" charset="0"/>
                <a:ea typeface="Calibri" pitchFamily="34" charset="-122"/>
                <a:cs typeface="Calibri" pitchFamily="34" charset="-120"/>
              </a:rPr>
              <a:t>Fix TotalCharges</a:t>
            </a:r>
            <a:endParaRPr lang="en-US" sz="1050" dirty="0"/>
          </a:p>
        </p:txBody>
      </p:sp>
      <p:sp>
        <p:nvSpPr>
          <p:cNvPr id="13" name="Text 9"/>
          <p:cNvSpPr/>
          <p:nvPr/>
        </p:nvSpPr>
        <p:spPr>
          <a:xfrm>
            <a:off x="4814316" y="2286000"/>
            <a:ext cx="320040" cy="457200"/>
          </a:xfrm>
          <a:prstGeom prst="rect">
            <a:avLst/>
          </a:prstGeom>
          <a:noFill/>
          <a:ln/>
        </p:spPr>
        <p:txBody>
          <a:bodyPr wrap="square" rtlCol="0" anchor="ctr"/>
          <a:lstStyle/>
          <a:p>
            <a:pPr marL="0" indent="0" algn="ctr">
              <a:buNone/>
            </a:pPr>
            <a:r>
              <a:rPr lang="en-US" sz="2000" b="1" dirty="0">
                <a:solidFill>
                  <a:srgbClr val="0090B0"/>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5134356" y="1828800"/>
            <a:ext cx="1920240" cy="1417320"/>
          </a:xfrm>
          <a:prstGeom prst="roundRect">
            <a:avLst>
              <a:gd name="adj" fmla="val 5806"/>
            </a:avLst>
          </a:prstGeom>
          <a:solidFill>
            <a:srgbClr val="EAF4FB"/>
          </a:solidFill>
          <a:ln/>
        </p:spPr>
      </p:sp>
      <p:sp>
        <p:nvSpPr>
          <p:cNvPr id="15" name="Shape 11"/>
          <p:cNvSpPr/>
          <p:nvPr/>
        </p:nvSpPr>
        <p:spPr>
          <a:xfrm>
            <a:off x="5820156" y="1993392"/>
            <a:ext cx="548640" cy="548640"/>
          </a:xfrm>
          <a:prstGeom prst="ellipse">
            <a:avLst/>
          </a:prstGeom>
          <a:solidFill>
            <a:srgbClr val="0B2545"/>
          </a:solidFill>
          <a:ln/>
        </p:spPr>
      </p:sp>
      <p:pic>
        <p:nvPicPr>
          <p:cNvPr id="16" name="Image 2" descr="/home/claude/churn_ppt/icons/filter_white.png"/>
          <p:cNvPicPr>
            <a:picLocks noChangeAspect="1"/>
          </p:cNvPicPr>
          <p:nvPr/>
        </p:nvPicPr>
        <p:blipFill>
          <a:blip r:embed="rId5"/>
          <a:stretch>
            <a:fillRect/>
          </a:stretch>
        </p:blipFill>
        <p:spPr>
          <a:xfrm>
            <a:off x="5902452" y="2075688"/>
            <a:ext cx="384048" cy="384048"/>
          </a:xfrm>
          <a:prstGeom prst="rect">
            <a:avLst/>
          </a:prstGeom>
        </p:spPr>
      </p:pic>
      <p:sp>
        <p:nvSpPr>
          <p:cNvPr id="17" name="Text 12"/>
          <p:cNvSpPr/>
          <p:nvPr/>
        </p:nvSpPr>
        <p:spPr>
          <a:xfrm>
            <a:off x="5225796" y="2606040"/>
            <a:ext cx="1737360" cy="594360"/>
          </a:xfrm>
          <a:prstGeom prst="rect">
            <a:avLst/>
          </a:prstGeom>
          <a:noFill/>
          <a:ln/>
        </p:spPr>
        <p:txBody>
          <a:bodyPr wrap="square" rtlCol="0" anchor="ctr"/>
          <a:lstStyle/>
          <a:p>
            <a:pPr marL="0" indent="0" algn="ctr">
              <a:lnSpc>
                <a:spcPct val="105000"/>
              </a:lnSpc>
              <a:buNone/>
            </a:pPr>
            <a:r>
              <a:rPr lang="en-US" sz="1050" b="1" dirty="0">
                <a:solidFill>
                  <a:srgbClr val="0B2545"/>
                </a:solidFill>
                <a:latin typeface="Calibri" pitchFamily="34" charset="0"/>
                <a:ea typeface="Calibri" pitchFamily="34" charset="-122"/>
                <a:cs typeface="Calibri" pitchFamily="34" charset="-120"/>
              </a:rPr>
              <a:t>Handle Missing Values</a:t>
            </a:r>
            <a:endParaRPr lang="en-US" sz="1050" dirty="0"/>
          </a:p>
        </p:txBody>
      </p:sp>
      <p:sp>
        <p:nvSpPr>
          <p:cNvPr id="18" name="Text 13"/>
          <p:cNvSpPr/>
          <p:nvPr/>
        </p:nvSpPr>
        <p:spPr>
          <a:xfrm>
            <a:off x="7054596" y="2286000"/>
            <a:ext cx="320040" cy="457200"/>
          </a:xfrm>
          <a:prstGeom prst="rect">
            <a:avLst/>
          </a:prstGeom>
          <a:noFill/>
          <a:ln/>
        </p:spPr>
        <p:txBody>
          <a:bodyPr wrap="square" rtlCol="0" anchor="ctr"/>
          <a:lstStyle/>
          <a:p>
            <a:pPr marL="0" indent="0" algn="ctr">
              <a:buNone/>
            </a:pPr>
            <a:r>
              <a:rPr lang="en-US" sz="2000" b="1" dirty="0">
                <a:solidFill>
                  <a:srgbClr val="0090B0"/>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7374636" y="1828800"/>
            <a:ext cx="1920240" cy="1417320"/>
          </a:xfrm>
          <a:prstGeom prst="roundRect">
            <a:avLst>
              <a:gd name="adj" fmla="val 5806"/>
            </a:avLst>
          </a:prstGeom>
          <a:solidFill>
            <a:srgbClr val="EAF4FB"/>
          </a:solidFill>
          <a:ln/>
        </p:spPr>
      </p:sp>
      <p:sp>
        <p:nvSpPr>
          <p:cNvPr id="20" name="Shape 15"/>
          <p:cNvSpPr/>
          <p:nvPr/>
        </p:nvSpPr>
        <p:spPr>
          <a:xfrm>
            <a:off x="8060436" y="1993392"/>
            <a:ext cx="548640" cy="548640"/>
          </a:xfrm>
          <a:prstGeom prst="ellipse">
            <a:avLst/>
          </a:prstGeom>
          <a:solidFill>
            <a:srgbClr val="0B2545"/>
          </a:solidFill>
          <a:ln/>
        </p:spPr>
      </p:sp>
      <p:pic>
        <p:nvPicPr>
          <p:cNvPr id="21" name="Image 3" descr="/home/claude/churn_ppt/icons/layer_white.png"/>
          <p:cNvPicPr>
            <a:picLocks noChangeAspect="1"/>
          </p:cNvPicPr>
          <p:nvPr/>
        </p:nvPicPr>
        <p:blipFill>
          <a:blip r:embed="rId6"/>
          <a:stretch>
            <a:fillRect/>
          </a:stretch>
        </p:blipFill>
        <p:spPr>
          <a:xfrm>
            <a:off x="8142732" y="2075688"/>
            <a:ext cx="384048" cy="384048"/>
          </a:xfrm>
          <a:prstGeom prst="rect">
            <a:avLst/>
          </a:prstGeom>
        </p:spPr>
      </p:pic>
      <p:sp>
        <p:nvSpPr>
          <p:cNvPr id="22" name="Text 16"/>
          <p:cNvSpPr/>
          <p:nvPr/>
        </p:nvSpPr>
        <p:spPr>
          <a:xfrm>
            <a:off x="7466076" y="2606040"/>
            <a:ext cx="1737360" cy="594360"/>
          </a:xfrm>
          <a:prstGeom prst="rect">
            <a:avLst/>
          </a:prstGeom>
          <a:noFill/>
          <a:ln/>
        </p:spPr>
        <p:txBody>
          <a:bodyPr wrap="square" rtlCol="0" anchor="ctr"/>
          <a:lstStyle/>
          <a:p>
            <a:pPr marL="0" indent="0" algn="ctr">
              <a:lnSpc>
                <a:spcPct val="105000"/>
              </a:lnSpc>
              <a:buNone/>
            </a:pPr>
            <a:r>
              <a:rPr lang="en-US" sz="1050" b="1" dirty="0">
                <a:solidFill>
                  <a:srgbClr val="0B2545"/>
                </a:solidFill>
                <a:latin typeface="Calibri" pitchFamily="34" charset="0"/>
                <a:ea typeface="Calibri" pitchFamily="34" charset="-122"/>
                <a:cs typeface="Calibri" pitchFamily="34" charset="-120"/>
              </a:rPr>
              <a:t>Encode Categoricals</a:t>
            </a:r>
            <a:endParaRPr lang="en-US" sz="1050" dirty="0"/>
          </a:p>
        </p:txBody>
      </p:sp>
      <p:sp>
        <p:nvSpPr>
          <p:cNvPr id="23" name="Text 17"/>
          <p:cNvSpPr/>
          <p:nvPr/>
        </p:nvSpPr>
        <p:spPr>
          <a:xfrm>
            <a:off x="9294876" y="2286000"/>
            <a:ext cx="320040" cy="457200"/>
          </a:xfrm>
          <a:prstGeom prst="rect">
            <a:avLst/>
          </a:prstGeom>
          <a:noFill/>
          <a:ln/>
        </p:spPr>
        <p:txBody>
          <a:bodyPr wrap="square" rtlCol="0" anchor="ctr"/>
          <a:lstStyle/>
          <a:p>
            <a:pPr marL="0" indent="0" algn="ctr">
              <a:buNone/>
            </a:pPr>
            <a:r>
              <a:rPr lang="en-US" sz="2000" b="1" dirty="0">
                <a:solidFill>
                  <a:srgbClr val="0090B0"/>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9614916" y="1828800"/>
            <a:ext cx="1920240" cy="1417320"/>
          </a:xfrm>
          <a:prstGeom prst="roundRect">
            <a:avLst>
              <a:gd name="adj" fmla="val 5806"/>
            </a:avLst>
          </a:prstGeom>
          <a:solidFill>
            <a:srgbClr val="0B2545"/>
          </a:solidFill>
          <a:ln/>
        </p:spPr>
      </p:sp>
      <p:sp>
        <p:nvSpPr>
          <p:cNvPr id="25" name="Shape 19"/>
          <p:cNvSpPr/>
          <p:nvPr/>
        </p:nvSpPr>
        <p:spPr>
          <a:xfrm>
            <a:off x="10300716" y="1993392"/>
            <a:ext cx="548640" cy="548640"/>
          </a:xfrm>
          <a:prstGeom prst="ellipse">
            <a:avLst/>
          </a:prstGeom>
          <a:solidFill>
            <a:srgbClr val="00B4D8"/>
          </a:solidFill>
          <a:ln/>
        </p:spPr>
      </p:sp>
      <p:pic>
        <p:nvPicPr>
          <p:cNvPr id="26" name="Image 4" descr="/home/claude/churn_ppt/icons/chartBar_navy.png"/>
          <p:cNvPicPr>
            <a:picLocks noChangeAspect="1"/>
          </p:cNvPicPr>
          <p:nvPr/>
        </p:nvPicPr>
        <p:blipFill>
          <a:blip r:embed="rId7"/>
          <a:stretch>
            <a:fillRect/>
          </a:stretch>
        </p:blipFill>
        <p:spPr>
          <a:xfrm>
            <a:off x="10383012" y="2075688"/>
            <a:ext cx="384048" cy="384048"/>
          </a:xfrm>
          <a:prstGeom prst="rect">
            <a:avLst/>
          </a:prstGeom>
        </p:spPr>
      </p:pic>
      <p:sp>
        <p:nvSpPr>
          <p:cNvPr id="27" name="Text 20"/>
          <p:cNvSpPr/>
          <p:nvPr/>
        </p:nvSpPr>
        <p:spPr>
          <a:xfrm>
            <a:off x="9706356" y="2606040"/>
            <a:ext cx="1737360" cy="594360"/>
          </a:xfrm>
          <a:prstGeom prst="rect">
            <a:avLst/>
          </a:prstGeom>
          <a:noFill/>
          <a:ln/>
        </p:spPr>
        <p:txBody>
          <a:bodyPr wrap="square"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Ready for Modelling</a:t>
            </a:r>
            <a:endParaRPr lang="en-US" sz="1050" dirty="0"/>
          </a:p>
        </p:txBody>
      </p:sp>
      <p:sp>
        <p:nvSpPr>
          <p:cNvPr id="28" name="Shape 21"/>
          <p:cNvSpPr/>
          <p:nvPr/>
        </p:nvSpPr>
        <p:spPr>
          <a:xfrm>
            <a:off x="548640" y="3703320"/>
            <a:ext cx="11064240" cy="2286000"/>
          </a:xfrm>
          <a:prstGeom prst="roundRect">
            <a:avLst>
              <a:gd name="adj" fmla="val 4000"/>
            </a:avLst>
          </a:prstGeom>
          <a:solidFill>
            <a:srgbClr val="FFFFFF"/>
          </a:solidFill>
          <a:ln w="12700">
            <a:solidFill>
              <a:srgbClr val="E1EAF2"/>
            </a:solidFill>
            <a:prstDash val="solid"/>
          </a:ln>
        </p:spPr>
      </p:sp>
      <p:sp>
        <p:nvSpPr>
          <p:cNvPr id="29" name="Shape 22"/>
          <p:cNvSpPr/>
          <p:nvPr/>
        </p:nvSpPr>
        <p:spPr>
          <a:xfrm>
            <a:off x="777240" y="4005072"/>
            <a:ext cx="73152" cy="73152"/>
          </a:xfrm>
          <a:prstGeom prst="ellipse">
            <a:avLst/>
          </a:prstGeom>
          <a:solidFill>
            <a:srgbClr val="0090B0"/>
          </a:solidFill>
          <a:ln/>
        </p:spPr>
      </p:sp>
      <p:sp>
        <p:nvSpPr>
          <p:cNvPr id="30" name="Text 23"/>
          <p:cNvSpPr/>
          <p:nvPr/>
        </p:nvSpPr>
        <p:spPr>
          <a:xfrm>
            <a:off x="960120" y="3886200"/>
            <a:ext cx="10424160" cy="457200"/>
          </a:xfrm>
          <a:prstGeom prst="rect">
            <a:avLst/>
          </a:prstGeom>
          <a:noFill/>
          <a:ln/>
        </p:spPr>
        <p:txBody>
          <a:bodyPr wrap="square" rtlCol="0" anchor="ctr"/>
          <a:lstStyle/>
          <a:p>
            <a:pPr marL="0" indent="0">
              <a:lnSpc>
                <a:spcPct val="115000"/>
              </a:lnSpc>
              <a:buNone/>
            </a:pPr>
            <a:r>
              <a:rPr lang="en-US" sz="1250" dirty="0">
                <a:solidFill>
                  <a:srgbClr val="2C2C2C"/>
                </a:solidFill>
                <a:latin typeface="Calibri" pitchFamily="34" charset="0"/>
                <a:ea typeface="Calibri" pitchFamily="34" charset="-122"/>
                <a:cs typeface="Calibri" pitchFamily="34" charset="-120"/>
              </a:rPr>
              <a:t>customerID dropped: a unique string per row, so it carries no signal for a classifier.</a:t>
            </a:r>
            <a:endParaRPr lang="en-US" sz="1250" dirty="0"/>
          </a:p>
        </p:txBody>
      </p:sp>
      <p:sp>
        <p:nvSpPr>
          <p:cNvPr id="31" name="Shape 24"/>
          <p:cNvSpPr/>
          <p:nvPr/>
        </p:nvSpPr>
        <p:spPr>
          <a:xfrm>
            <a:off x="777240" y="4489704"/>
            <a:ext cx="73152" cy="73152"/>
          </a:xfrm>
          <a:prstGeom prst="ellipse">
            <a:avLst/>
          </a:prstGeom>
          <a:solidFill>
            <a:srgbClr val="0090B0"/>
          </a:solidFill>
          <a:ln/>
        </p:spPr>
      </p:sp>
      <p:sp>
        <p:nvSpPr>
          <p:cNvPr id="32" name="Text 25"/>
          <p:cNvSpPr/>
          <p:nvPr/>
        </p:nvSpPr>
        <p:spPr>
          <a:xfrm>
            <a:off x="960120" y="4370832"/>
            <a:ext cx="10424160" cy="457200"/>
          </a:xfrm>
          <a:prstGeom prst="rect">
            <a:avLst/>
          </a:prstGeom>
          <a:noFill/>
          <a:ln/>
        </p:spPr>
        <p:txBody>
          <a:bodyPr wrap="square" rtlCol="0" anchor="ctr"/>
          <a:lstStyle/>
          <a:p>
            <a:pPr marL="0" indent="0">
              <a:lnSpc>
                <a:spcPct val="115000"/>
              </a:lnSpc>
              <a:buNone/>
            </a:pPr>
            <a:r>
              <a:rPr lang="en-US" sz="1250" dirty="0">
                <a:solidFill>
                  <a:srgbClr val="2C2C2C"/>
                </a:solidFill>
                <a:latin typeface="Calibri" pitchFamily="34" charset="0"/>
                <a:ea typeface="Calibri" pitchFamily="34" charset="-122"/>
                <a:cs typeface="Calibri" pitchFamily="34" charset="-120"/>
              </a:rPr>
              <a:t>TotalCharges was stored as text (object dtype); coercing to numeric revealed 11 blank entries, which were removed.</a:t>
            </a:r>
            <a:endParaRPr lang="en-US" sz="1250" dirty="0"/>
          </a:p>
        </p:txBody>
      </p:sp>
      <p:sp>
        <p:nvSpPr>
          <p:cNvPr id="33" name="Shape 26"/>
          <p:cNvSpPr/>
          <p:nvPr/>
        </p:nvSpPr>
        <p:spPr>
          <a:xfrm>
            <a:off x="777240" y="4974336"/>
            <a:ext cx="73152" cy="73152"/>
          </a:xfrm>
          <a:prstGeom prst="ellipse">
            <a:avLst/>
          </a:prstGeom>
          <a:solidFill>
            <a:srgbClr val="0090B0"/>
          </a:solidFill>
          <a:ln/>
        </p:spPr>
      </p:sp>
      <p:sp>
        <p:nvSpPr>
          <p:cNvPr id="34" name="Text 27"/>
          <p:cNvSpPr/>
          <p:nvPr/>
        </p:nvSpPr>
        <p:spPr>
          <a:xfrm>
            <a:off x="960120" y="4855464"/>
            <a:ext cx="10424160" cy="457200"/>
          </a:xfrm>
          <a:prstGeom prst="rect">
            <a:avLst/>
          </a:prstGeom>
          <a:noFill/>
          <a:ln/>
        </p:spPr>
        <p:txBody>
          <a:bodyPr wrap="square" rtlCol="0" anchor="ctr"/>
          <a:lstStyle/>
          <a:p>
            <a:pPr marL="0" indent="0">
              <a:lnSpc>
                <a:spcPct val="115000"/>
              </a:lnSpc>
              <a:buNone/>
            </a:pPr>
            <a:r>
              <a:rPr lang="en-US" sz="1250" dirty="0">
                <a:solidFill>
                  <a:srgbClr val="2C2C2C"/>
                </a:solidFill>
                <a:latin typeface="Calibri" pitchFamily="34" charset="0"/>
                <a:ea typeface="Calibri" pitchFamily="34" charset="-122"/>
                <a:cs typeface="Calibri" pitchFamily="34" charset="-120"/>
              </a:rPr>
              <a:t>No further missing values remained (df.isnull().sum() = 0 across all 20 columns after cleaning).</a:t>
            </a:r>
            <a:endParaRPr lang="en-US" sz="1250" dirty="0"/>
          </a:p>
        </p:txBody>
      </p:sp>
      <p:sp>
        <p:nvSpPr>
          <p:cNvPr id="35" name="Shape 28"/>
          <p:cNvSpPr/>
          <p:nvPr/>
        </p:nvSpPr>
        <p:spPr>
          <a:xfrm>
            <a:off x="777240" y="5458968"/>
            <a:ext cx="73152" cy="73152"/>
          </a:xfrm>
          <a:prstGeom prst="ellipse">
            <a:avLst/>
          </a:prstGeom>
          <a:solidFill>
            <a:srgbClr val="0090B0"/>
          </a:solidFill>
          <a:ln/>
        </p:spPr>
      </p:sp>
      <p:sp>
        <p:nvSpPr>
          <p:cNvPr id="36" name="Text 29"/>
          <p:cNvSpPr/>
          <p:nvPr/>
        </p:nvSpPr>
        <p:spPr>
          <a:xfrm>
            <a:off x="960120" y="5340096"/>
            <a:ext cx="10424160" cy="457200"/>
          </a:xfrm>
          <a:prstGeom prst="rect">
            <a:avLst/>
          </a:prstGeom>
          <a:noFill/>
          <a:ln/>
        </p:spPr>
        <p:txBody>
          <a:bodyPr wrap="square" rtlCol="0" anchor="ctr"/>
          <a:lstStyle/>
          <a:p>
            <a:pPr marL="0" indent="0">
              <a:lnSpc>
                <a:spcPct val="115000"/>
              </a:lnSpc>
              <a:buNone/>
            </a:pPr>
            <a:r>
              <a:rPr lang="en-US" sz="1250" dirty="0">
                <a:solidFill>
                  <a:srgbClr val="2C2C2C"/>
                </a:solidFill>
                <a:latin typeface="Calibri" pitchFamily="34" charset="0"/>
                <a:ea typeface="Calibri" pitchFamily="34" charset="-122"/>
                <a:cs typeface="Calibri" pitchFamily="34" charset="-120"/>
              </a:rPr>
              <a:t>sklearn's LabelEncoder was applied to every categorical column, turning the dataset fully numeric for both correlation analysis and model training.</a:t>
            </a:r>
            <a:endParaRPr lang="en-US" sz="1250" dirty="0"/>
          </a:p>
        </p:txBody>
      </p:sp>
      <p:sp>
        <p:nvSpPr>
          <p:cNvPr id="37" name="Text 30"/>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EXPLORATORY DATA ANALYSIS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Customer Profile at a Glance</a:t>
            </a:r>
            <a:endParaRPr lang="en-US" sz="3000" dirty="0"/>
          </a:p>
        </p:txBody>
      </p:sp>
      <p:sp>
        <p:nvSpPr>
          <p:cNvPr id="4" name="Shape 2"/>
          <p:cNvSpPr/>
          <p:nvPr/>
        </p:nvSpPr>
        <p:spPr>
          <a:xfrm>
            <a:off x="548640" y="1691640"/>
            <a:ext cx="3657600" cy="2331720"/>
          </a:xfrm>
          <a:prstGeom prst="roundRect">
            <a:avLst>
              <a:gd name="adj" fmla="val 3137"/>
            </a:avLst>
          </a:prstGeom>
          <a:solidFill>
            <a:srgbClr val="FFFFFF"/>
          </a:solidFill>
          <a:ln w="12700">
            <a:solidFill>
              <a:srgbClr val="E1EAF2"/>
            </a:solidFill>
            <a:prstDash val="solid"/>
          </a:ln>
        </p:spPr>
      </p:sp>
      <p:sp>
        <p:nvSpPr>
          <p:cNvPr id="5" name="Text 3"/>
          <p:cNvSpPr/>
          <p:nvPr/>
        </p:nvSpPr>
        <p:spPr>
          <a:xfrm>
            <a:off x="685800" y="176479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Churn Distribution</a:t>
            </a:r>
            <a:endParaRPr lang="en-US" sz="1150" dirty="0"/>
          </a:p>
        </p:txBody>
      </p:sp>
      <p:graphicFrame>
        <p:nvGraphicFramePr>
          <p:cNvPr id="6" name="Chart 0"/>
          <p:cNvGraphicFramePr/>
          <p:nvPr/>
        </p:nvGraphicFramePr>
        <p:xfrm>
          <a:off x="640080" y="2075688"/>
          <a:ext cx="347472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4343400" y="1691640"/>
            <a:ext cx="3657600" cy="2331720"/>
          </a:xfrm>
          <a:prstGeom prst="roundRect">
            <a:avLst>
              <a:gd name="adj" fmla="val 3137"/>
            </a:avLst>
          </a:prstGeom>
          <a:solidFill>
            <a:srgbClr val="FFFFFF"/>
          </a:solidFill>
          <a:ln w="12700">
            <a:solidFill>
              <a:srgbClr val="E1EAF2"/>
            </a:solidFill>
            <a:prstDash val="solid"/>
          </a:ln>
        </p:spPr>
      </p:sp>
      <p:sp>
        <p:nvSpPr>
          <p:cNvPr id="8" name="Text 5"/>
          <p:cNvSpPr/>
          <p:nvPr/>
        </p:nvSpPr>
        <p:spPr>
          <a:xfrm>
            <a:off x="4480560" y="176479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Contract Type</a:t>
            </a:r>
            <a:endParaRPr lang="en-US" sz="1150" dirty="0"/>
          </a:p>
        </p:txBody>
      </p:sp>
      <p:graphicFrame>
        <p:nvGraphicFramePr>
          <p:cNvPr id="9" name="Chart 1"/>
          <p:cNvGraphicFramePr/>
          <p:nvPr/>
        </p:nvGraphicFramePr>
        <p:xfrm>
          <a:off x="4434840" y="2075688"/>
          <a:ext cx="347472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8138160" y="1691640"/>
            <a:ext cx="3474720" cy="2331720"/>
          </a:xfrm>
          <a:prstGeom prst="roundRect">
            <a:avLst>
              <a:gd name="adj" fmla="val 3137"/>
            </a:avLst>
          </a:prstGeom>
          <a:solidFill>
            <a:srgbClr val="FFFFFF"/>
          </a:solidFill>
          <a:ln w="12700">
            <a:solidFill>
              <a:srgbClr val="E1EAF2"/>
            </a:solidFill>
            <a:prstDash val="solid"/>
          </a:ln>
        </p:spPr>
      </p:sp>
      <p:sp>
        <p:nvSpPr>
          <p:cNvPr id="11" name="Text 7"/>
          <p:cNvSpPr/>
          <p:nvPr/>
        </p:nvSpPr>
        <p:spPr>
          <a:xfrm>
            <a:off x="8275320" y="1764792"/>
            <a:ext cx="320040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Internet Service</a:t>
            </a:r>
            <a:endParaRPr lang="en-US" sz="1150" dirty="0"/>
          </a:p>
        </p:txBody>
      </p:sp>
      <p:graphicFrame>
        <p:nvGraphicFramePr>
          <p:cNvPr id="12" name="Chart 2"/>
          <p:cNvGraphicFramePr/>
          <p:nvPr/>
        </p:nvGraphicFramePr>
        <p:xfrm>
          <a:off x="8229600" y="2075688"/>
          <a:ext cx="3291840"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13" name="Shape 8"/>
          <p:cNvSpPr/>
          <p:nvPr/>
        </p:nvSpPr>
        <p:spPr>
          <a:xfrm>
            <a:off x="548640" y="4160520"/>
            <a:ext cx="3657600" cy="2331720"/>
          </a:xfrm>
          <a:prstGeom prst="roundRect">
            <a:avLst>
              <a:gd name="adj" fmla="val 3137"/>
            </a:avLst>
          </a:prstGeom>
          <a:solidFill>
            <a:srgbClr val="FFFFFF"/>
          </a:solidFill>
          <a:ln w="12700">
            <a:solidFill>
              <a:srgbClr val="E1EAF2"/>
            </a:solidFill>
            <a:prstDash val="solid"/>
          </a:ln>
        </p:spPr>
      </p:sp>
      <p:sp>
        <p:nvSpPr>
          <p:cNvPr id="14" name="Text 9"/>
          <p:cNvSpPr/>
          <p:nvPr/>
        </p:nvSpPr>
        <p:spPr>
          <a:xfrm>
            <a:off x="685800" y="423367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Gender</a:t>
            </a:r>
            <a:endParaRPr lang="en-US" sz="1150" dirty="0"/>
          </a:p>
        </p:txBody>
      </p:sp>
      <p:graphicFrame>
        <p:nvGraphicFramePr>
          <p:cNvPr id="15" name="Chart 3"/>
          <p:cNvGraphicFramePr/>
          <p:nvPr/>
        </p:nvGraphicFramePr>
        <p:xfrm>
          <a:off x="640080" y="4544568"/>
          <a:ext cx="3474720" cy="1828800"/>
        </p:xfrm>
        <a:graphic>
          <a:graphicData uri="http://schemas.openxmlformats.org/drawingml/2006/chart">
            <c:chart xmlns:c="http://schemas.openxmlformats.org/drawingml/2006/chart" xmlns:r="http://schemas.openxmlformats.org/officeDocument/2006/relationships" r:id="rId6"/>
          </a:graphicData>
        </a:graphic>
      </p:graphicFrame>
      <p:sp>
        <p:nvSpPr>
          <p:cNvPr id="16" name="Shape 10"/>
          <p:cNvSpPr/>
          <p:nvPr/>
        </p:nvSpPr>
        <p:spPr>
          <a:xfrm>
            <a:off x="4343400" y="4160520"/>
            <a:ext cx="3657600" cy="2331720"/>
          </a:xfrm>
          <a:prstGeom prst="roundRect">
            <a:avLst>
              <a:gd name="adj" fmla="val 3137"/>
            </a:avLst>
          </a:prstGeom>
          <a:solidFill>
            <a:srgbClr val="FFFFFF"/>
          </a:solidFill>
          <a:ln w="12700">
            <a:solidFill>
              <a:srgbClr val="E1EAF2"/>
            </a:solidFill>
            <a:prstDash val="solid"/>
          </a:ln>
        </p:spPr>
      </p:sp>
      <p:sp>
        <p:nvSpPr>
          <p:cNvPr id="17" name="Text 11"/>
          <p:cNvSpPr/>
          <p:nvPr/>
        </p:nvSpPr>
        <p:spPr>
          <a:xfrm>
            <a:off x="4480560" y="423367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Senior Citizen</a:t>
            </a:r>
            <a:endParaRPr lang="en-US" sz="1150" dirty="0"/>
          </a:p>
        </p:txBody>
      </p:sp>
      <p:graphicFrame>
        <p:nvGraphicFramePr>
          <p:cNvPr id="18" name="Chart 4"/>
          <p:cNvGraphicFramePr/>
          <p:nvPr/>
        </p:nvGraphicFramePr>
        <p:xfrm>
          <a:off x="4434840" y="4544568"/>
          <a:ext cx="3474720" cy="1828800"/>
        </p:xfrm>
        <a:graphic>
          <a:graphicData uri="http://schemas.openxmlformats.org/drawingml/2006/chart">
            <c:chart xmlns:c="http://schemas.openxmlformats.org/drawingml/2006/chart" xmlns:r="http://schemas.openxmlformats.org/officeDocument/2006/relationships" r:id="rId7"/>
          </a:graphicData>
        </a:graphic>
      </p:graphicFrame>
      <p:sp>
        <p:nvSpPr>
          <p:cNvPr id="19" name="Shape 12"/>
          <p:cNvSpPr/>
          <p:nvPr/>
        </p:nvSpPr>
        <p:spPr>
          <a:xfrm>
            <a:off x="8138160" y="4160520"/>
            <a:ext cx="3474720" cy="2331720"/>
          </a:xfrm>
          <a:prstGeom prst="roundRect">
            <a:avLst>
              <a:gd name="adj" fmla="val 3137"/>
            </a:avLst>
          </a:prstGeom>
          <a:solidFill>
            <a:srgbClr val="FFFFFF"/>
          </a:solidFill>
          <a:ln w="12700">
            <a:solidFill>
              <a:srgbClr val="E1EAF2"/>
            </a:solidFill>
            <a:prstDash val="solid"/>
          </a:ln>
        </p:spPr>
      </p:sp>
      <p:sp>
        <p:nvSpPr>
          <p:cNvPr id="20" name="Text 13"/>
          <p:cNvSpPr/>
          <p:nvPr/>
        </p:nvSpPr>
        <p:spPr>
          <a:xfrm>
            <a:off x="8275320" y="4233672"/>
            <a:ext cx="320040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Payment Method</a:t>
            </a:r>
            <a:endParaRPr lang="en-US" sz="1150" dirty="0"/>
          </a:p>
        </p:txBody>
      </p:sp>
      <p:graphicFrame>
        <p:nvGraphicFramePr>
          <p:cNvPr id="21" name="Chart 5"/>
          <p:cNvGraphicFramePr/>
          <p:nvPr/>
        </p:nvGraphicFramePr>
        <p:xfrm>
          <a:off x="8229600" y="4544568"/>
          <a:ext cx="3291840"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22"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EXPLORATORY DATA ANALYSIS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Services, Billing &amp; Support</a:t>
            </a:r>
            <a:endParaRPr lang="en-US" sz="3000" dirty="0"/>
          </a:p>
        </p:txBody>
      </p:sp>
      <p:sp>
        <p:nvSpPr>
          <p:cNvPr id="4" name="Shape 2"/>
          <p:cNvSpPr/>
          <p:nvPr/>
        </p:nvSpPr>
        <p:spPr>
          <a:xfrm>
            <a:off x="548640" y="1691640"/>
            <a:ext cx="3657600" cy="2331720"/>
          </a:xfrm>
          <a:prstGeom prst="roundRect">
            <a:avLst>
              <a:gd name="adj" fmla="val 3137"/>
            </a:avLst>
          </a:prstGeom>
          <a:solidFill>
            <a:srgbClr val="FFFFFF"/>
          </a:solidFill>
          <a:ln w="12700">
            <a:solidFill>
              <a:srgbClr val="E1EAF2"/>
            </a:solidFill>
            <a:prstDash val="solid"/>
          </a:ln>
        </p:spPr>
      </p:sp>
      <p:sp>
        <p:nvSpPr>
          <p:cNvPr id="5" name="Text 3"/>
          <p:cNvSpPr/>
          <p:nvPr/>
        </p:nvSpPr>
        <p:spPr>
          <a:xfrm>
            <a:off x="685800" y="176479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Online Security</a:t>
            </a:r>
            <a:endParaRPr lang="en-US" sz="1150" dirty="0"/>
          </a:p>
        </p:txBody>
      </p:sp>
      <p:graphicFrame>
        <p:nvGraphicFramePr>
          <p:cNvPr id="6" name="Chart 0"/>
          <p:cNvGraphicFramePr/>
          <p:nvPr/>
        </p:nvGraphicFramePr>
        <p:xfrm>
          <a:off x="640080" y="2075688"/>
          <a:ext cx="347472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4343400" y="1691640"/>
            <a:ext cx="3657600" cy="2331720"/>
          </a:xfrm>
          <a:prstGeom prst="roundRect">
            <a:avLst>
              <a:gd name="adj" fmla="val 3137"/>
            </a:avLst>
          </a:prstGeom>
          <a:solidFill>
            <a:srgbClr val="FFFFFF"/>
          </a:solidFill>
          <a:ln w="12700">
            <a:solidFill>
              <a:srgbClr val="E1EAF2"/>
            </a:solidFill>
            <a:prstDash val="solid"/>
          </a:ln>
        </p:spPr>
      </p:sp>
      <p:sp>
        <p:nvSpPr>
          <p:cNvPr id="8" name="Text 5"/>
          <p:cNvSpPr/>
          <p:nvPr/>
        </p:nvSpPr>
        <p:spPr>
          <a:xfrm>
            <a:off x="4480560" y="176479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Tech Support</a:t>
            </a:r>
            <a:endParaRPr lang="en-US" sz="1150" dirty="0"/>
          </a:p>
        </p:txBody>
      </p:sp>
      <p:graphicFrame>
        <p:nvGraphicFramePr>
          <p:cNvPr id="9" name="Chart 1"/>
          <p:cNvGraphicFramePr/>
          <p:nvPr/>
        </p:nvGraphicFramePr>
        <p:xfrm>
          <a:off x="4434840" y="2075688"/>
          <a:ext cx="347472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8138160" y="1691640"/>
            <a:ext cx="3474720" cy="2331720"/>
          </a:xfrm>
          <a:prstGeom prst="roundRect">
            <a:avLst>
              <a:gd name="adj" fmla="val 3137"/>
            </a:avLst>
          </a:prstGeom>
          <a:solidFill>
            <a:srgbClr val="FFFFFF"/>
          </a:solidFill>
          <a:ln w="12700">
            <a:solidFill>
              <a:srgbClr val="E1EAF2"/>
            </a:solidFill>
            <a:prstDash val="solid"/>
          </a:ln>
        </p:spPr>
      </p:sp>
      <p:sp>
        <p:nvSpPr>
          <p:cNvPr id="11" name="Text 7"/>
          <p:cNvSpPr/>
          <p:nvPr/>
        </p:nvSpPr>
        <p:spPr>
          <a:xfrm>
            <a:off x="8275320" y="1764792"/>
            <a:ext cx="320040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Paperless Billing</a:t>
            </a:r>
            <a:endParaRPr lang="en-US" sz="1150" dirty="0"/>
          </a:p>
        </p:txBody>
      </p:sp>
      <p:graphicFrame>
        <p:nvGraphicFramePr>
          <p:cNvPr id="12" name="Chart 2"/>
          <p:cNvGraphicFramePr/>
          <p:nvPr/>
        </p:nvGraphicFramePr>
        <p:xfrm>
          <a:off x="8229600" y="2075688"/>
          <a:ext cx="3291840" cy="1828800"/>
        </p:xfrm>
        <a:graphic>
          <a:graphicData uri="http://schemas.openxmlformats.org/drawingml/2006/chart">
            <c:chart xmlns:c="http://schemas.openxmlformats.org/drawingml/2006/chart" xmlns:r="http://schemas.openxmlformats.org/officeDocument/2006/relationships" r:id="rId5"/>
          </a:graphicData>
        </a:graphic>
      </p:graphicFrame>
      <p:sp>
        <p:nvSpPr>
          <p:cNvPr id="13" name="Shape 8"/>
          <p:cNvSpPr/>
          <p:nvPr/>
        </p:nvSpPr>
        <p:spPr>
          <a:xfrm>
            <a:off x="548640" y="4160520"/>
            <a:ext cx="3657600" cy="2331720"/>
          </a:xfrm>
          <a:prstGeom prst="roundRect">
            <a:avLst>
              <a:gd name="adj" fmla="val 3137"/>
            </a:avLst>
          </a:prstGeom>
          <a:solidFill>
            <a:srgbClr val="FFFFFF"/>
          </a:solidFill>
          <a:ln w="12700">
            <a:solidFill>
              <a:srgbClr val="E1EAF2"/>
            </a:solidFill>
            <a:prstDash val="solid"/>
          </a:ln>
        </p:spPr>
      </p:sp>
      <p:sp>
        <p:nvSpPr>
          <p:cNvPr id="14" name="Text 9"/>
          <p:cNvSpPr/>
          <p:nvPr/>
        </p:nvSpPr>
        <p:spPr>
          <a:xfrm>
            <a:off x="685800" y="423367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Monthly Charges (₹ bins)</a:t>
            </a:r>
            <a:endParaRPr lang="en-US" sz="1150" dirty="0"/>
          </a:p>
        </p:txBody>
      </p:sp>
      <p:graphicFrame>
        <p:nvGraphicFramePr>
          <p:cNvPr id="15" name="Chart 3"/>
          <p:cNvGraphicFramePr/>
          <p:nvPr/>
        </p:nvGraphicFramePr>
        <p:xfrm>
          <a:off x="640080" y="4544568"/>
          <a:ext cx="3474720" cy="1828800"/>
        </p:xfrm>
        <a:graphic>
          <a:graphicData uri="http://schemas.openxmlformats.org/drawingml/2006/chart">
            <c:chart xmlns:c="http://schemas.openxmlformats.org/drawingml/2006/chart" xmlns:r="http://schemas.openxmlformats.org/officeDocument/2006/relationships" r:id="rId6"/>
          </a:graphicData>
        </a:graphic>
      </p:graphicFrame>
      <p:sp>
        <p:nvSpPr>
          <p:cNvPr id="16" name="Shape 10"/>
          <p:cNvSpPr/>
          <p:nvPr/>
        </p:nvSpPr>
        <p:spPr>
          <a:xfrm>
            <a:off x="4343400" y="4160520"/>
            <a:ext cx="3657600" cy="2331720"/>
          </a:xfrm>
          <a:prstGeom prst="roundRect">
            <a:avLst>
              <a:gd name="adj" fmla="val 3137"/>
            </a:avLst>
          </a:prstGeom>
          <a:solidFill>
            <a:srgbClr val="FFFFFF"/>
          </a:solidFill>
          <a:ln w="12700">
            <a:solidFill>
              <a:srgbClr val="E1EAF2"/>
            </a:solidFill>
            <a:prstDash val="solid"/>
          </a:ln>
        </p:spPr>
      </p:sp>
      <p:sp>
        <p:nvSpPr>
          <p:cNvPr id="17" name="Text 11"/>
          <p:cNvSpPr/>
          <p:nvPr/>
        </p:nvSpPr>
        <p:spPr>
          <a:xfrm>
            <a:off x="4480560" y="4233672"/>
            <a:ext cx="338328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Tenure (months, avg by group)</a:t>
            </a:r>
            <a:endParaRPr lang="en-US" sz="1150" dirty="0"/>
          </a:p>
        </p:txBody>
      </p:sp>
      <p:graphicFrame>
        <p:nvGraphicFramePr>
          <p:cNvPr id="18" name="Chart 4"/>
          <p:cNvGraphicFramePr/>
          <p:nvPr/>
        </p:nvGraphicFramePr>
        <p:xfrm>
          <a:off x="4434840" y="4544568"/>
          <a:ext cx="3474720" cy="1828800"/>
        </p:xfrm>
        <a:graphic>
          <a:graphicData uri="http://schemas.openxmlformats.org/drawingml/2006/chart">
            <c:chart xmlns:c="http://schemas.openxmlformats.org/drawingml/2006/chart" xmlns:r="http://schemas.openxmlformats.org/officeDocument/2006/relationships" r:id="rId7"/>
          </a:graphicData>
        </a:graphic>
      </p:graphicFrame>
      <p:sp>
        <p:nvSpPr>
          <p:cNvPr id="19" name="Shape 12"/>
          <p:cNvSpPr/>
          <p:nvPr/>
        </p:nvSpPr>
        <p:spPr>
          <a:xfrm>
            <a:off x="8138160" y="4160520"/>
            <a:ext cx="3474720" cy="2331720"/>
          </a:xfrm>
          <a:prstGeom prst="roundRect">
            <a:avLst>
              <a:gd name="adj" fmla="val 3137"/>
            </a:avLst>
          </a:prstGeom>
          <a:solidFill>
            <a:srgbClr val="FFFFFF"/>
          </a:solidFill>
          <a:ln w="12700">
            <a:solidFill>
              <a:srgbClr val="E1EAF2"/>
            </a:solidFill>
            <a:prstDash val="solid"/>
          </a:ln>
        </p:spPr>
      </p:sp>
      <p:sp>
        <p:nvSpPr>
          <p:cNvPr id="20" name="Text 13"/>
          <p:cNvSpPr/>
          <p:nvPr/>
        </p:nvSpPr>
        <p:spPr>
          <a:xfrm>
            <a:off x="8275320" y="4233672"/>
            <a:ext cx="3200400" cy="274320"/>
          </a:xfrm>
          <a:prstGeom prst="rect">
            <a:avLst/>
          </a:prstGeom>
          <a:noFill/>
          <a:ln/>
        </p:spPr>
        <p:txBody>
          <a:bodyPr wrap="square" rtlCol="0" anchor="ctr"/>
          <a:lstStyle/>
          <a:p>
            <a:pPr marL="0" indent="0">
              <a:buNone/>
            </a:pPr>
            <a:r>
              <a:rPr lang="en-US" sz="1150" b="1" dirty="0">
                <a:solidFill>
                  <a:srgbClr val="13315C"/>
                </a:solidFill>
                <a:latin typeface="Calibri" pitchFamily="34" charset="0"/>
                <a:ea typeface="Calibri" pitchFamily="34" charset="-122"/>
                <a:cs typeface="Calibri" pitchFamily="34" charset="-120"/>
              </a:rPr>
              <a:t>Streaming TV</a:t>
            </a:r>
            <a:endParaRPr lang="en-US" sz="1150" dirty="0"/>
          </a:p>
        </p:txBody>
      </p:sp>
      <p:graphicFrame>
        <p:nvGraphicFramePr>
          <p:cNvPr id="21" name="Chart 5"/>
          <p:cNvGraphicFramePr/>
          <p:nvPr/>
        </p:nvGraphicFramePr>
        <p:xfrm>
          <a:off x="8229600" y="4544568"/>
          <a:ext cx="3291840" cy="1828800"/>
        </p:xfrm>
        <a:graphic>
          <a:graphicData uri="http://schemas.openxmlformats.org/drawingml/2006/chart">
            <c:chart xmlns:c="http://schemas.openxmlformats.org/drawingml/2006/chart" xmlns:r="http://schemas.openxmlformats.org/officeDocument/2006/relationships" r:id="rId8"/>
          </a:graphicData>
        </a:graphic>
      </p:graphicFrame>
      <p:sp>
        <p:nvSpPr>
          <p:cNvPr id="22"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EXPLORATORY DATA ANALYSIS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Key Insights from EDA</a:t>
            </a:r>
            <a:endParaRPr lang="en-US" sz="3000" dirty="0"/>
          </a:p>
        </p:txBody>
      </p:sp>
      <p:sp>
        <p:nvSpPr>
          <p:cNvPr id="4" name="Shape 2"/>
          <p:cNvSpPr/>
          <p:nvPr/>
        </p:nvSpPr>
        <p:spPr>
          <a:xfrm>
            <a:off x="548640" y="1691640"/>
            <a:ext cx="11064240" cy="841248"/>
          </a:xfrm>
          <a:prstGeom prst="roundRect">
            <a:avLst>
              <a:gd name="adj" fmla="val 8696"/>
            </a:avLst>
          </a:prstGeom>
          <a:solidFill>
            <a:srgbClr val="EAF4FB"/>
          </a:solidFill>
          <a:ln/>
        </p:spPr>
      </p:sp>
      <p:sp>
        <p:nvSpPr>
          <p:cNvPr id="5" name="Shape 3"/>
          <p:cNvSpPr/>
          <p:nvPr/>
        </p:nvSpPr>
        <p:spPr>
          <a:xfrm>
            <a:off x="731520" y="1810512"/>
            <a:ext cx="603504" cy="603504"/>
          </a:xfrm>
          <a:prstGeom prst="ellipse">
            <a:avLst/>
          </a:prstGeom>
          <a:solidFill>
            <a:srgbClr val="0B2545"/>
          </a:solidFill>
          <a:ln/>
        </p:spPr>
      </p:sp>
      <p:pic>
        <p:nvPicPr>
          <p:cNvPr id="6" name="Image 0" descr="/home/claude/churn_ppt/icons/file_white.png"/>
          <p:cNvPicPr>
            <a:picLocks noChangeAspect="1"/>
          </p:cNvPicPr>
          <p:nvPr/>
        </p:nvPicPr>
        <p:blipFill>
          <a:blip r:embed="rId3"/>
          <a:stretch>
            <a:fillRect/>
          </a:stretch>
        </p:blipFill>
        <p:spPr>
          <a:xfrm>
            <a:off x="828081" y="1907073"/>
            <a:ext cx="410383" cy="410383"/>
          </a:xfrm>
          <a:prstGeom prst="rect">
            <a:avLst/>
          </a:prstGeom>
        </p:spPr>
      </p:pic>
      <p:sp>
        <p:nvSpPr>
          <p:cNvPr id="7" name="Text 4"/>
          <p:cNvSpPr/>
          <p:nvPr/>
        </p:nvSpPr>
        <p:spPr>
          <a:xfrm>
            <a:off x="1508760" y="1764792"/>
            <a:ext cx="4160520" cy="694944"/>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Month-to-month contracts churn most</a:t>
            </a:r>
            <a:endParaRPr lang="en-US" sz="1350" dirty="0"/>
          </a:p>
        </p:txBody>
      </p:sp>
      <p:sp>
        <p:nvSpPr>
          <p:cNvPr id="8" name="Text 5"/>
          <p:cNvSpPr/>
          <p:nvPr/>
        </p:nvSpPr>
        <p:spPr>
          <a:xfrm>
            <a:off x="5760720" y="1764792"/>
            <a:ext cx="5669280" cy="694944"/>
          </a:xfrm>
          <a:prstGeom prst="rect">
            <a:avLst/>
          </a:prstGeom>
          <a:noFill/>
          <a:ln/>
        </p:spPr>
        <p:txBody>
          <a:bodyPr wrap="square" rtlCol="0" anchor="ctr"/>
          <a:lstStyle/>
          <a:p>
            <a:pPr marL="0" indent="0">
              <a:lnSpc>
                <a:spcPct val="110000"/>
              </a:lnSpc>
              <a:buNone/>
            </a:pPr>
            <a:r>
              <a:rPr lang="en-US" sz="1150" dirty="0">
                <a:solidFill>
                  <a:srgbClr val="333333"/>
                </a:solidFill>
                <a:latin typeface="Calibri" pitchFamily="34" charset="0"/>
                <a:ea typeface="Calibri" pitchFamily="34" charset="-122"/>
                <a:cs typeface="Calibri" pitchFamily="34" charset="-120"/>
              </a:rPr>
              <a:t>Customers without a long-term commitment are far more likely to leave than those on 1- or 2-year contracts.</a:t>
            </a:r>
            <a:endParaRPr lang="en-US" sz="1150" dirty="0"/>
          </a:p>
        </p:txBody>
      </p:sp>
      <p:sp>
        <p:nvSpPr>
          <p:cNvPr id="9" name="Shape 6"/>
          <p:cNvSpPr/>
          <p:nvPr/>
        </p:nvSpPr>
        <p:spPr>
          <a:xfrm>
            <a:off x="548640" y="2624328"/>
            <a:ext cx="11064240" cy="841248"/>
          </a:xfrm>
          <a:prstGeom prst="roundRect">
            <a:avLst>
              <a:gd name="adj" fmla="val 8696"/>
            </a:avLst>
          </a:prstGeom>
          <a:solidFill>
            <a:srgbClr val="FFFFFF"/>
          </a:solidFill>
          <a:ln w="12700">
            <a:solidFill>
              <a:srgbClr val="E7EEF5"/>
            </a:solidFill>
            <a:prstDash val="solid"/>
          </a:ln>
        </p:spPr>
      </p:sp>
      <p:sp>
        <p:nvSpPr>
          <p:cNvPr id="10" name="Shape 7"/>
          <p:cNvSpPr/>
          <p:nvPr/>
        </p:nvSpPr>
        <p:spPr>
          <a:xfrm>
            <a:off x="731520" y="2743200"/>
            <a:ext cx="603504" cy="603504"/>
          </a:xfrm>
          <a:prstGeom prst="ellipse">
            <a:avLst/>
          </a:prstGeom>
          <a:solidFill>
            <a:srgbClr val="0B2545"/>
          </a:solidFill>
          <a:ln/>
        </p:spPr>
      </p:sp>
      <p:pic>
        <p:nvPicPr>
          <p:cNvPr id="11" name="Image 1" descr="/home/claude/churn_ppt/icons/bolt_white.png"/>
          <p:cNvPicPr>
            <a:picLocks noChangeAspect="1"/>
          </p:cNvPicPr>
          <p:nvPr/>
        </p:nvPicPr>
        <p:blipFill>
          <a:blip r:embed="rId4"/>
          <a:stretch>
            <a:fillRect/>
          </a:stretch>
        </p:blipFill>
        <p:spPr>
          <a:xfrm>
            <a:off x="828081" y="2839761"/>
            <a:ext cx="410383" cy="410383"/>
          </a:xfrm>
          <a:prstGeom prst="rect">
            <a:avLst/>
          </a:prstGeom>
        </p:spPr>
      </p:pic>
      <p:sp>
        <p:nvSpPr>
          <p:cNvPr id="12" name="Text 8"/>
          <p:cNvSpPr/>
          <p:nvPr/>
        </p:nvSpPr>
        <p:spPr>
          <a:xfrm>
            <a:off x="1508760" y="2697480"/>
            <a:ext cx="4160520" cy="694944"/>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Fiber optic users churn more</a:t>
            </a:r>
            <a:endParaRPr lang="en-US" sz="1350" dirty="0"/>
          </a:p>
        </p:txBody>
      </p:sp>
      <p:sp>
        <p:nvSpPr>
          <p:cNvPr id="13" name="Text 9"/>
          <p:cNvSpPr/>
          <p:nvPr/>
        </p:nvSpPr>
        <p:spPr>
          <a:xfrm>
            <a:off x="5760720" y="2697480"/>
            <a:ext cx="5669280" cy="694944"/>
          </a:xfrm>
          <a:prstGeom prst="rect">
            <a:avLst/>
          </a:prstGeom>
          <a:noFill/>
          <a:ln/>
        </p:spPr>
        <p:txBody>
          <a:bodyPr wrap="square" rtlCol="0" anchor="ctr"/>
          <a:lstStyle/>
          <a:p>
            <a:pPr marL="0" indent="0">
              <a:lnSpc>
                <a:spcPct val="110000"/>
              </a:lnSpc>
              <a:buNone/>
            </a:pPr>
            <a:r>
              <a:rPr lang="en-US" sz="1150" dirty="0">
                <a:solidFill>
                  <a:srgbClr val="333333"/>
                </a:solidFill>
                <a:latin typeface="Calibri" pitchFamily="34" charset="0"/>
                <a:ea typeface="Calibri" pitchFamily="34" charset="-122"/>
                <a:cs typeface="Calibri" pitchFamily="34" charset="-120"/>
              </a:rPr>
              <a:t>Despite being the most popular internet service, Fiber optic customers show the highest churn rate of any internet service type.</a:t>
            </a:r>
            <a:endParaRPr lang="en-US" sz="1150" dirty="0"/>
          </a:p>
        </p:txBody>
      </p:sp>
      <p:sp>
        <p:nvSpPr>
          <p:cNvPr id="14" name="Shape 10"/>
          <p:cNvSpPr/>
          <p:nvPr/>
        </p:nvSpPr>
        <p:spPr>
          <a:xfrm>
            <a:off x="548640" y="3557016"/>
            <a:ext cx="11064240" cy="841248"/>
          </a:xfrm>
          <a:prstGeom prst="roundRect">
            <a:avLst>
              <a:gd name="adj" fmla="val 8696"/>
            </a:avLst>
          </a:prstGeom>
          <a:solidFill>
            <a:srgbClr val="EAF4FB"/>
          </a:solidFill>
          <a:ln/>
        </p:spPr>
      </p:sp>
      <p:sp>
        <p:nvSpPr>
          <p:cNvPr id="15" name="Shape 11"/>
          <p:cNvSpPr/>
          <p:nvPr/>
        </p:nvSpPr>
        <p:spPr>
          <a:xfrm>
            <a:off x="731520" y="3675888"/>
            <a:ext cx="603504" cy="603504"/>
          </a:xfrm>
          <a:prstGeom prst="ellipse">
            <a:avLst/>
          </a:prstGeom>
          <a:solidFill>
            <a:srgbClr val="0B2545"/>
          </a:solidFill>
          <a:ln/>
        </p:spPr>
      </p:sp>
      <p:pic>
        <p:nvPicPr>
          <p:cNvPr id="16" name="Image 2" descr="/home/claude/churn_ppt/icons/dollar_white.png"/>
          <p:cNvPicPr>
            <a:picLocks noChangeAspect="1"/>
          </p:cNvPicPr>
          <p:nvPr/>
        </p:nvPicPr>
        <p:blipFill>
          <a:blip r:embed="rId5"/>
          <a:stretch>
            <a:fillRect/>
          </a:stretch>
        </p:blipFill>
        <p:spPr>
          <a:xfrm>
            <a:off x="828081" y="3772449"/>
            <a:ext cx="410383" cy="410383"/>
          </a:xfrm>
          <a:prstGeom prst="rect">
            <a:avLst/>
          </a:prstGeom>
        </p:spPr>
      </p:pic>
      <p:sp>
        <p:nvSpPr>
          <p:cNvPr id="17" name="Text 12"/>
          <p:cNvSpPr/>
          <p:nvPr/>
        </p:nvSpPr>
        <p:spPr>
          <a:xfrm>
            <a:off x="1508760" y="3630168"/>
            <a:ext cx="4160520" cy="694944"/>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Higher monthly charges → higher churn</a:t>
            </a:r>
            <a:endParaRPr lang="en-US" sz="1350" dirty="0"/>
          </a:p>
        </p:txBody>
      </p:sp>
      <p:sp>
        <p:nvSpPr>
          <p:cNvPr id="18" name="Text 13"/>
          <p:cNvSpPr/>
          <p:nvPr/>
        </p:nvSpPr>
        <p:spPr>
          <a:xfrm>
            <a:off x="5760720" y="3630168"/>
            <a:ext cx="5669280" cy="694944"/>
          </a:xfrm>
          <a:prstGeom prst="rect">
            <a:avLst/>
          </a:prstGeom>
          <a:noFill/>
          <a:ln/>
        </p:spPr>
        <p:txBody>
          <a:bodyPr wrap="square" rtlCol="0" anchor="ctr"/>
          <a:lstStyle/>
          <a:p>
            <a:pPr marL="0" indent="0">
              <a:lnSpc>
                <a:spcPct val="110000"/>
              </a:lnSpc>
              <a:buNone/>
            </a:pPr>
            <a:r>
              <a:rPr lang="en-US" sz="1150" dirty="0">
                <a:solidFill>
                  <a:srgbClr val="333333"/>
                </a:solidFill>
                <a:latin typeface="Calibri" pitchFamily="34" charset="0"/>
                <a:ea typeface="Calibri" pitchFamily="34" charset="-122"/>
                <a:cs typeface="Calibri" pitchFamily="34" charset="-120"/>
              </a:rPr>
              <a:t>Customers paying more per month are more likely to discontinue their service.</a:t>
            </a:r>
            <a:endParaRPr lang="en-US" sz="1150" dirty="0"/>
          </a:p>
        </p:txBody>
      </p:sp>
      <p:sp>
        <p:nvSpPr>
          <p:cNvPr id="19" name="Shape 14"/>
          <p:cNvSpPr/>
          <p:nvPr/>
        </p:nvSpPr>
        <p:spPr>
          <a:xfrm>
            <a:off x="548640" y="4489704"/>
            <a:ext cx="11064240" cy="841248"/>
          </a:xfrm>
          <a:prstGeom prst="roundRect">
            <a:avLst>
              <a:gd name="adj" fmla="val 8696"/>
            </a:avLst>
          </a:prstGeom>
          <a:solidFill>
            <a:srgbClr val="FFFFFF"/>
          </a:solidFill>
          <a:ln w="12700">
            <a:solidFill>
              <a:srgbClr val="E7EEF5"/>
            </a:solidFill>
            <a:prstDash val="solid"/>
          </a:ln>
        </p:spPr>
      </p:sp>
      <p:sp>
        <p:nvSpPr>
          <p:cNvPr id="20" name="Shape 15"/>
          <p:cNvSpPr/>
          <p:nvPr/>
        </p:nvSpPr>
        <p:spPr>
          <a:xfrm>
            <a:off x="731520" y="4608576"/>
            <a:ext cx="603504" cy="603504"/>
          </a:xfrm>
          <a:prstGeom prst="ellipse">
            <a:avLst/>
          </a:prstGeom>
          <a:solidFill>
            <a:srgbClr val="0B2545"/>
          </a:solidFill>
          <a:ln/>
        </p:spPr>
      </p:sp>
      <p:pic>
        <p:nvPicPr>
          <p:cNvPr id="21" name="Image 3" descr="/home/claude/churn_ppt/icons/userCheck_white.png"/>
          <p:cNvPicPr>
            <a:picLocks noChangeAspect="1"/>
          </p:cNvPicPr>
          <p:nvPr/>
        </p:nvPicPr>
        <p:blipFill>
          <a:blip r:embed="rId6"/>
          <a:stretch>
            <a:fillRect/>
          </a:stretch>
        </p:blipFill>
        <p:spPr>
          <a:xfrm>
            <a:off x="828081" y="4705137"/>
            <a:ext cx="410383" cy="410383"/>
          </a:xfrm>
          <a:prstGeom prst="rect">
            <a:avLst/>
          </a:prstGeom>
        </p:spPr>
      </p:pic>
      <p:sp>
        <p:nvSpPr>
          <p:cNvPr id="22" name="Text 16"/>
          <p:cNvSpPr/>
          <p:nvPr/>
        </p:nvSpPr>
        <p:spPr>
          <a:xfrm>
            <a:off x="1508760" y="4562856"/>
            <a:ext cx="4160520" cy="694944"/>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Longer tenure → lower churn</a:t>
            </a:r>
            <a:endParaRPr lang="en-US" sz="1350" dirty="0"/>
          </a:p>
        </p:txBody>
      </p:sp>
      <p:sp>
        <p:nvSpPr>
          <p:cNvPr id="23" name="Text 17"/>
          <p:cNvSpPr/>
          <p:nvPr/>
        </p:nvSpPr>
        <p:spPr>
          <a:xfrm>
            <a:off x="5760720" y="4562856"/>
            <a:ext cx="5669280" cy="694944"/>
          </a:xfrm>
          <a:prstGeom prst="rect">
            <a:avLst/>
          </a:prstGeom>
          <a:noFill/>
          <a:ln/>
        </p:spPr>
        <p:txBody>
          <a:bodyPr wrap="square" rtlCol="0" anchor="ctr"/>
          <a:lstStyle/>
          <a:p>
            <a:pPr marL="0" indent="0">
              <a:lnSpc>
                <a:spcPct val="110000"/>
              </a:lnSpc>
              <a:buNone/>
            </a:pPr>
            <a:r>
              <a:rPr lang="en-US" sz="1150" dirty="0">
                <a:solidFill>
                  <a:srgbClr val="333333"/>
                </a:solidFill>
                <a:latin typeface="Calibri" pitchFamily="34" charset="0"/>
                <a:ea typeface="Calibri" pitchFamily="34" charset="-122"/>
                <a:cs typeface="Calibri" pitchFamily="34" charset="-120"/>
              </a:rPr>
              <a:t>Customer loyalty clearly increases with tenure; long-standing customers rarely churn.</a:t>
            </a:r>
            <a:endParaRPr lang="en-US" sz="1150" dirty="0"/>
          </a:p>
        </p:txBody>
      </p:sp>
      <p:sp>
        <p:nvSpPr>
          <p:cNvPr id="24" name="Shape 18"/>
          <p:cNvSpPr/>
          <p:nvPr/>
        </p:nvSpPr>
        <p:spPr>
          <a:xfrm>
            <a:off x="548640" y="5422392"/>
            <a:ext cx="11064240" cy="841248"/>
          </a:xfrm>
          <a:prstGeom prst="roundRect">
            <a:avLst>
              <a:gd name="adj" fmla="val 8696"/>
            </a:avLst>
          </a:prstGeom>
          <a:solidFill>
            <a:srgbClr val="EAF4FB"/>
          </a:solidFill>
          <a:ln/>
        </p:spPr>
      </p:sp>
      <p:sp>
        <p:nvSpPr>
          <p:cNvPr id="25" name="Shape 19"/>
          <p:cNvSpPr/>
          <p:nvPr/>
        </p:nvSpPr>
        <p:spPr>
          <a:xfrm>
            <a:off x="731520" y="5541264"/>
            <a:ext cx="603504" cy="603504"/>
          </a:xfrm>
          <a:prstGeom prst="ellipse">
            <a:avLst/>
          </a:prstGeom>
          <a:solidFill>
            <a:srgbClr val="0B2545"/>
          </a:solidFill>
          <a:ln/>
        </p:spPr>
      </p:sp>
      <p:pic>
        <p:nvPicPr>
          <p:cNvPr id="26" name="Image 4" descr="/home/claude/churn_ppt/icons/shield_white.png"/>
          <p:cNvPicPr>
            <a:picLocks noChangeAspect="1"/>
          </p:cNvPicPr>
          <p:nvPr/>
        </p:nvPicPr>
        <p:blipFill>
          <a:blip r:embed="rId7"/>
          <a:stretch>
            <a:fillRect/>
          </a:stretch>
        </p:blipFill>
        <p:spPr>
          <a:xfrm>
            <a:off x="828081" y="5637825"/>
            <a:ext cx="410383" cy="410383"/>
          </a:xfrm>
          <a:prstGeom prst="rect">
            <a:avLst/>
          </a:prstGeom>
        </p:spPr>
      </p:pic>
      <p:sp>
        <p:nvSpPr>
          <p:cNvPr id="27" name="Text 20"/>
          <p:cNvSpPr/>
          <p:nvPr/>
        </p:nvSpPr>
        <p:spPr>
          <a:xfrm>
            <a:off x="1508760" y="5495544"/>
            <a:ext cx="4160520" cy="694944"/>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Missing support services increases churn</a:t>
            </a:r>
            <a:endParaRPr lang="en-US" sz="1350" dirty="0"/>
          </a:p>
        </p:txBody>
      </p:sp>
      <p:sp>
        <p:nvSpPr>
          <p:cNvPr id="28" name="Text 21"/>
          <p:cNvSpPr/>
          <p:nvPr/>
        </p:nvSpPr>
        <p:spPr>
          <a:xfrm>
            <a:off x="5760720" y="5495544"/>
            <a:ext cx="5669280" cy="694944"/>
          </a:xfrm>
          <a:prstGeom prst="rect">
            <a:avLst/>
          </a:prstGeom>
          <a:noFill/>
          <a:ln/>
        </p:spPr>
        <p:txBody>
          <a:bodyPr wrap="square" rtlCol="0" anchor="ctr"/>
          <a:lstStyle/>
          <a:p>
            <a:pPr marL="0" indent="0">
              <a:lnSpc>
                <a:spcPct val="110000"/>
              </a:lnSpc>
              <a:buNone/>
            </a:pPr>
            <a:r>
              <a:rPr lang="en-US" sz="1150" dirty="0">
                <a:solidFill>
                  <a:srgbClr val="333333"/>
                </a:solidFill>
                <a:latin typeface="Calibri" pitchFamily="34" charset="0"/>
                <a:ea typeface="Calibri" pitchFamily="34" charset="-122"/>
                <a:cs typeface="Calibri" pitchFamily="34" charset="-120"/>
              </a:rPr>
              <a:t>Lack of Tech Support and Online Security is strongly associated with a higher likelihood of churn.</a:t>
            </a:r>
            <a:endParaRPr lang="en-US" sz="1150" dirty="0"/>
          </a:p>
        </p:txBody>
      </p:sp>
      <p:sp>
        <p:nvSpPr>
          <p:cNvPr id="29" name="Text 2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MACHINE LEARNING WORKFLOW</a:t>
            </a:r>
            <a:endParaRPr lang="en-US" sz="1300" dirty="0"/>
          </a:p>
        </p:txBody>
      </p:sp>
      <p:sp>
        <p:nvSpPr>
          <p:cNvPr id="3" name="Shape 1"/>
          <p:cNvSpPr/>
          <p:nvPr/>
        </p:nvSpPr>
        <p:spPr>
          <a:xfrm>
            <a:off x="0" y="0"/>
            <a:ext cx="12188952" cy="822960"/>
          </a:xfrm>
          <a:prstGeom prst="rect">
            <a:avLst/>
          </a:prstGeom>
          <a:solidFill>
            <a:srgbClr val="0B2545"/>
          </a:solidFill>
          <a:ln/>
        </p:spPr>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MACHINE LEARNING WORKFLOW</a:t>
            </a:r>
            <a:endParaRPr lang="en-US" sz="1300" dirty="0"/>
          </a:p>
        </p:txBody>
      </p:sp>
      <p:sp>
        <p:nvSpPr>
          <p:cNvPr id="5" name="Text 3"/>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End-to-End Prediction Pipeline</a:t>
            </a:r>
            <a:endParaRPr lang="en-US" sz="3000" dirty="0"/>
          </a:p>
        </p:txBody>
      </p:sp>
      <p:sp>
        <p:nvSpPr>
          <p:cNvPr id="6" name="Shape 4"/>
          <p:cNvSpPr/>
          <p:nvPr/>
        </p:nvSpPr>
        <p:spPr>
          <a:xfrm>
            <a:off x="365760" y="2834640"/>
            <a:ext cx="1417320" cy="1737360"/>
          </a:xfrm>
          <a:prstGeom prst="roundRect">
            <a:avLst>
              <a:gd name="adj" fmla="val 6452"/>
            </a:avLst>
          </a:prstGeom>
          <a:solidFill>
            <a:srgbClr val="13315C"/>
          </a:solidFill>
          <a:ln/>
        </p:spPr>
      </p:sp>
      <p:sp>
        <p:nvSpPr>
          <p:cNvPr id="7" name="Shape 5"/>
          <p:cNvSpPr/>
          <p:nvPr/>
        </p:nvSpPr>
        <p:spPr>
          <a:xfrm>
            <a:off x="781812" y="3035808"/>
            <a:ext cx="585216" cy="585216"/>
          </a:xfrm>
          <a:prstGeom prst="ellipse">
            <a:avLst/>
          </a:prstGeom>
          <a:solidFill>
            <a:srgbClr val="00B4D8"/>
          </a:solidFill>
          <a:ln/>
        </p:spPr>
      </p:sp>
      <p:pic>
        <p:nvPicPr>
          <p:cNvPr id="8" name="Image 0" descr="/home/claude/churn_ppt/icons/database_navy.png"/>
          <p:cNvPicPr>
            <a:picLocks noChangeAspect="1"/>
          </p:cNvPicPr>
          <p:nvPr/>
        </p:nvPicPr>
        <p:blipFill>
          <a:blip r:embed="rId3"/>
          <a:stretch>
            <a:fillRect/>
          </a:stretch>
        </p:blipFill>
        <p:spPr>
          <a:xfrm>
            <a:off x="875447" y="3129443"/>
            <a:ext cx="397947" cy="397947"/>
          </a:xfrm>
          <a:prstGeom prst="rect">
            <a:avLst/>
          </a:prstGeom>
        </p:spPr>
      </p:pic>
      <p:sp>
        <p:nvSpPr>
          <p:cNvPr id="9" name="Text 6"/>
          <p:cNvSpPr/>
          <p:nvPr/>
        </p:nvSpPr>
        <p:spPr>
          <a:xfrm>
            <a:off x="411480"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Collection</a:t>
            </a:r>
            <a:endParaRPr lang="en-US" sz="1100" dirty="0"/>
          </a:p>
        </p:txBody>
      </p:sp>
      <p:sp>
        <p:nvSpPr>
          <p:cNvPr id="10" name="Text 7"/>
          <p:cNvSpPr/>
          <p:nvPr/>
        </p:nvSpPr>
        <p:spPr>
          <a:xfrm>
            <a:off x="1764792" y="3337560"/>
            <a:ext cx="292608" cy="731520"/>
          </a:xfrm>
          <a:prstGeom prst="rect">
            <a:avLst/>
          </a:prstGeom>
          <a:noFill/>
          <a:ln/>
        </p:spPr>
        <p:txBody>
          <a:bodyPr wrap="square"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2039112" y="2834640"/>
            <a:ext cx="1417320" cy="1737360"/>
          </a:xfrm>
          <a:prstGeom prst="roundRect">
            <a:avLst>
              <a:gd name="adj" fmla="val 6452"/>
            </a:avLst>
          </a:prstGeom>
          <a:solidFill>
            <a:srgbClr val="13315C"/>
          </a:solidFill>
          <a:ln/>
        </p:spPr>
      </p:sp>
      <p:sp>
        <p:nvSpPr>
          <p:cNvPr id="12" name="Shape 9"/>
          <p:cNvSpPr/>
          <p:nvPr/>
        </p:nvSpPr>
        <p:spPr>
          <a:xfrm>
            <a:off x="2455164" y="3035808"/>
            <a:ext cx="585216" cy="585216"/>
          </a:xfrm>
          <a:prstGeom prst="ellipse">
            <a:avLst/>
          </a:prstGeom>
          <a:solidFill>
            <a:srgbClr val="00B4D8"/>
          </a:solidFill>
          <a:ln/>
        </p:spPr>
      </p:sp>
      <p:pic>
        <p:nvPicPr>
          <p:cNvPr id="13" name="Image 1" descr="/home/claude/churn_ppt/icons/filter_navy.png"/>
          <p:cNvPicPr>
            <a:picLocks noChangeAspect="1"/>
          </p:cNvPicPr>
          <p:nvPr/>
        </p:nvPicPr>
        <p:blipFill>
          <a:blip r:embed="rId4"/>
          <a:stretch>
            <a:fillRect/>
          </a:stretch>
        </p:blipFill>
        <p:spPr>
          <a:xfrm>
            <a:off x="2548799" y="3129443"/>
            <a:ext cx="397947" cy="397947"/>
          </a:xfrm>
          <a:prstGeom prst="rect">
            <a:avLst/>
          </a:prstGeom>
        </p:spPr>
      </p:pic>
      <p:sp>
        <p:nvSpPr>
          <p:cNvPr id="14" name="Text 10"/>
          <p:cNvSpPr/>
          <p:nvPr/>
        </p:nvSpPr>
        <p:spPr>
          <a:xfrm>
            <a:off x="2084832"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Preprocessing</a:t>
            </a:r>
            <a:endParaRPr lang="en-US" sz="1100" dirty="0"/>
          </a:p>
        </p:txBody>
      </p:sp>
      <p:sp>
        <p:nvSpPr>
          <p:cNvPr id="15" name="Text 11"/>
          <p:cNvSpPr/>
          <p:nvPr/>
        </p:nvSpPr>
        <p:spPr>
          <a:xfrm>
            <a:off x="3438144" y="3337560"/>
            <a:ext cx="292608" cy="731520"/>
          </a:xfrm>
          <a:prstGeom prst="rect">
            <a:avLst/>
          </a:prstGeom>
          <a:noFill/>
          <a:ln/>
        </p:spPr>
        <p:txBody>
          <a:bodyPr wrap="square"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3712464" y="2834640"/>
            <a:ext cx="1417320" cy="1737360"/>
          </a:xfrm>
          <a:prstGeom prst="roundRect">
            <a:avLst>
              <a:gd name="adj" fmla="val 6452"/>
            </a:avLst>
          </a:prstGeom>
          <a:solidFill>
            <a:srgbClr val="13315C"/>
          </a:solidFill>
          <a:ln/>
        </p:spPr>
      </p:sp>
      <p:sp>
        <p:nvSpPr>
          <p:cNvPr id="17" name="Shape 13"/>
          <p:cNvSpPr/>
          <p:nvPr/>
        </p:nvSpPr>
        <p:spPr>
          <a:xfrm>
            <a:off x="4128516" y="3035808"/>
            <a:ext cx="585216" cy="585216"/>
          </a:xfrm>
          <a:prstGeom prst="ellipse">
            <a:avLst/>
          </a:prstGeom>
          <a:solidFill>
            <a:srgbClr val="00B4D8"/>
          </a:solidFill>
          <a:ln/>
        </p:spPr>
      </p:sp>
      <p:pic>
        <p:nvPicPr>
          <p:cNvPr id="18" name="Image 2" descr="/home/claude/churn_ppt/icons/cogs_navy.png"/>
          <p:cNvPicPr>
            <a:picLocks noChangeAspect="1"/>
          </p:cNvPicPr>
          <p:nvPr/>
        </p:nvPicPr>
        <p:blipFill>
          <a:blip r:embed="rId5"/>
          <a:stretch>
            <a:fillRect/>
          </a:stretch>
        </p:blipFill>
        <p:spPr>
          <a:xfrm>
            <a:off x="4222151" y="3129443"/>
            <a:ext cx="397947" cy="397947"/>
          </a:xfrm>
          <a:prstGeom prst="rect">
            <a:avLst/>
          </a:prstGeom>
        </p:spPr>
      </p:pic>
      <p:sp>
        <p:nvSpPr>
          <p:cNvPr id="19" name="Text 14"/>
          <p:cNvSpPr/>
          <p:nvPr/>
        </p:nvSpPr>
        <p:spPr>
          <a:xfrm>
            <a:off x="3758184"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Engineering</a:t>
            </a:r>
            <a:endParaRPr lang="en-US" sz="1100" dirty="0"/>
          </a:p>
        </p:txBody>
      </p:sp>
      <p:sp>
        <p:nvSpPr>
          <p:cNvPr id="20" name="Text 15"/>
          <p:cNvSpPr/>
          <p:nvPr/>
        </p:nvSpPr>
        <p:spPr>
          <a:xfrm>
            <a:off x="5111496" y="3337560"/>
            <a:ext cx="292608" cy="731520"/>
          </a:xfrm>
          <a:prstGeom prst="rect">
            <a:avLst/>
          </a:prstGeom>
          <a:noFill/>
          <a:ln/>
        </p:spPr>
        <p:txBody>
          <a:bodyPr wrap="square"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a:t>
            </a:r>
            <a:endParaRPr lang="en-US" sz="2600" dirty="0"/>
          </a:p>
        </p:txBody>
      </p:sp>
      <p:sp>
        <p:nvSpPr>
          <p:cNvPr id="21" name="Shape 16"/>
          <p:cNvSpPr/>
          <p:nvPr/>
        </p:nvSpPr>
        <p:spPr>
          <a:xfrm>
            <a:off x="5385816" y="2834640"/>
            <a:ext cx="1417320" cy="1737360"/>
          </a:xfrm>
          <a:prstGeom prst="roundRect">
            <a:avLst>
              <a:gd name="adj" fmla="val 6452"/>
            </a:avLst>
          </a:prstGeom>
          <a:solidFill>
            <a:srgbClr val="13315C"/>
          </a:solidFill>
          <a:ln/>
        </p:spPr>
      </p:sp>
      <p:sp>
        <p:nvSpPr>
          <p:cNvPr id="22" name="Shape 17"/>
          <p:cNvSpPr/>
          <p:nvPr/>
        </p:nvSpPr>
        <p:spPr>
          <a:xfrm>
            <a:off x="5801868" y="3035808"/>
            <a:ext cx="585216" cy="585216"/>
          </a:xfrm>
          <a:prstGeom prst="ellipse">
            <a:avLst/>
          </a:prstGeom>
          <a:solidFill>
            <a:srgbClr val="00B4D8"/>
          </a:solidFill>
          <a:ln/>
        </p:spPr>
      </p:sp>
      <p:pic>
        <p:nvPicPr>
          <p:cNvPr id="23" name="Image 3" descr="/home/claude/churn_ppt/icons/layer_navy.png"/>
          <p:cNvPicPr>
            <a:picLocks noChangeAspect="1"/>
          </p:cNvPicPr>
          <p:nvPr/>
        </p:nvPicPr>
        <p:blipFill>
          <a:blip r:embed="rId6"/>
          <a:stretch>
            <a:fillRect/>
          </a:stretch>
        </p:blipFill>
        <p:spPr>
          <a:xfrm>
            <a:off x="5895503" y="3129443"/>
            <a:ext cx="397947" cy="397947"/>
          </a:xfrm>
          <a:prstGeom prst="rect">
            <a:avLst/>
          </a:prstGeom>
        </p:spPr>
      </p:pic>
      <p:sp>
        <p:nvSpPr>
          <p:cNvPr id="24" name="Text 18"/>
          <p:cNvSpPr/>
          <p:nvPr/>
        </p:nvSpPr>
        <p:spPr>
          <a:xfrm>
            <a:off x="5431536"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Train-Test</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25" name="Text 19"/>
          <p:cNvSpPr/>
          <p:nvPr/>
        </p:nvSpPr>
        <p:spPr>
          <a:xfrm>
            <a:off x="6784848" y="3337560"/>
            <a:ext cx="292608" cy="731520"/>
          </a:xfrm>
          <a:prstGeom prst="rect">
            <a:avLst/>
          </a:prstGeom>
          <a:noFill/>
          <a:ln/>
        </p:spPr>
        <p:txBody>
          <a:bodyPr wrap="square"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a:t>
            </a:r>
            <a:endParaRPr lang="en-US" sz="2600" dirty="0"/>
          </a:p>
        </p:txBody>
      </p:sp>
      <p:sp>
        <p:nvSpPr>
          <p:cNvPr id="26" name="Shape 20"/>
          <p:cNvSpPr/>
          <p:nvPr/>
        </p:nvSpPr>
        <p:spPr>
          <a:xfrm>
            <a:off x="7059168" y="2834640"/>
            <a:ext cx="1417320" cy="1737360"/>
          </a:xfrm>
          <a:prstGeom prst="roundRect">
            <a:avLst>
              <a:gd name="adj" fmla="val 6452"/>
            </a:avLst>
          </a:prstGeom>
          <a:solidFill>
            <a:srgbClr val="13315C"/>
          </a:solidFill>
          <a:ln/>
        </p:spPr>
      </p:sp>
      <p:sp>
        <p:nvSpPr>
          <p:cNvPr id="27" name="Shape 21"/>
          <p:cNvSpPr/>
          <p:nvPr/>
        </p:nvSpPr>
        <p:spPr>
          <a:xfrm>
            <a:off x="7475220" y="3035808"/>
            <a:ext cx="585216" cy="585216"/>
          </a:xfrm>
          <a:prstGeom prst="ellipse">
            <a:avLst/>
          </a:prstGeom>
          <a:solidFill>
            <a:srgbClr val="00B4D8"/>
          </a:solidFill>
          <a:ln/>
        </p:spPr>
      </p:sp>
      <p:pic>
        <p:nvPicPr>
          <p:cNvPr id="28" name="Image 4" descr="/home/claude/churn_ppt/icons/brain_navy.png"/>
          <p:cNvPicPr>
            <a:picLocks noChangeAspect="1"/>
          </p:cNvPicPr>
          <p:nvPr/>
        </p:nvPicPr>
        <p:blipFill>
          <a:blip r:embed="rId7"/>
          <a:stretch>
            <a:fillRect/>
          </a:stretch>
        </p:blipFill>
        <p:spPr>
          <a:xfrm>
            <a:off x="7568855" y="3129443"/>
            <a:ext cx="397947" cy="397947"/>
          </a:xfrm>
          <a:prstGeom prst="rect">
            <a:avLst/>
          </a:prstGeom>
        </p:spPr>
      </p:pic>
      <p:sp>
        <p:nvSpPr>
          <p:cNvPr id="29" name="Text 22"/>
          <p:cNvSpPr/>
          <p:nvPr/>
        </p:nvSpPr>
        <p:spPr>
          <a:xfrm>
            <a:off x="7104888"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Training</a:t>
            </a:r>
            <a:endParaRPr lang="en-US" sz="1100" dirty="0"/>
          </a:p>
        </p:txBody>
      </p:sp>
      <p:sp>
        <p:nvSpPr>
          <p:cNvPr id="30" name="Text 23"/>
          <p:cNvSpPr/>
          <p:nvPr/>
        </p:nvSpPr>
        <p:spPr>
          <a:xfrm>
            <a:off x="8458200" y="3337560"/>
            <a:ext cx="292608" cy="731520"/>
          </a:xfrm>
          <a:prstGeom prst="rect">
            <a:avLst/>
          </a:prstGeom>
          <a:noFill/>
          <a:ln/>
        </p:spPr>
        <p:txBody>
          <a:bodyPr wrap="square"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a:t>
            </a:r>
            <a:endParaRPr lang="en-US" sz="2600" dirty="0"/>
          </a:p>
        </p:txBody>
      </p:sp>
      <p:sp>
        <p:nvSpPr>
          <p:cNvPr id="31" name="Shape 24"/>
          <p:cNvSpPr/>
          <p:nvPr/>
        </p:nvSpPr>
        <p:spPr>
          <a:xfrm>
            <a:off x="8732520" y="2834640"/>
            <a:ext cx="1417320" cy="1737360"/>
          </a:xfrm>
          <a:prstGeom prst="roundRect">
            <a:avLst>
              <a:gd name="adj" fmla="val 6452"/>
            </a:avLst>
          </a:prstGeom>
          <a:solidFill>
            <a:srgbClr val="13315C"/>
          </a:solidFill>
          <a:ln/>
        </p:spPr>
      </p:sp>
      <p:sp>
        <p:nvSpPr>
          <p:cNvPr id="32" name="Shape 25"/>
          <p:cNvSpPr/>
          <p:nvPr/>
        </p:nvSpPr>
        <p:spPr>
          <a:xfrm>
            <a:off x="9148572" y="3035808"/>
            <a:ext cx="585216" cy="585216"/>
          </a:xfrm>
          <a:prstGeom prst="ellipse">
            <a:avLst/>
          </a:prstGeom>
          <a:solidFill>
            <a:srgbClr val="00B4D8"/>
          </a:solidFill>
          <a:ln/>
        </p:spPr>
      </p:sp>
      <p:pic>
        <p:nvPicPr>
          <p:cNvPr id="33" name="Image 5" descr="/home/claude/churn_ppt/icons/target_navy.png"/>
          <p:cNvPicPr>
            <a:picLocks noChangeAspect="1"/>
          </p:cNvPicPr>
          <p:nvPr/>
        </p:nvPicPr>
        <p:blipFill>
          <a:blip r:embed="rId8"/>
          <a:stretch>
            <a:fillRect/>
          </a:stretch>
        </p:blipFill>
        <p:spPr>
          <a:xfrm>
            <a:off x="9242207" y="3129443"/>
            <a:ext cx="397947" cy="397947"/>
          </a:xfrm>
          <a:prstGeom prst="rect">
            <a:avLst/>
          </a:prstGeom>
        </p:spPr>
      </p:pic>
      <p:sp>
        <p:nvSpPr>
          <p:cNvPr id="34" name="Text 26"/>
          <p:cNvSpPr/>
          <p:nvPr/>
        </p:nvSpPr>
        <p:spPr>
          <a:xfrm>
            <a:off x="8778240"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Prediction</a:t>
            </a:r>
            <a:endParaRPr lang="en-US" sz="1100" dirty="0"/>
          </a:p>
        </p:txBody>
      </p:sp>
      <p:sp>
        <p:nvSpPr>
          <p:cNvPr id="35" name="Text 27"/>
          <p:cNvSpPr/>
          <p:nvPr/>
        </p:nvSpPr>
        <p:spPr>
          <a:xfrm>
            <a:off x="10131552" y="3337560"/>
            <a:ext cx="292608" cy="731520"/>
          </a:xfrm>
          <a:prstGeom prst="rect">
            <a:avLst/>
          </a:prstGeom>
          <a:noFill/>
          <a:ln/>
        </p:spPr>
        <p:txBody>
          <a:bodyPr wrap="square"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a:t>
            </a:r>
            <a:endParaRPr lang="en-US" sz="2600" dirty="0"/>
          </a:p>
        </p:txBody>
      </p:sp>
      <p:sp>
        <p:nvSpPr>
          <p:cNvPr id="36" name="Shape 28"/>
          <p:cNvSpPr/>
          <p:nvPr/>
        </p:nvSpPr>
        <p:spPr>
          <a:xfrm>
            <a:off x="10405872" y="2834640"/>
            <a:ext cx="1417320" cy="1737360"/>
          </a:xfrm>
          <a:prstGeom prst="roundRect">
            <a:avLst>
              <a:gd name="adj" fmla="val 6452"/>
            </a:avLst>
          </a:prstGeom>
          <a:solidFill>
            <a:srgbClr val="00B4D8"/>
          </a:solidFill>
          <a:ln/>
        </p:spPr>
      </p:sp>
      <p:sp>
        <p:nvSpPr>
          <p:cNvPr id="37" name="Shape 29"/>
          <p:cNvSpPr/>
          <p:nvPr/>
        </p:nvSpPr>
        <p:spPr>
          <a:xfrm>
            <a:off x="10821924" y="3035808"/>
            <a:ext cx="585216" cy="585216"/>
          </a:xfrm>
          <a:prstGeom prst="ellipse">
            <a:avLst/>
          </a:prstGeom>
          <a:solidFill>
            <a:srgbClr val="0B2545"/>
          </a:solidFill>
          <a:ln/>
        </p:spPr>
      </p:sp>
      <p:pic>
        <p:nvPicPr>
          <p:cNvPr id="38" name="Image 6" descr="/home/claude/churn_ppt/icons/bullseye_white.png"/>
          <p:cNvPicPr>
            <a:picLocks noChangeAspect="1"/>
          </p:cNvPicPr>
          <p:nvPr/>
        </p:nvPicPr>
        <p:blipFill>
          <a:blip r:embed="rId8"/>
          <a:stretch>
            <a:fillRect/>
          </a:stretch>
        </p:blipFill>
        <p:spPr>
          <a:xfrm>
            <a:off x="10915559" y="3129443"/>
            <a:ext cx="397947" cy="397947"/>
          </a:xfrm>
          <a:prstGeom prst="rect">
            <a:avLst/>
          </a:prstGeom>
        </p:spPr>
      </p:pic>
      <p:sp>
        <p:nvSpPr>
          <p:cNvPr id="39" name="Text 30"/>
          <p:cNvSpPr/>
          <p:nvPr/>
        </p:nvSpPr>
        <p:spPr>
          <a:xfrm>
            <a:off x="10451592" y="3749040"/>
            <a:ext cx="1325880" cy="685800"/>
          </a:xfrm>
          <a:prstGeom prst="rect">
            <a:avLst/>
          </a:prstGeom>
          <a:noFill/>
          <a:ln/>
        </p:spPr>
        <p:txBody>
          <a:bodyPr wrap="square"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p>
        </p:txBody>
      </p:sp>
      <p:sp>
        <p:nvSpPr>
          <p:cNvPr id="40" name="Text 31"/>
          <p:cNvSpPr/>
          <p:nvPr/>
        </p:nvSpPr>
        <p:spPr>
          <a:xfrm>
            <a:off x="1371600" y="5074920"/>
            <a:ext cx="9418320" cy="457200"/>
          </a:xfrm>
          <a:prstGeom prst="rect">
            <a:avLst/>
          </a:prstGeom>
          <a:noFill/>
          <a:ln/>
        </p:spPr>
        <p:txBody>
          <a:bodyPr wrap="square" rtlCol="0" anchor="ctr"/>
          <a:lstStyle/>
          <a:p>
            <a:pPr marL="0" indent="0" algn="ctr">
              <a:buNone/>
            </a:pPr>
            <a:r>
              <a:rPr lang="en-US" sz="1300" i="1" dirty="0">
                <a:solidFill>
                  <a:srgbClr val="AFC8E8"/>
                </a:solidFill>
                <a:latin typeface="Calibri" pitchFamily="34" charset="0"/>
                <a:ea typeface="Calibri" pitchFamily="34" charset="-122"/>
                <a:cs typeface="Calibri" pitchFamily="34" charset="-120"/>
              </a:rPr>
              <a:t>Each stage feeds the next — clean data drives better features, which drive stronger, more reliable predictions.</a:t>
            </a:r>
            <a:endParaRPr lang="en-US" sz="1300" dirty="0"/>
          </a:p>
        </p:txBody>
      </p:sp>
      <p:sp>
        <p:nvSpPr>
          <p:cNvPr id="41" name="Text 3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FEATURE ENGINEERING</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Strengthening the Feature Set</a:t>
            </a:r>
            <a:endParaRPr lang="en-US" sz="3000" dirty="0"/>
          </a:p>
        </p:txBody>
      </p:sp>
      <p:sp>
        <p:nvSpPr>
          <p:cNvPr id="4" name="Text 2"/>
          <p:cNvSpPr/>
          <p:nvPr/>
        </p:nvSpPr>
        <p:spPr>
          <a:xfrm>
            <a:off x="548640" y="1600200"/>
            <a:ext cx="5486400" cy="320040"/>
          </a:xfrm>
          <a:prstGeom prst="rect">
            <a:avLst/>
          </a:prstGeom>
          <a:noFill/>
          <a:ln/>
        </p:spPr>
        <p:txBody>
          <a:bodyPr wrap="square" rtlCol="0" anchor="ctr"/>
          <a:lstStyle/>
          <a:p>
            <a:pPr marL="0" indent="0">
              <a:buNone/>
            </a:pPr>
            <a:r>
              <a:rPr lang="en-US" sz="1400" b="1" dirty="0">
                <a:solidFill>
                  <a:srgbClr val="13315C"/>
                </a:solidFill>
                <a:latin typeface="Calibri" pitchFamily="34" charset="0"/>
                <a:ea typeface="Calibri" pitchFamily="34" charset="-122"/>
                <a:cs typeface="Calibri" pitchFamily="34" charset="-120"/>
              </a:rPr>
              <a:t>Encoding Categorical Data</a:t>
            </a:r>
            <a:endParaRPr lang="en-US" sz="1400" dirty="0"/>
          </a:p>
        </p:txBody>
      </p:sp>
      <p:sp>
        <p:nvSpPr>
          <p:cNvPr id="5" name="Text 3"/>
          <p:cNvSpPr/>
          <p:nvPr/>
        </p:nvSpPr>
        <p:spPr>
          <a:xfrm>
            <a:off x="548640" y="1920240"/>
            <a:ext cx="5486400" cy="914400"/>
          </a:xfrm>
          <a:prstGeom prst="rect">
            <a:avLst/>
          </a:prstGeom>
          <a:noFill/>
          <a:ln/>
        </p:spPr>
        <p:txBody>
          <a:bodyPr wrap="square" rtlCol="0" anchor="ctr"/>
          <a:lstStyle/>
          <a:p>
            <a:pPr marL="0" indent="0">
              <a:lnSpc>
                <a:spcPct val="120000"/>
              </a:lnSpc>
              <a:buNone/>
            </a:pPr>
            <a:r>
              <a:rPr lang="en-US" sz="1200" dirty="0">
                <a:solidFill>
                  <a:srgbClr val="333333"/>
                </a:solidFill>
                <a:latin typeface="Calibri" pitchFamily="34" charset="0"/>
                <a:ea typeface="Calibri" pitchFamily="34" charset="-122"/>
                <a:cs typeface="Calibri" pitchFamily="34" charset="-120"/>
              </a:rPr>
              <a:t>Machine learning algorithms cannot process text directly. Every categorical column was transformed using scikit-learn's LabelEncoder, converting values like "Yes"/"No" or contract types into numeric codes the models can learn from.</a:t>
            </a:r>
            <a:endParaRPr lang="en-US" sz="1200" dirty="0"/>
          </a:p>
        </p:txBody>
      </p:sp>
      <p:sp>
        <p:nvSpPr>
          <p:cNvPr id="6" name="Text 4"/>
          <p:cNvSpPr/>
          <p:nvPr/>
        </p:nvSpPr>
        <p:spPr>
          <a:xfrm>
            <a:off x="548640" y="2880360"/>
            <a:ext cx="5486400" cy="320040"/>
          </a:xfrm>
          <a:prstGeom prst="rect">
            <a:avLst/>
          </a:prstGeom>
          <a:noFill/>
          <a:ln/>
        </p:spPr>
        <p:txBody>
          <a:bodyPr wrap="square" rtlCol="0" anchor="ctr"/>
          <a:lstStyle/>
          <a:p>
            <a:pPr marL="0" indent="0">
              <a:buNone/>
            </a:pPr>
            <a:r>
              <a:rPr lang="en-US" sz="1400" b="1" dirty="0">
                <a:solidFill>
                  <a:srgbClr val="13315C"/>
                </a:solidFill>
                <a:latin typeface="Calibri" pitchFamily="34" charset="0"/>
                <a:ea typeface="Calibri" pitchFamily="34" charset="-122"/>
                <a:cs typeface="Calibri" pitchFamily="34" charset="-120"/>
              </a:rPr>
              <a:t>New Engineered Features</a:t>
            </a:r>
            <a:endParaRPr lang="en-US" sz="1400" dirty="0"/>
          </a:p>
        </p:txBody>
      </p:sp>
      <p:sp>
        <p:nvSpPr>
          <p:cNvPr id="7" name="Shape 5"/>
          <p:cNvSpPr/>
          <p:nvPr/>
        </p:nvSpPr>
        <p:spPr>
          <a:xfrm>
            <a:off x="594360" y="3255264"/>
            <a:ext cx="82296" cy="82296"/>
          </a:xfrm>
          <a:prstGeom prst="ellipse">
            <a:avLst/>
          </a:prstGeom>
          <a:solidFill>
            <a:srgbClr val="0090B0"/>
          </a:solidFill>
          <a:ln/>
        </p:spPr>
      </p:sp>
      <p:sp>
        <p:nvSpPr>
          <p:cNvPr id="8" name="Text 6"/>
          <p:cNvSpPr/>
          <p:nvPr/>
        </p:nvSpPr>
        <p:spPr>
          <a:xfrm>
            <a:off x="822960" y="3127248"/>
            <a:ext cx="5486400" cy="594360"/>
          </a:xfrm>
          <a:prstGeom prst="rect">
            <a:avLst/>
          </a:prstGeom>
          <a:noFill/>
          <a:ln/>
        </p:spPr>
        <p:txBody>
          <a:bodyPr wrap="square" rtlCol="0" anchor="ctr"/>
          <a:lstStyle/>
          <a:p>
            <a:pPr marL="0" indent="0">
              <a:lnSpc>
                <a:spcPct val="115000"/>
              </a:lnSpc>
              <a:buNone/>
            </a:pPr>
            <a:r>
              <a:rPr lang="en-US" sz="1150" b="1" dirty="0">
                <a:solidFill>
                  <a:srgbClr val="0B2545"/>
                </a:solidFill>
                <a:latin typeface="Calibri" pitchFamily="34" charset="0"/>
                <a:ea typeface="Calibri" pitchFamily="34" charset="-122"/>
                <a:cs typeface="Calibri" pitchFamily="34" charset="-120"/>
              </a:rPr>
              <a:t>LongTermCustomer — </a:t>
            </a:r>
            <a:r>
              <a:rPr lang="en-US" sz="1150" dirty="0">
                <a:solidFill>
                  <a:srgbClr val="333333"/>
                </a:solidFill>
                <a:latin typeface="Calibri" pitchFamily="34" charset="0"/>
                <a:ea typeface="Calibri" pitchFamily="34" charset="-122"/>
                <a:cs typeface="Calibri" pitchFamily="34" charset="-120"/>
              </a:rPr>
              <a:t>1 if tenure ≥ 24 months, else 0 — flags loyal, low-risk customers.</a:t>
            </a:r>
            <a:endParaRPr lang="en-US" sz="1150" dirty="0"/>
          </a:p>
        </p:txBody>
      </p:sp>
      <p:sp>
        <p:nvSpPr>
          <p:cNvPr id="9" name="Shape 7"/>
          <p:cNvSpPr/>
          <p:nvPr/>
        </p:nvSpPr>
        <p:spPr>
          <a:xfrm>
            <a:off x="594360" y="3877056"/>
            <a:ext cx="82296" cy="82296"/>
          </a:xfrm>
          <a:prstGeom prst="ellipse">
            <a:avLst/>
          </a:prstGeom>
          <a:solidFill>
            <a:srgbClr val="0090B0"/>
          </a:solidFill>
          <a:ln/>
        </p:spPr>
      </p:sp>
      <p:sp>
        <p:nvSpPr>
          <p:cNvPr id="10" name="Text 8"/>
          <p:cNvSpPr/>
          <p:nvPr/>
        </p:nvSpPr>
        <p:spPr>
          <a:xfrm>
            <a:off x="822960" y="3749040"/>
            <a:ext cx="5486400" cy="594360"/>
          </a:xfrm>
          <a:prstGeom prst="rect">
            <a:avLst/>
          </a:prstGeom>
          <a:noFill/>
          <a:ln/>
        </p:spPr>
        <p:txBody>
          <a:bodyPr wrap="square" rtlCol="0" anchor="ctr"/>
          <a:lstStyle/>
          <a:p>
            <a:pPr marL="0" indent="0">
              <a:lnSpc>
                <a:spcPct val="115000"/>
              </a:lnSpc>
              <a:buNone/>
            </a:pPr>
            <a:r>
              <a:rPr lang="en-US" sz="1150" b="1" dirty="0">
                <a:solidFill>
                  <a:srgbClr val="0B2545"/>
                </a:solidFill>
                <a:latin typeface="Calibri" pitchFamily="34" charset="0"/>
                <a:ea typeface="Calibri" pitchFamily="34" charset="-122"/>
                <a:cs typeface="Calibri" pitchFamily="34" charset="-120"/>
              </a:rPr>
              <a:t>HighMonthlyCharges — </a:t>
            </a:r>
            <a:r>
              <a:rPr lang="en-US" sz="1150" dirty="0">
                <a:solidFill>
                  <a:srgbClr val="333333"/>
                </a:solidFill>
                <a:latin typeface="Calibri" pitchFamily="34" charset="0"/>
                <a:ea typeface="Calibri" pitchFamily="34" charset="-122"/>
                <a:cs typeface="Calibri" pitchFamily="34" charset="-120"/>
              </a:rPr>
              <a:t>1 if MonthlyCharges is above the dataset median, else 0.</a:t>
            </a:r>
            <a:endParaRPr lang="en-US" sz="1150" dirty="0"/>
          </a:p>
        </p:txBody>
      </p:sp>
      <p:sp>
        <p:nvSpPr>
          <p:cNvPr id="11" name="Shape 9"/>
          <p:cNvSpPr/>
          <p:nvPr/>
        </p:nvSpPr>
        <p:spPr>
          <a:xfrm>
            <a:off x="594360" y="4498848"/>
            <a:ext cx="82296" cy="82296"/>
          </a:xfrm>
          <a:prstGeom prst="ellipse">
            <a:avLst/>
          </a:prstGeom>
          <a:solidFill>
            <a:srgbClr val="0090B0"/>
          </a:solidFill>
          <a:ln/>
        </p:spPr>
      </p:sp>
      <p:sp>
        <p:nvSpPr>
          <p:cNvPr id="12" name="Text 10"/>
          <p:cNvSpPr/>
          <p:nvPr/>
        </p:nvSpPr>
        <p:spPr>
          <a:xfrm>
            <a:off x="822960" y="4370832"/>
            <a:ext cx="5486400" cy="594360"/>
          </a:xfrm>
          <a:prstGeom prst="rect">
            <a:avLst/>
          </a:prstGeom>
          <a:noFill/>
          <a:ln/>
        </p:spPr>
        <p:txBody>
          <a:bodyPr wrap="square" rtlCol="0" anchor="ctr"/>
          <a:lstStyle/>
          <a:p>
            <a:pPr marL="0" indent="0">
              <a:lnSpc>
                <a:spcPct val="115000"/>
              </a:lnSpc>
              <a:buNone/>
            </a:pPr>
            <a:r>
              <a:rPr lang="en-US" sz="1150" b="1" dirty="0">
                <a:solidFill>
                  <a:srgbClr val="0B2545"/>
                </a:solidFill>
                <a:latin typeface="Calibri" pitchFamily="34" charset="0"/>
                <a:ea typeface="Calibri" pitchFamily="34" charset="-122"/>
                <a:cs typeface="Calibri" pitchFamily="34" charset="-120"/>
              </a:rPr>
              <a:t>AverageMonthlySpend — </a:t>
            </a:r>
            <a:r>
              <a:rPr lang="en-US" sz="1150" dirty="0">
                <a:solidFill>
                  <a:srgbClr val="333333"/>
                </a:solidFill>
                <a:latin typeface="Calibri" pitchFamily="34" charset="0"/>
                <a:ea typeface="Calibri" pitchFamily="34" charset="-122"/>
                <a:cs typeface="Calibri" pitchFamily="34" charset="-120"/>
              </a:rPr>
              <a:t>TotalCharges ÷ tenure — a normalized measure of typical spend.</a:t>
            </a:r>
            <a:endParaRPr lang="en-US" sz="1150" dirty="0"/>
          </a:p>
        </p:txBody>
      </p:sp>
      <p:sp>
        <p:nvSpPr>
          <p:cNvPr id="13" name="Text 11"/>
          <p:cNvSpPr/>
          <p:nvPr/>
        </p:nvSpPr>
        <p:spPr>
          <a:xfrm>
            <a:off x="548640" y="5257800"/>
            <a:ext cx="5486400" cy="320040"/>
          </a:xfrm>
          <a:prstGeom prst="rect">
            <a:avLst/>
          </a:prstGeom>
          <a:noFill/>
          <a:ln/>
        </p:spPr>
        <p:txBody>
          <a:bodyPr wrap="square" rtlCol="0" anchor="ctr"/>
          <a:lstStyle/>
          <a:p>
            <a:pPr marL="0" indent="0">
              <a:buNone/>
            </a:pPr>
            <a:r>
              <a:rPr lang="en-US" sz="1400" b="1" dirty="0">
                <a:solidFill>
                  <a:srgbClr val="13315C"/>
                </a:solidFill>
                <a:latin typeface="Calibri" pitchFamily="34" charset="0"/>
                <a:ea typeface="Calibri" pitchFamily="34" charset="-122"/>
                <a:cs typeface="Calibri" pitchFamily="34" charset="-120"/>
              </a:rPr>
              <a:t>Cross-Validation &amp; Split</a:t>
            </a:r>
            <a:endParaRPr lang="en-US" sz="1400" dirty="0"/>
          </a:p>
        </p:txBody>
      </p:sp>
      <p:sp>
        <p:nvSpPr>
          <p:cNvPr id="14" name="Text 12"/>
          <p:cNvSpPr/>
          <p:nvPr/>
        </p:nvSpPr>
        <p:spPr>
          <a:xfrm>
            <a:off x="548640" y="5577840"/>
            <a:ext cx="5486400" cy="640080"/>
          </a:xfrm>
          <a:prstGeom prst="rect">
            <a:avLst/>
          </a:prstGeom>
          <a:noFill/>
          <a:ln/>
        </p:spPr>
        <p:txBody>
          <a:bodyPr wrap="square" rtlCol="0" anchor="ctr"/>
          <a:lstStyle/>
          <a:p>
            <a:pPr marL="0" indent="0">
              <a:lnSpc>
                <a:spcPct val="115000"/>
              </a:lnSpc>
              <a:buNone/>
            </a:pPr>
            <a:r>
              <a:rPr lang="en-US" sz="1200" dirty="0">
                <a:solidFill>
                  <a:srgbClr val="333333"/>
                </a:solidFill>
                <a:latin typeface="Calibri" pitchFamily="34" charset="0"/>
                <a:ea typeface="Calibri" pitchFamily="34" charset="-122"/>
                <a:cs typeface="Calibri" pitchFamily="34" charset="-120"/>
              </a:rPr>
              <a:t>Data re-split 80:20 after feature engineering (5,625 train / 1,407 test rows); cross-validation was applied to Logistic Regression to check generalization stability.</a:t>
            </a:r>
            <a:endParaRPr lang="en-US" sz="1200" dirty="0"/>
          </a:p>
        </p:txBody>
      </p:sp>
      <p:sp>
        <p:nvSpPr>
          <p:cNvPr id="15" name="Shape 13"/>
          <p:cNvSpPr/>
          <p:nvPr/>
        </p:nvSpPr>
        <p:spPr>
          <a:xfrm>
            <a:off x="6400800" y="1600200"/>
            <a:ext cx="5212080" cy="1828800"/>
          </a:xfrm>
          <a:prstGeom prst="roundRect">
            <a:avLst>
              <a:gd name="adj" fmla="val 5000"/>
            </a:avLst>
          </a:prstGeom>
          <a:solidFill>
            <a:srgbClr val="EAF4FB"/>
          </a:solidFill>
          <a:ln/>
        </p:spPr>
      </p:sp>
      <p:sp>
        <p:nvSpPr>
          <p:cNvPr id="16" name="Text 14"/>
          <p:cNvSpPr/>
          <p:nvPr/>
        </p:nvSpPr>
        <p:spPr>
          <a:xfrm>
            <a:off x="6629400" y="1737360"/>
            <a:ext cx="3657600" cy="27432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Sample Engineered Values</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29400" y="2057400"/>
          <a:ext cx="4754880" cy="1234440"/>
        </p:xfrm>
        <a:graphic>
          <a:graphicData uri="http://schemas.openxmlformats.org/drawingml/2006/table">
            <a:tbl>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46888">
                <a:tc>
                  <a:txBody>
                    <a:bodyPr/>
                    <a:lstStyle/>
                    <a:p>
                      <a:pPr marL="0" indent="0" algn="ctr">
                        <a:buNone/>
                      </a:pPr>
                      <a:r>
                        <a:rPr lang="en-US" sz="1000" b="1" dirty="0">
                          <a:solidFill>
                            <a:srgbClr val="FFFFFF"/>
                          </a:solidFill>
                        </a:rPr>
                        <a:t>LongTerm</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000" b="1" dirty="0">
                          <a:solidFill>
                            <a:srgbClr val="FFFFFF"/>
                          </a:solidFill>
                        </a:rPr>
                        <a:t>HighCharges</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000" b="1" dirty="0">
                          <a:solidFill>
                            <a:srgbClr val="FFFFFF"/>
                          </a:solidFill>
                        </a:rPr>
                        <a:t>AvgMonthlySpend</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246888">
                <a:tc>
                  <a:txBody>
                    <a:bodyPr/>
                    <a:lstStyle/>
                    <a:p>
                      <a:pPr marL="0" indent="0" algn="ctr">
                        <a:buNone/>
                      </a:pPr>
                      <a:r>
                        <a:rPr lang="en-US" sz="1000" dirty="0">
                          <a:solidFill>
                            <a:srgbClr val="2C2C2C"/>
                          </a:solidFill>
                        </a:rPr>
                        <a:t>0</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0</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29.85</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lgn="ctr">
                        <a:buNone/>
                      </a:pPr>
                      <a:r>
                        <a:rPr lang="en-US" sz="1000" dirty="0">
                          <a:solidFill>
                            <a:srgbClr val="2C2C2C"/>
                          </a:solidFill>
                        </a:rPr>
                        <a:t>1</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0</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55.57</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lgn="ctr">
                        <a:buNone/>
                      </a:pPr>
                      <a:r>
                        <a:rPr lang="en-US" sz="1000" dirty="0">
                          <a:solidFill>
                            <a:srgbClr val="2C2C2C"/>
                          </a:solidFill>
                        </a:rPr>
                        <a:t>0</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0</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54.08</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lgn="ctr">
                        <a:buNone/>
                      </a:pPr>
                      <a:r>
                        <a:rPr lang="en-US" sz="1000" dirty="0">
                          <a:solidFill>
                            <a:srgbClr val="2C2C2C"/>
                          </a:solidFill>
                        </a:rPr>
                        <a:t>1</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0</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tc>
                  <a:txBody>
                    <a:bodyPr/>
                    <a:lstStyle/>
                    <a:p>
                      <a:pPr marL="0" indent="0" algn="ctr">
                        <a:buNone/>
                      </a:pPr>
                      <a:r>
                        <a:rPr lang="en-US" sz="1000" dirty="0">
                          <a:solidFill>
                            <a:srgbClr val="2C2C2C"/>
                          </a:solidFill>
                        </a:rPr>
                        <a:t>40.91</a:t>
                      </a:r>
                      <a:endParaRPr lang="en-US" sz="10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Shape 15"/>
          <p:cNvSpPr/>
          <p:nvPr/>
        </p:nvSpPr>
        <p:spPr>
          <a:xfrm>
            <a:off x="6400800" y="3657600"/>
            <a:ext cx="5212080" cy="2286000"/>
          </a:xfrm>
          <a:prstGeom prst="roundRect">
            <a:avLst>
              <a:gd name="adj" fmla="val 4000"/>
            </a:avLst>
          </a:prstGeom>
          <a:solidFill>
            <a:srgbClr val="FFFFFF"/>
          </a:solidFill>
          <a:ln w="12700">
            <a:solidFill>
              <a:srgbClr val="E1EAF2"/>
            </a:solidFill>
            <a:prstDash val="solid"/>
          </a:ln>
        </p:spPr>
      </p:sp>
      <p:sp>
        <p:nvSpPr>
          <p:cNvPr id="19" name="Shape 16"/>
          <p:cNvSpPr/>
          <p:nvPr/>
        </p:nvSpPr>
        <p:spPr>
          <a:xfrm>
            <a:off x="6675120" y="3886200"/>
            <a:ext cx="594360" cy="594360"/>
          </a:xfrm>
          <a:prstGeom prst="ellipse">
            <a:avLst/>
          </a:prstGeom>
          <a:solidFill>
            <a:srgbClr val="0B2545"/>
          </a:solidFill>
          <a:ln/>
        </p:spPr>
      </p:sp>
      <p:pic>
        <p:nvPicPr>
          <p:cNvPr id="20" name="Image 0" descr="/home/claude/churn_ppt/icons/lightbulb_white.png"/>
          <p:cNvPicPr>
            <a:picLocks noChangeAspect="1"/>
          </p:cNvPicPr>
          <p:nvPr/>
        </p:nvPicPr>
        <p:blipFill>
          <a:blip r:embed="rId3"/>
          <a:stretch>
            <a:fillRect/>
          </a:stretch>
        </p:blipFill>
        <p:spPr>
          <a:xfrm>
            <a:off x="6764274" y="3975354"/>
            <a:ext cx="416052" cy="416052"/>
          </a:xfrm>
          <a:prstGeom prst="rect">
            <a:avLst/>
          </a:prstGeom>
        </p:spPr>
      </p:pic>
      <p:sp>
        <p:nvSpPr>
          <p:cNvPr id="21" name="Text 17"/>
          <p:cNvSpPr/>
          <p:nvPr/>
        </p:nvSpPr>
        <p:spPr>
          <a:xfrm>
            <a:off x="7406640" y="3950208"/>
            <a:ext cx="4023360" cy="45720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Why Feature Engineering Matters</a:t>
            </a:r>
            <a:endParaRPr lang="en-US" sz="1300" dirty="0"/>
          </a:p>
        </p:txBody>
      </p:sp>
      <p:sp>
        <p:nvSpPr>
          <p:cNvPr id="22" name="Text 18"/>
          <p:cNvSpPr/>
          <p:nvPr/>
        </p:nvSpPr>
        <p:spPr>
          <a:xfrm>
            <a:off x="6675120" y="4572000"/>
            <a:ext cx="4709160" cy="1280160"/>
          </a:xfrm>
          <a:prstGeom prst="rect">
            <a:avLst/>
          </a:prstGeom>
          <a:noFill/>
          <a:ln/>
        </p:spPr>
        <p:txBody>
          <a:bodyPr wrap="square" rtlCol="0" anchor="ctr"/>
          <a:lstStyle/>
          <a:p>
            <a:pPr marL="0" indent="0">
              <a:lnSpc>
                <a:spcPct val="120000"/>
              </a:lnSpc>
              <a:buNone/>
            </a:pPr>
            <a:r>
              <a:rPr lang="en-US" sz="1150" dirty="0">
                <a:solidFill>
                  <a:srgbClr val="333333"/>
                </a:solidFill>
                <a:latin typeface="Calibri" pitchFamily="34" charset="0"/>
                <a:ea typeface="Calibri" pitchFamily="34" charset="-122"/>
                <a:cs typeface="Calibri" pitchFamily="34" charset="-120"/>
              </a:rPr>
              <a:t>Raw fields capture individual facts, but engineered features capture behavioural patterns — like loyalty and spend intensity — that raw columns alone don't express directly. This gives models extra, more predictive signal to learn from.</a:t>
            </a:r>
            <a:endParaRPr lang="en-US" sz="1150" dirty="0"/>
          </a:p>
        </p:txBody>
      </p:sp>
      <p:sp>
        <p:nvSpPr>
          <p:cNvPr id="23" name="Text 19"/>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MACHINE LEARNING MODELS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Models We Trained &amp; Compared</a:t>
            </a:r>
            <a:endParaRPr lang="en-US" sz="3000" dirty="0"/>
          </a:p>
        </p:txBody>
      </p:sp>
      <p:sp>
        <p:nvSpPr>
          <p:cNvPr id="4" name="Shape 2"/>
          <p:cNvSpPr/>
          <p:nvPr/>
        </p:nvSpPr>
        <p:spPr>
          <a:xfrm>
            <a:off x="548640" y="1737360"/>
            <a:ext cx="3520440" cy="4206240"/>
          </a:xfrm>
          <a:prstGeom prst="roundRect">
            <a:avLst>
              <a:gd name="adj" fmla="val 3117"/>
            </a:avLst>
          </a:prstGeom>
          <a:solidFill>
            <a:srgbClr val="EAF4FB"/>
          </a:solidFill>
          <a:ln/>
        </p:spPr>
      </p:sp>
      <p:sp>
        <p:nvSpPr>
          <p:cNvPr id="5" name="Shape 3"/>
          <p:cNvSpPr/>
          <p:nvPr/>
        </p:nvSpPr>
        <p:spPr>
          <a:xfrm>
            <a:off x="1805940" y="2057400"/>
            <a:ext cx="1005840" cy="1005840"/>
          </a:xfrm>
          <a:prstGeom prst="ellipse">
            <a:avLst/>
          </a:prstGeom>
          <a:solidFill>
            <a:srgbClr val="0B2545"/>
          </a:solidFill>
          <a:ln/>
        </p:spPr>
      </p:sp>
      <p:pic>
        <p:nvPicPr>
          <p:cNvPr id="6" name="Image 0" descr="/home/claude/churn_ppt/icons/chartLine_white.png"/>
          <p:cNvPicPr>
            <a:picLocks noChangeAspect="1"/>
          </p:cNvPicPr>
          <p:nvPr/>
        </p:nvPicPr>
        <p:blipFill>
          <a:blip r:embed="rId3"/>
          <a:stretch>
            <a:fillRect/>
          </a:stretch>
        </p:blipFill>
        <p:spPr>
          <a:xfrm>
            <a:off x="1956816" y="2208276"/>
            <a:ext cx="704088" cy="704088"/>
          </a:xfrm>
          <a:prstGeom prst="rect">
            <a:avLst/>
          </a:prstGeom>
        </p:spPr>
      </p:pic>
      <p:sp>
        <p:nvSpPr>
          <p:cNvPr id="7" name="Text 4"/>
          <p:cNvSpPr/>
          <p:nvPr/>
        </p:nvSpPr>
        <p:spPr>
          <a:xfrm>
            <a:off x="731520" y="3246120"/>
            <a:ext cx="3154680" cy="548640"/>
          </a:xfrm>
          <a:prstGeom prst="rect">
            <a:avLst/>
          </a:prstGeom>
          <a:noFill/>
          <a:ln/>
        </p:spPr>
        <p:txBody>
          <a:bodyPr wrap="square" rtlCol="0" anchor="ctr"/>
          <a:lstStyle/>
          <a:p>
            <a:pPr marL="0" indent="0" algn="ctr">
              <a:buNone/>
            </a:pPr>
            <a:r>
              <a:rPr lang="en-US" sz="1650" b="1" dirty="0">
                <a:solidFill>
                  <a:srgbClr val="0B2545"/>
                </a:solidFill>
                <a:latin typeface="Cambria" pitchFamily="34" charset="0"/>
                <a:ea typeface="Cambria" pitchFamily="34" charset="-122"/>
                <a:cs typeface="Cambria" pitchFamily="34" charset="-120"/>
              </a:rPr>
              <a:t>Logistic Regression</a:t>
            </a:r>
            <a:endParaRPr lang="en-US" sz="1650" dirty="0"/>
          </a:p>
        </p:txBody>
      </p:sp>
      <p:sp>
        <p:nvSpPr>
          <p:cNvPr id="8" name="Text 5"/>
          <p:cNvSpPr/>
          <p:nvPr/>
        </p:nvSpPr>
        <p:spPr>
          <a:xfrm>
            <a:off x="868680" y="3886200"/>
            <a:ext cx="2880360" cy="1645920"/>
          </a:xfrm>
          <a:prstGeom prst="rect">
            <a:avLst/>
          </a:prstGeom>
          <a:noFill/>
          <a:ln/>
        </p:spPr>
        <p:txBody>
          <a:bodyPr wrap="square" rtlCol="0" anchor="ctr"/>
          <a:lstStyle/>
          <a:p>
            <a:pPr marL="0" indent="0" algn="ctr">
              <a:lnSpc>
                <a:spcPct val="125000"/>
              </a:lnSpc>
              <a:buNone/>
            </a:pPr>
            <a:r>
              <a:rPr lang="en-US" sz="1200" dirty="0">
                <a:solidFill>
                  <a:srgbClr val="333333"/>
                </a:solidFill>
                <a:latin typeface="Calibri" pitchFamily="34" charset="0"/>
                <a:ea typeface="Calibri" pitchFamily="34" charset="-122"/>
                <a:cs typeface="Calibri" pitchFamily="34" charset="-120"/>
              </a:rPr>
              <a:t>A linear model estimating the probability of churn — fast, interpretable, and a strong baseline for binary classification.</a:t>
            </a:r>
            <a:endParaRPr lang="en-US" sz="1200" dirty="0"/>
          </a:p>
        </p:txBody>
      </p:sp>
      <p:sp>
        <p:nvSpPr>
          <p:cNvPr id="9" name="Shape 6"/>
          <p:cNvSpPr/>
          <p:nvPr/>
        </p:nvSpPr>
        <p:spPr>
          <a:xfrm>
            <a:off x="4343400" y="1737360"/>
            <a:ext cx="3520440" cy="4206240"/>
          </a:xfrm>
          <a:prstGeom prst="roundRect">
            <a:avLst>
              <a:gd name="adj" fmla="val 3117"/>
            </a:avLst>
          </a:prstGeom>
          <a:solidFill>
            <a:srgbClr val="EAF4FB"/>
          </a:solidFill>
          <a:ln/>
        </p:spPr>
      </p:sp>
      <p:sp>
        <p:nvSpPr>
          <p:cNvPr id="10" name="Shape 7"/>
          <p:cNvSpPr/>
          <p:nvPr/>
        </p:nvSpPr>
        <p:spPr>
          <a:xfrm>
            <a:off x="5600700" y="2057400"/>
            <a:ext cx="1005840" cy="1005840"/>
          </a:xfrm>
          <a:prstGeom prst="ellipse">
            <a:avLst/>
          </a:prstGeom>
          <a:solidFill>
            <a:srgbClr val="0B2545"/>
          </a:solidFill>
          <a:ln/>
        </p:spPr>
      </p:sp>
      <p:pic>
        <p:nvPicPr>
          <p:cNvPr id="11" name="Image 1" descr="/home/claude/churn_ppt/icons/sitemap_white.png"/>
          <p:cNvPicPr>
            <a:picLocks noChangeAspect="1"/>
          </p:cNvPicPr>
          <p:nvPr/>
        </p:nvPicPr>
        <p:blipFill>
          <a:blip r:embed="rId4"/>
          <a:stretch>
            <a:fillRect/>
          </a:stretch>
        </p:blipFill>
        <p:spPr>
          <a:xfrm>
            <a:off x="5751576" y="2208276"/>
            <a:ext cx="704088" cy="704088"/>
          </a:xfrm>
          <a:prstGeom prst="rect">
            <a:avLst/>
          </a:prstGeom>
        </p:spPr>
      </p:pic>
      <p:sp>
        <p:nvSpPr>
          <p:cNvPr id="12" name="Text 8"/>
          <p:cNvSpPr/>
          <p:nvPr/>
        </p:nvSpPr>
        <p:spPr>
          <a:xfrm>
            <a:off x="4526280" y="3246120"/>
            <a:ext cx="3154680" cy="548640"/>
          </a:xfrm>
          <a:prstGeom prst="rect">
            <a:avLst/>
          </a:prstGeom>
          <a:noFill/>
          <a:ln/>
        </p:spPr>
        <p:txBody>
          <a:bodyPr wrap="square" rtlCol="0" anchor="ctr"/>
          <a:lstStyle/>
          <a:p>
            <a:pPr marL="0" indent="0" algn="ctr">
              <a:buNone/>
            </a:pPr>
            <a:r>
              <a:rPr lang="en-US" sz="1650" b="1" dirty="0">
                <a:solidFill>
                  <a:srgbClr val="0B2545"/>
                </a:solidFill>
                <a:latin typeface="Cambria" pitchFamily="34" charset="0"/>
                <a:ea typeface="Cambria" pitchFamily="34" charset="-122"/>
                <a:cs typeface="Cambria" pitchFamily="34" charset="-120"/>
              </a:rPr>
              <a:t>Decision Tree</a:t>
            </a:r>
            <a:endParaRPr lang="en-US" sz="1650" dirty="0"/>
          </a:p>
        </p:txBody>
      </p:sp>
      <p:sp>
        <p:nvSpPr>
          <p:cNvPr id="13" name="Text 9"/>
          <p:cNvSpPr/>
          <p:nvPr/>
        </p:nvSpPr>
        <p:spPr>
          <a:xfrm>
            <a:off x="4663440" y="3886200"/>
            <a:ext cx="2880360" cy="1645920"/>
          </a:xfrm>
          <a:prstGeom prst="rect">
            <a:avLst/>
          </a:prstGeom>
          <a:noFill/>
          <a:ln/>
        </p:spPr>
        <p:txBody>
          <a:bodyPr wrap="square" rtlCol="0" anchor="ctr"/>
          <a:lstStyle/>
          <a:p>
            <a:pPr marL="0" indent="0" algn="ctr">
              <a:lnSpc>
                <a:spcPct val="125000"/>
              </a:lnSpc>
              <a:buNone/>
            </a:pPr>
            <a:r>
              <a:rPr lang="en-US" sz="1200" dirty="0">
                <a:solidFill>
                  <a:srgbClr val="333333"/>
                </a:solidFill>
                <a:latin typeface="Calibri" pitchFamily="34" charset="0"/>
                <a:ea typeface="Calibri" pitchFamily="34" charset="-122"/>
                <a:cs typeface="Calibri" pitchFamily="34" charset="-120"/>
              </a:rPr>
              <a:t>Splits customers into groups using a series of yes/no rules on feature values, producing an easily visualized decision path.</a:t>
            </a:r>
            <a:endParaRPr lang="en-US" sz="1200" dirty="0"/>
          </a:p>
        </p:txBody>
      </p:sp>
      <p:sp>
        <p:nvSpPr>
          <p:cNvPr id="14" name="Shape 10"/>
          <p:cNvSpPr/>
          <p:nvPr/>
        </p:nvSpPr>
        <p:spPr>
          <a:xfrm>
            <a:off x="8138160" y="1737360"/>
            <a:ext cx="3520440" cy="4206240"/>
          </a:xfrm>
          <a:prstGeom prst="roundRect">
            <a:avLst>
              <a:gd name="adj" fmla="val 3117"/>
            </a:avLst>
          </a:prstGeom>
          <a:solidFill>
            <a:srgbClr val="0B2545"/>
          </a:solidFill>
          <a:ln/>
        </p:spPr>
      </p:sp>
      <p:sp>
        <p:nvSpPr>
          <p:cNvPr id="15" name="Shape 11"/>
          <p:cNvSpPr/>
          <p:nvPr/>
        </p:nvSpPr>
        <p:spPr>
          <a:xfrm>
            <a:off x="9395460" y="2057400"/>
            <a:ext cx="1005840" cy="1005840"/>
          </a:xfrm>
          <a:prstGeom prst="ellipse">
            <a:avLst/>
          </a:prstGeom>
          <a:solidFill>
            <a:srgbClr val="00B4D8"/>
          </a:solidFill>
          <a:ln/>
        </p:spPr>
      </p:sp>
      <p:pic>
        <p:nvPicPr>
          <p:cNvPr id="16" name="Image 2" descr="/home/claude/churn_ppt/icons/tree_navy.png"/>
          <p:cNvPicPr>
            <a:picLocks noChangeAspect="1"/>
          </p:cNvPicPr>
          <p:nvPr/>
        </p:nvPicPr>
        <p:blipFill>
          <a:blip r:embed="rId5"/>
          <a:stretch>
            <a:fillRect/>
          </a:stretch>
        </p:blipFill>
        <p:spPr>
          <a:xfrm>
            <a:off x="9546336" y="2208276"/>
            <a:ext cx="704088" cy="704088"/>
          </a:xfrm>
          <a:prstGeom prst="rect">
            <a:avLst/>
          </a:prstGeom>
        </p:spPr>
      </p:pic>
      <p:sp>
        <p:nvSpPr>
          <p:cNvPr id="17" name="Text 12"/>
          <p:cNvSpPr/>
          <p:nvPr/>
        </p:nvSpPr>
        <p:spPr>
          <a:xfrm>
            <a:off x="8321040" y="3246120"/>
            <a:ext cx="3154680" cy="548640"/>
          </a:xfrm>
          <a:prstGeom prst="rect">
            <a:avLst/>
          </a:prstGeom>
          <a:noFill/>
          <a:ln/>
        </p:spPr>
        <p:txBody>
          <a:bodyPr wrap="square"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Random Forest</a:t>
            </a:r>
            <a:endParaRPr lang="en-US" sz="1650" dirty="0"/>
          </a:p>
        </p:txBody>
      </p:sp>
      <p:sp>
        <p:nvSpPr>
          <p:cNvPr id="18" name="Text 13"/>
          <p:cNvSpPr/>
          <p:nvPr/>
        </p:nvSpPr>
        <p:spPr>
          <a:xfrm>
            <a:off x="8458200" y="3886200"/>
            <a:ext cx="2880360" cy="1645920"/>
          </a:xfrm>
          <a:prstGeom prst="rect">
            <a:avLst/>
          </a:prstGeom>
          <a:noFill/>
          <a:ln/>
        </p:spPr>
        <p:txBody>
          <a:bodyPr wrap="square" rtlCol="0" anchor="ctr"/>
          <a:lstStyle/>
          <a:p>
            <a:pPr marL="0" indent="0" algn="ctr">
              <a:lnSpc>
                <a:spcPct val="125000"/>
              </a:lnSpc>
              <a:buNone/>
            </a:pPr>
            <a:r>
              <a:rPr lang="en-US" sz="1200" dirty="0">
                <a:solidFill>
                  <a:srgbClr val="D8E6F2"/>
                </a:solidFill>
                <a:latin typeface="Calibri" pitchFamily="34" charset="0"/>
                <a:ea typeface="Calibri" pitchFamily="34" charset="-122"/>
                <a:cs typeface="Calibri" pitchFamily="34" charset="-120"/>
              </a:rPr>
              <a:t>An ensemble of many decision trees whose predictions are averaged, reducing overfitting and improving robustness.</a:t>
            </a:r>
            <a:endParaRPr lang="en-US" sz="1200" dirty="0"/>
          </a:p>
        </p:txBody>
      </p:sp>
      <p:sp>
        <p:nvSpPr>
          <p:cNvPr id="19" name="Shape 14"/>
          <p:cNvSpPr/>
          <p:nvPr/>
        </p:nvSpPr>
        <p:spPr>
          <a:xfrm>
            <a:off x="8915400" y="5394960"/>
            <a:ext cx="1965960" cy="365760"/>
          </a:xfrm>
          <a:prstGeom prst="roundRect">
            <a:avLst>
              <a:gd name="adj" fmla="val 50000"/>
            </a:avLst>
          </a:prstGeom>
          <a:solidFill>
            <a:srgbClr val="00B4D8"/>
          </a:solidFill>
          <a:ln/>
        </p:spPr>
      </p:sp>
      <p:sp>
        <p:nvSpPr>
          <p:cNvPr id="20" name="Text 15"/>
          <p:cNvSpPr/>
          <p:nvPr/>
        </p:nvSpPr>
        <p:spPr>
          <a:xfrm>
            <a:off x="8915400" y="5394960"/>
            <a:ext cx="1965960" cy="365760"/>
          </a:xfrm>
          <a:prstGeom prst="rect">
            <a:avLst/>
          </a:prstGeom>
          <a:noFill/>
          <a:ln/>
        </p:spPr>
        <p:txBody>
          <a:bodyPr wrap="square" rtlCol="0" anchor="ctr"/>
          <a:lstStyle/>
          <a:p>
            <a:pPr marL="0" indent="0" algn="ctr">
              <a:buNone/>
            </a:pPr>
            <a:r>
              <a:rPr lang="en-US" sz="1100" b="1" kern="0" spc="100" dirty="0">
                <a:solidFill>
                  <a:srgbClr val="0B2545"/>
                </a:solidFill>
                <a:latin typeface="Calibri" pitchFamily="34" charset="0"/>
                <a:ea typeface="Calibri" pitchFamily="34" charset="-122"/>
                <a:cs typeface="Calibri" pitchFamily="34" charset="-120"/>
              </a:rPr>
              <a:t>BEST PERFORMER</a:t>
            </a:r>
            <a:endParaRPr lang="en-US" sz="1100" dirty="0"/>
          </a:p>
        </p:txBody>
      </p:sp>
      <p:sp>
        <p:nvSpPr>
          <p:cNvPr id="21" name="Text 16"/>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MODEL EVALUATION METRICS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How We Measure Model Quality</a:t>
            </a:r>
            <a:endParaRPr lang="en-US" sz="3000" dirty="0"/>
          </a:p>
        </p:txBody>
      </p:sp>
      <p:sp>
        <p:nvSpPr>
          <p:cNvPr id="4" name="Shape 2"/>
          <p:cNvSpPr/>
          <p:nvPr/>
        </p:nvSpPr>
        <p:spPr>
          <a:xfrm>
            <a:off x="548640" y="1691640"/>
            <a:ext cx="2606040" cy="2103120"/>
          </a:xfrm>
          <a:prstGeom prst="roundRect">
            <a:avLst>
              <a:gd name="adj" fmla="val 4348"/>
            </a:avLst>
          </a:prstGeom>
          <a:solidFill>
            <a:srgbClr val="EAF4FB"/>
          </a:solidFill>
          <a:ln/>
        </p:spPr>
      </p:sp>
      <p:sp>
        <p:nvSpPr>
          <p:cNvPr id="5" name="Shape 3"/>
          <p:cNvSpPr/>
          <p:nvPr/>
        </p:nvSpPr>
        <p:spPr>
          <a:xfrm>
            <a:off x="1485900" y="1920240"/>
            <a:ext cx="731520" cy="731520"/>
          </a:xfrm>
          <a:prstGeom prst="ellipse">
            <a:avLst/>
          </a:prstGeom>
          <a:solidFill>
            <a:srgbClr val="0B2545"/>
          </a:solidFill>
          <a:ln/>
        </p:spPr>
      </p:sp>
      <p:pic>
        <p:nvPicPr>
          <p:cNvPr id="6" name="Image 0" descr="/home/claude/churn_ppt/icons/bullseye_white.png"/>
          <p:cNvPicPr>
            <a:picLocks noChangeAspect="1"/>
          </p:cNvPicPr>
          <p:nvPr/>
        </p:nvPicPr>
        <p:blipFill>
          <a:blip r:embed="rId3"/>
          <a:stretch>
            <a:fillRect/>
          </a:stretch>
        </p:blipFill>
        <p:spPr>
          <a:xfrm>
            <a:off x="1595628" y="2029968"/>
            <a:ext cx="512064" cy="512064"/>
          </a:xfrm>
          <a:prstGeom prst="rect">
            <a:avLst/>
          </a:prstGeom>
        </p:spPr>
      </p:pic>
      <p:sp>
        <p:nvSpPr>
          <p:cNvPr id="7" name="Text 4"/>
          <p:cNvSpPr/>
          <p:nvPr/>
        </p:nvSpPr>
        <p:spPr>
          <a:xfrm>
            <a:off x="685800" y="2743200"/>
            <a:ext cx="2331720" cy="32004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Accuracy</a:t>
            </a:r>
            <a:endParaRPr lang="en-US" sz="1400" dirty="0"/>
          </a:p>
        </p:txBody>
      </p:sp>
      <p:sp>
        <p:nvSpPr>
          <p:cNvPr id="8" name="Text 5"/>
          <p:cNvSpPr/>
          <p:nvPr/>
        </p:nvSpPr>
        <p:spPr>
          <a:xfrm>
            <a:off x="731520" y="3063240"/>
            <a:ext cx="2240280" cy="685800"/>
          </a:xfrm>
          <a:prstGeom prst="rect">
            <a:avLst/>
          </a:prstGeom>
          <a:noFill/>
          <a:ln/>
        </p:spPr>
        <p:txBody>
          <a:bodyPr wrap="square" rtlCol="0" anchor="ctr"/>
          <a:lstStyle/>
          <a:p>
            <a:pPr marL="0" indent="0" algn="ctr">
              <a:lnSpc>
                <a:spcPct val="115000"/>
              </a:lnSpc>
              <a:buNone/>
            </a:pPr>
            <a:r>
              <a:rPr lang="en-US" sz="1000" dirty="0">
                <a:solidFill>
                  <a:srgbClr val="333333"/>
                </a:solidFill>
                <a:latin typeface="Calibri" pitchFamily="34" charset="0"/>
                <a:ea typeface="Calibri" pitchFamily="34" charset="-122"/>
                <a:cs typeface="Calibri" pitchFamily="34" charset="-120"/>
              </a:rPr>
              <a:t>Overall % of predictions (churn and non-churn) that were correct.</a:t>
            </a:r>
            <a:endParaRPr lang="en-US" sz="1000" dirty="0"/>
          </a:p>
        </p:txBody>
      </p:sp>
      <p:sp>
        <p:nvSpPr>
          <p:cNvPr id="9" name="Shape 6"/>
          <p:cNvSpPr/>
          <p:nvPr/>
        </p:nvSpPr>
        <p:spPr>
          <a:xfrm>
            <a:off x="3383280" y="1691640"/>
            <a:ext cx="2606040" cy="2103120"/>
          </a:xfrm>
          <a:prstGeom prst="roundRect">
            <a:avLst>
              <a:gd name="adj" fmla="val 4348"/>
            </a:avLst>
          </a:prstGeom>
          <a:solidFill>
            <a:srgbClr val="EAF4FB"/>
          </a:solidFill>
          <a:ln/>
        </p:spPr>
      </p:sp>
      <p:sp>
        <p:nvSpPr>
          <p:cNvPr id="10" name="Shape 7"/>
          <p:cNvSpPr/>
          <p:nvPr/>
        </p:nvSpPr>
        <p:spPr>
          <a:xfrm>
            <a:off x="4320540" y="1920240"/>
            <a:ext cx="731520" cy="731520"/>
          </a:xfrm>
          <a:prstGeom prst="ellipse">
            <a:avLst/>
          </a:prstGeom>
          <a:solidFill>
            <a:srgbClr val="0B2545"/>
          </a:solidFill>
          <a:ln/>
        </p:spPr>
      </p:sp>
      <p:pic>
        <p:nvPicPr>
          <p:cNvPr id="11" name="Image 1" descr="/home/claude/churn_ppt/icons/target_white.png"/>
          <p:cNvPicPr>
            <a:picLocks noChangeAspect="1"/>
          </p:cNvPicPr>
          <p:nvPr/>
        </p:nvPicPr>
        <p:blipFill>
          <a:blip r:embed="rId3"/>
          <a:stretch>
            <a:fillRect/>
          </a:stretch>
        </p:blipFill>
        <p:spPr>
          <a:xfrm>
            <a:off x="4430268" y="2029968"/>
            <a:ext cx="512064" cy="512064"/>
          </a:xfrm>
          <a:prstGeom prst="rect">
            <a:avLst/>
          </a:prstGeom>
        </p:spPr>
      </p:pic>
      <p:sp>
        <p:nvSpPr>
          <p:cNvPr id="12" name="Text 8"/>
          <p:cNvSpPr/>
          <p:nvPr/>
        </p:nvSpPr>
        <p:spPr>
          <a:xfrm>
            <a:off x="3520440" y="2743200"/>
            <a:ext cx="2331720" cy="32004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Precision</a:t>
            </a:r>
            <a:endParaRPr lang="en-US" sz="1400" dirty="0"/>
          </a:p>
        </p:txBody>
      </p:sp>
      <p:sp>
        <p:nvSpPr>
          <p:cNvPr id="13" name="Text 9"/>
          <p:cNvSpPr/>
          <p:nvPr/>
        </p:nvSpPr>
        <p:spPr>
          <a:xfrm>
            <a:off x="3566160" y="3063240"/>
            <a:ext cx="2240280" cy="685800"/>
          </a:xfrm>
          <a:prstGeom prst="rect">
            <a:avLst/>
          </a:prstGeom>
          <a:noFill/>
          <a:ln/>
        </p:spPr>
        <p:txBody>
          <a:bodyPr wrap="square" rtlCol="0" anchor="ctr"/>
          <a:lstStyle/>
          <a:p>
            <a:pPr marL="0" indent="0" algn="ctr">
              <a:lnSpc>
                <a:spcPct val="115000"/>
              </a:lnSpc>
              <a:buNone/>
            </a:pPr>
            <a:r>
              <a:rPr lang="en-US" sz="1000" dirty="0">
                <a:solidFill>
                  <a:srgbClr val="333333"/>
                </a:solidFill>
                <a:latin typeface="Calibri" pitchFamily="34" charset="0"/>
                <a:ea typeface="Calibri" pitchFamily="34" charset="-122"/>
                <a:cs typeface="Calibri" pitchFamily="34" charset="-120"/>
              </a:rPr>
              <a:t>Of customers predicted to churn, what fraction actually churned.</a:t>
            </a:r>
            <a:endParaRPr lang="en-US" sz="1000" dirty="0"/>
          </a:p>
        </p:txBody>
      </p:sp>
      <p:sp>
        <p:nvSpPr>
          <p:cNvPr id="14" name="Shape 10"/>
          <p:cNvSpPr/>
          <p:nvPr/>
        </p:nvSpPr>
        <p:spPr>
          <a:xfrm>
            <a:off x="6217920" y="1691640"/>
            <a:ext cx="2606040" cy="2103120"/>
          </a:xfrm>
          <a:prstGeom prst="roundRect">
            <a:avLst>
              <a:gd name="adj" fmla="val 4348"/>
            </a:avLst>
          </a:prstGeom>
          <a:solidFill>
            <a:srgbClr val="EAF4FB"/>
          </a:solidFill>
          <a:ln/>
        </p:spPr>
      </p:sp>
      <p:sp>
        <p:nvSpPr>
          <p:cNvPr id="15" name="Shape 11"/>
          <p:cNvSpPr/>
          <p:nvPr/>
        </p:nvSpPr>
        <p:spPr>
          <a:xfrm>
            <a:off x="7155180" y="1920240"/>
            <a:ext cx="731520" cy="731520"/>
          </a:xfrm>
          <a:prstGeom prst="ellipse">
            <a:avLst/>
          </a:prstGeom>
          <a:solidFill>
            <a:srgbClr val="0B2545"/>
          </a:solidFill>
          <a:ln/>
        </p:spPr>
      </p:sp>
      <p:pic>
        <p:nvPicPr>
          <p:cNvPr id="16" name="Image 2" descr="/home/claude/churn_ppt/icons/search_white.png"/>
          <p:cNvPicPr>
            <a:picLocks noChangeAspect="1"/>
          </p:cNvPicPr>
          <p:nvPr/>
        </p:nvPicPr>
        <p:blipFill>
          <a:blip r:embed="rId4"/>
          <a:stretch>
            <a:fillRect/>
          </a:stretch>
        </p:blipFill>
        <p:spPr>
          <a:xfrm>
            <a:off x="7264908" y="2029968"/>
            <a:ext cx="512064" cy="512064"/>
          </a:xfrm>
          <a:prstGeom prst="rect">
            <a:avLst/>
          </a:prstGeom>
        </p:spPr>
      </p:pic>
      <p:sp>
        <p:nvSpPr>
          <p:cNvPr id="17" name="Text 12"/>
          <p:cNvSpPr/>
          <p:nvPr/>
        </p:nvSpPr>
        <p:spPr>
          <a:xfrm>
            <a:off x="6355080" y="2743200"/>
            <a:ext cx="2331720" cy="32004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Recall</a:t>
            </a:r>
            <a:endParaRPr lang="en-US" sz="1400" dirty="0"/>
          </a:p>
        </p:txBody>
      </p:sp>
      <p:sp>
        <p:nvSpPr>
          <p:cNvPr id="18" name="Text 13"/>
          <p:cNvSpPr/>
          <p:nvPr/>
        </p:nvSpPr>
        <p:spPr>
          <a:xfrm>
            <a:off x="6400800" y="3063240"/>
            <a:ext cx="2240280" cy="685800"/>
          </a:xfrm>
          <a:prstGeom prst="rect">
            <a:avLst/>
          </a:prstGeom>
          <a:noFill/>
          <a:ln/>
        </p:spPr>
        <p:txBody>
          <a:bodyPr wrap="square" rtlCol="0" anchor="ctr"/>
          <a:lstStyle/>
          <a:p>
            <a:pPr marL="0" indent="0" algn="ctr">
              <a:lnSpc>
                <a:spcPct val="115000"/>
              </a:lnSpc>
              <a:buNone/>
            </a:pPr>
            <a:r>
              <a:rPr lang="en-US" sz="1000" dirty="0">
                <a:solidFill>
                  <a:srgbClr val="333333"/>
                </a:solidFill>
                <a:latin typeface="Calibri" pitchFamily="34" charset="0"/>
                <a:ea typeface="Calibri" pitchFamily="34" charset="-122"/>
                <a:cs typeface="Calibri" pitchFamily="34" charset="-120"/>
              </a:rPr>
              <a:t>Of customers who actually churned, what fraction the model caught.</a:t>
            </a:r>
            <a:endParaRPr lang="en-US" sz="1000" dirty="0"/>
          </a:p>
        </p:txBody>
      </p:sp>
      <p:sp>
        <p:nvSpPr>
          <p:cNvPr id="19" name="Shape 14"/>
          <p:cNvSpPr/>
          <p:nvPr/>
        </p:nvSpPr>
        <p:spPr>
          <a:xfrm>
            <a:off x="9052560" y="1691640"/>
            <a:ext cx="2606040" cy="2103120"/>
          </a:xfrm>
          <a:prstGeom prst="roundRect">
            <a:avLst>
              <a:gd name="adj" fmla="val 4348"/>
            </a:avLst>
          </a:prstGeom>
          <a:solidFill>
            <a:srgbClr val="EAF4FB"/>
          </a:solidFill>
          <a:ln/>
        </p:spPr>
      </p:sp>
      <p:sp>
        <p:nvSpPr>
          <p:cNvPr id="20" name="Shape 15"/>
          <p:cNvSpPr/>
          <p:nvPr/>
        </p:nvSpPr>
        <p:spPr>
          <a:xfrm>
            <a:off x="9989820" y="1920240"/>
            <a:ext cx="731520" cy="731520"/>
          </a:xfrm>
          <a:prstGeom prst="ellipse">
            <a:avLst/>
          </a:prstGeom>
          <a:solidFill>
            <a:srgbClr val="0B2545"/>
          </a:solidFill>
          <a:ln/>
        </p:spPr>
      </p:sp>
      <p:pic>
        <p:nvPicPr>
          <p:cNvPr id="21" name="Image 3" descr="/home/claude/churn_ppt/icons/balanceScale_white.png"/>
          <p:cNvPicPr>
            <a:picLocks noChangeAspect="1"/>
          </p:cNvPicPr>
          <p:nvPr/>
        </p:nvPicPr>
        <p:blipFill>
          <a:blip r:embed="rId5"/>
          <a:stretch>
            <a:fillRect/>
          </a:stretch>
        </p:blipFill>
        <p:spPr>
          <a:xfrm>
            <a:off x="10099548" y="2029968"/>
            <a:ext cx="512064" cy="512064"/>
          </a:xfrm>
          <a:prstGeom prst="rect">
            <a:avLst/>
          </a:prstGeom>
        </p:spPr>
      </p:pic>
      <p:sp>
        <p:nvSpPr>
          <p:cNvPr id="22" name="Text 16"/>
          <p:cNvSpPr/>
          <p:nvPr/>
        </p:nvSpPr>
        <p:spPr>
          <a:xfrm>
            <a:off x="9189720" y="2743200"/>
            <a:ext cx="2331720" cy="320040"/>
          </a:xfrm>
          <a:prstGeom prst="rect">
            <a:avLst/>
          </a:prstGeom>
          <a:noFill/>
          <a:ln/>
        </p:spPr>
        <p:txBody>
          <a:bodyPr wrap="square"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F1 Score</a:t>
            </a:r>
            <a:endParaRPr lang="en-US" sz="1400" dirty="0"/>
          </a:p>
        </p:txBody>
      </p:sp>
      <p:sp>
        <p:nvSpPr>
          <p:cNvPr id="23" name="Text 17"/>
          <p:cNvSpPr/>
          <p:nvPr/>
        </p:nvSpPr>
        <p:spPr>
          <a:xfrm>
            <a:off x="9235440" y="3063240"/>
            <a:ext cx="2240280" cy="685800"/>
          </a:xfrm>
          <a:prstGeom prst="rect">
            <a:avLst/>
          </a:prstGeom>
          <a:noFill/>
          <a:ln/>
        </p:spPr>
        <p:txBody>
          <a:bodyPr wrap="square" rtlCol="0" anchor="ctr"/>
          <a:lstStyle/>
          <a:p>
            <a:pPr marL="0" indent="0" algn="ctr">
              <a:lnSpc>
                <a:spcPct val="115000"/>
              </a:lnSpc>
              <a:buNone/>
            </a:pPr>
            <a:r>
              <a:rPr lang="en-US" sz="1000" dirty="0">
                <a:solidFill>
                  <a:srgbClr val="333333"/>
                </a:solidFill>
                <a:latin typeface="Calibri" pitchFamily="34" charset="0"/>
                <a:ea typeface="Calibri" pitchFamily="34" charset="-122"/>
                <a:cs typeface="Calibri" pitchFamily="34" charset="-120"/>
              </a:rPr>
              <a:t>The harmonic mean of precision and recall — a single balanced score.</a:t>
            </a:r>
            <a:endParaRPr lang="en-US" sz="1000" dirty="0"/>
          </a:p>
        </p:txBody>
      </p:sp>
      <p:sp>
        <p:nvSpPr>
          <p:cNvPr id="24" name="Text 18"/>
          <p:cNvSpPr/>
          <p:nvPr/>
        </p:nvSpPr>
        <p:spPr>
          <a:xfrm>
            <a:off x="548640" y="4023360"/>
            <a:ext cx="4572000" cy="320040"/>
          </a:xfrm>
          <a:prstGeom prst="rect">
            <a:avLst/>
          </a:prstGeom>
          <a:noFill/>
          <a:ln/>
        </p:spPr>
        <p:txBody>
          <a:bodyPr wrap="square" rtlCol="0" anchor="ctr"/>
          <a:lstStyle/>
          <a:p>
            <a:pPr marL="0" indent="0">
              <a:buNone/>
            </a:pPr>
            <a:r>
              <a:rPr lang="en-US" sz="1400" b="1" dirty="0">
                <a:solidFill>
                  <a:srgbClr val="13315C"/>
                </a:solidFill>
                <a:latin typeface="Calibri" pitchFamily="34" charset="0"/>
                <a:ea typeface="Calibri" pitchFamily="34" charset="-122"/>
                <a:cs typeface="Calibri" pitchFamily="34" charset="-120"/>
              </a:rPr>
              <a:t>The Confusion Matrix</a:t>
            </a:r>
            <a:endParaRPr lang="en-US" sz="1400" dirty="0"/>
          </a:p>
        </p:txBody>
      </p:sp>
      <p:sp>
        <p:nvSpPr>
          <p:cNvPr id="25" name="Shape 19"/>
          <p:cNvSpPr/>
          <p:nvPr/>
        </p:nvSpPr>
        <p:spPr>
          <a:xfrm>
            <a:off x="548640" y="4389120"/>
            <a:ext cx="1051560" cy="1051560"/>
          </a:xfrm>
          <a:prstGeom prst="roundRect">
            <a:avLst>
              <a:gd name="adj" fmla="val 5217"/>
            </a:avLst>
          </a:prstGeom>
          <a:solidFill>
            <a:srgbClr val="2E9E5B"/>
          </a:solidFill>
          <a:ln/>
        </p:spPr>
      </p:sp>
      <p:sp>
        <p:nvSpPr>
          <p:cNvPr id="26" name="Text 20"/>
          <p:cNvSpPr/>
          <p:nvPr/>
        </p:nvSpPr>
        <p:spPr>
          <a:xfrm>
            <a:off x="548640" y="4389120"/>
            <a:ext cx="1051560" cy="105156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True</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Negative</a:t>
            </a:r>
            <a:endParaRPr lang="en-US" sz="1050" dirty="0"/>
          </a:p>
        </p:txBody>
      </p:sp>
      <p:sp>
        <p:nvSpPr>
          <p:cNvPr id="27" name="Shape 21"/>
          <p:cNvSpPr/>
          <p:nvPr/>
        </p:nvSpPr>
        <p:spPr>
          <a:xfrm>
            <a:off x="1838108" y="4389120"/>
            <a:ext cx="886804" cy="1051560"/>
          </a:xfrm>
          <a:prstGeom prst="roundRect">
            <a:avLst>
              <a:gd name="adj" fmla="val 5217"/>
            </a:avLst>
          </a:prstGeom>
          <a:solidFill>
            <a:srgbClr val="E8A33D"/>
          </a:solidFill>
          <a:ln/>
        </p:spPr>
      </p:sp>
      <p:sp>
        <p:nvSpPr>
          <p:cNvPr id="28" name="Text 22"/>
          <p:cNvSpPr/>
          <p:nvPr/>
        </p:nvSpPr>
        <p:spPr>
          <a:xfrm>
            <a:off x="1838108" y="4389120"/>
            <a:ext cx="886804" cy="105156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False</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Positive</a:t>
            </a:r>
            <a:endParaRPr lang="en-US" sz="1050" dirty="0"/>
          </a:p>
        </p:txBody>
      </p:sp>
      <p:sp>
        <p:nvSpPr>
          <p:cNvPr id="29" name="Shape 23"/>
          <p:cNvSpPr/>
          <p:nvPr/>
        </p:nvSpPr>
        <p:spPr>
          <a:xfrm>
            <a:off x="548640" y="5513832"/>
            <a:ext cx="1051560" cy="1051560"/>
          </a:xfrm>
          <a:prstGeom prst="roundRect">
            <a:avLst>
              <a:gd name="adj" fmla="val 5217"/>
            </a:avLst>
          </a:prstGeom>
          <a:solidFill>
            <a:srgbClr val="D7263D"/>
          </a:solidFill>
          <a:ln/>
        </p:spPr>
      </p:sp>
      <p:sp>
        <p:nvSpPr>
          <p:cNvPr id="30" name="Text 24"/>
          <p:cNvSpPr/>
          <p:nvPr/>
        </p:nvSpPr>
        <p:spPr>
          <a:xfrm>
            <a:off x="548640" y="5513832"/>
            <a:ext cx="1051560" cy="105156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False</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Negative</a:t>
            </a:r>
            <a:endParaRPr lang="en-US" sz="1050" dirty="0"/>
          </a:p>
        </p:txBody>
      </p:sp>
      <p:sp>
        <p:nvSpPr>
          <p:cNvPr id="31" name="Shape 25"/>
          <p:cNvSpPr/>
          <p:nvPr/>
        </p:nvSpPr>
        <p:spPr>
          <a:xfrm>
            <a:off x="1838108" y="5513832"/>
            <a:ext cx="886804" cy="1051560"/>
          </a:xfrm>
          <a:prstGeom prst="roundRect">
            <a:avLst>
              <a:gd name="adj" fmla="val 5217"/>
            </a:avLst>
          </a:prstGeom>
          <a:solidFill>
            <a:srgbClr val="0090B0"/>
          </a:solidFill>
          <a:ln/>
        </p:spPr>
      </p:sp>
      <p:sp>
        <p:nvSpPr>
          <p:cNvPr id="32" name="Text 26"/>
          <p:cNvSpPr/>
          <p:nvPr/>
        </p:nvSpPr>
        <p:spPr>
          <a:xfrm>
            <a:off x="1838108" y="5513832"/>
            <a:ext cx="886804" cy="1051560"/>
          </a:xfrm>
          <a:prstGeom prst="rect">
            <a:avLst/>
          </a:prstGeom>
          <a:noFill/>
          <a:ln/>
        </p:spPr>
        <p:txBody>
          <a:bodyPr wrap="square"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True</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Positive</a:t>
            </a:r>
            <a:endParaRPr lang="en-US" sz="1050" dirty="0"/>
          </a:p>
        </p:txBody>
      </p:sp>
      <p:sp>
        <p:nvSpPr>
          <p:cNvPr id="33" name="Text 27"/>
          <p:cNvSpPr/>
          <p:nvPr/>
        </p:nvSpPr>
        <p:spPr>
          <a:xfrm>
            <a:off x="2134424" y="4590782"/>
            <a:ext cx="2176272" cy="256032"/>
          </a:xfrm>
          <a:prstGeom prst="rect">
            <a:avLst/>
          </a:prstGeom>
          <a:noFill/>
          <a:ln/>
        </p:spPr>
        <p:txBody>
          <a:bodyPr wrap="square" rtlCol="0" anchor="ctr"/>
          <a:lstStyle/>
          <a:p>
            <a:pPr marL="0" indent="0" algn="ctr">
              <a:buNone/>
            </a:pPr>
            <a:r>
              <a:rPr lang="en-US" sz="1000" i="1">
                <a:solidFill>
                  <a:srgbClr val="5A6B7B"/>
                </a:solidFill>
                <a:latin typeface="Calibri" pitchFamily="34" charset="0"/>
                <a:ea typeface="Calibri" pitchFamily="34" charset="-122"/>
                <a:cs typeface="Calibri" pitchFamily="34" charset="-120"/>
              </a:rPr>
              <a:t>Predicted →</a:t>
            </a:r>
            <a:endParaRPr lang="en-US" sz="1000"/>
          </a:p>
        </p:txBody>
      </p:sp>
      <p:sp>
        <p:nvSpPr>
          <p:cNvPr id="34" name="Text 28"/>
          <p:cNvSpPr/>
          <p:nvPr/>
        </p:nvSpPr>
        <p:spPr>
          <a:xfrm>
            <a:off x="2797569" y="4389120"/>
            <a:ext cx="3374631" cy="2103120"/>
          </a:xfrm>
          <a:prstGeom prst="rect">
            <a:avLst/>
          </a:prstGeom>
          <a:noFill/>
          <a:ln/>
        </p:spPr>
        <p:txBody>
          <a:bodyPr wrap="square" rtlCol="0" anchor="ctr"/>
          <a:lstStyle/>
          <a:p>
            <a:pPr marL="0" indent="0">
              <a:lnSpc>
                <a:spcPct val="120000"/>
              </a:lnSpc>
              <a:buNone/>
            </a:pPr>
            <a:r>
              <a:rPr lang="en-US" sz="1150" dirty="0">
                <a:solidFill>
                  <a:srgbClr val="333333"/>
                </a:solidFill>
                <a:latin typeface="Calibri" pitchFamily="34" charset="0"/>
                <a:ea typeface="Calibri" pitchFamily="34" charset="-122"/>
                <a:cs typeface="Calibri" pitchFamily="34" charset="-120"/>
              </a:rPr>
              <a:t>It compares predicted vs. actual churn outcomes, splitting results into four cells: correct predictions of both classes, and two types of error — false alarms and missed churners.</a:t>
            </a:r>
            <a:endParaRPr lang="en-US" sz="1150" dirty="0"/>
          </a:p>
        </p:txBody>
      </p:sp>
      <p:sp>
        <p:nvSpPr>
          <p:cNvPr id="35" name="Shape 29"/>
          <p:cNvSpPr/>
          <p:nvPr/>
        </p:nvSpPr>
        <p:spPr>
          <a:xfrm>
            <a:off x="6675120" y="4023360"/>
            <a:ext cx="4937760" cy="2377440"/>
          </a:xfrm>
          <a:prstGeom prst="roundRect">
            <a:avLst>
              <a:gd name="adj" fmla="val 3846"/>
            </a:avLst>
          </a:prstGeom>
          <a:solidFill>
            <a:srgbClr val="FFFFFF"/>
          </a:solidFill>
          <a:ln w="12700">
            <a:solidFill>
              <a:srgbClr val="E1EAF2"/>
            </a:solidFill>
            <a:prstDash val="solid"/>
          </a:ln>
        </p:spPr>
      </p:sp>
      <p:sp>
        <p:nvSpPr>
          <p:cNvPr id="36" name="Shape 30"/>
          <p:cNvSpPr/>
          <p:nvPr/>
        </p:nvSpPr>
        <p:spPr>
          <a:xfrm>
            <a:off x="6903720" y="4251960"/>
            <a:ext cx="548640" cy="548640"/>
          </a:xfrm>
          <a:prstGeom prst="ellipse">
            <a:avLst/>
          </a:prstGeom>
          <a:solidFill>
            <a:srgbClr val="0B2545"/>
          </a:solidFill>
          <a:ln/>
        </p:spPr>
      </p:sp>
      <p:pic>
        <p:nvPicPr>
          <p:cNvPr id="37" name="Image 4" descr="/home/claude/churn_ppt/icons/chartLine_white.png"/>
          <p:cNvPicPr>
            <a:picLocks noChangeAspect="1"/>
          </p:cNvPicPr>
          <p:nvPr/>
        </p:nvPicPr>
        <p:blipFill>
          <a:blip r:embed="rId6"/>
          <a:stretch>
            <a:fillRect/>
          </a:stretch>
        </p:blipFill>
        <p:spPr>
          <a:xfrm>
            <a:off x="6986016" y="4334256"/>
            <a:ext cx="384048" cy="384048"/>
          </a:xfrm>
          <a:prstGeom prst="rect">
            <a:avLst/>
          </a:prstGeom>
        </p:spPr>
      </p:pic>
      <p:sp>
        <p:nvSpPr>
          <p:cNvPr id="38" name="Text 31"/>
          <p:cNvSpPr/>
          <p:nvPr/>
        </p:nvSpPr>
        <p:spPr>
          <a:xfrm>
            <a:off x="7589520" y="4315968"/>
            <a:ext cx="384048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Beyond These Four Metrics</a:t>
            </a:r>
            <a:endParaRPr lang="en-US" sz="1300" dirty="0"/>
          </a:p>
        </p:txBody>
      </p:sp>
      <p:sp>
        <p:nvSpPr>
          <p:cNvPr id="39" name="Text 32"/>
          <p:cNvSpPr/>
          <p:nvPr/>
        </p:nvSpPr>
        <p:spPr>
          <a:xfrm>
            <a:off x="6903720" y="4846320"/>
            <a:ext cx="4480560" cy="1417320"/>
          </a:xfrm>
          <a:prstGeom prst="rect">
            <a:avLst/>
          </a:prstGeom>
          <a:noFill/>
          <a:ln/>
        </p:spPr>
        <p:txBody>
          <a:bodyPr wrap="square" rtlCol="0" anchor="ctr"/>
          <a:lstStyle/>
          <a:p>
            <a:pPr marL="0" indent="0">
              <a:lnSpc>
                <a:spcPct val="120000"/>
              </a:lnSpc>
              <a:buNone/>
            </a:pPr>
            <a:r>
              <a:rPr lang="en-US" sz="1150" dirty="0">
                <a:solidFill>
                  <a:srgbClr val="333333"/>
                </a:solidFill>
                <a:latin typeface="Calibri" pitchFamily="34" charset="0"/>
                <a:ea typeface="Calibri" pitchFamily="34" charset="-122"/>
                <a:cs typeface="Calibri" pitchFamily="34" charset="-120"/>
              </a:rPr>
              <a:t>ROC-AUC score is another common classification metric, measuring a model's ability to distinguish churners from non-churners across all thresholds. It is identified here as a planned extension for future evaluation (see Future Enhancements).</a:t>
            </a:r>
            <a:endParaRPr lang="en-US" sz="1150" dirty="0"/>
          </a:p>
        </p:txBody>
      </p:sp>
      <p:sp>
        <p:nvSpPr>
          <p:cNvPr id="40" name="Text 33"/>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RESULTS COMPARISON</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Model Performance Comparison</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15600" cy="1828800"/>
        </p:xfrm>
        <a:graphic>
          <a:graphicData uri="http://schemas.openxmlformats.org/drawingml/2006/table">
            <a:tbl>
              <a:tblPr/>
              <a:tblGrid>
                <a:gridCol w="33832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457200">
                <a:tc>
                  <a:txBody>
                    <a:bodyPr/>
                    <a:lstStyle/>
                    <a:p>
                      <a:pPr marL="0" indent="0" algn="ctr">
                        <a:buNone/>
                      </a:pPr>
                      <a:r>
                        <a:rPr lang="en-US" sz="1300" b="1" dirty="0">
                          <a:solidFill>
                            <a:srgbClr val="FFFFFF"/>
                          </a:solidFill>
                        </a:rPr>
                        <a:t>Model</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300" b="1" dirty="0">
                          <a:solidFill>
                            <a:srgbClr val="FFFFFF"/>
                          </a:solidFill>
                        </a:rPr>
                        <a:t>Accuracy</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300" b="1" dirty="0">
                          <a:solidFill>
                            <a:srgbClr val="FFFFFF"/>
                          </a:solidFill>
                        </a:rPr>
                        <a:t>Precision</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300" b="1" dirty="0">
                          <a:solidFill>
                            <a:srgbClr val="FFFFFF"/>
                          </a:solidFill>
                        </a:rPr>
                        <a:t>Recall</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tc>
                  <a:txBody>
                    <a:bodyPr/>
                    <a:lstStyle/>
                    <a:p>
                      <a:pPr marL="0" indent="0" algn="ctr">
                        <a:buNone/>
                      </a:pPr>
                      <a:r>
                        <a:rPr lang="en-US" sz="1300" b="1" dirty="0">
                          <a:solidFill>
                            <a:srgbClr val="FFFFFF"/>
                          </a:solidFill>
                        </a:rPr>
                        <a:t>F1 Score</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13315C"/>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2C2C2C"/>
                          </a:solidFill>
                        </a:rPr>
                        <a:t>Logistic Regression</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AF4FB"/>
                    </a:solidFill>
                  </a:tcPr>
                </a:tc>
                <a:tc>
                  <a:txBody>
                    <a:bodyPr/>
                    <a:lstStyle/>
                    <a:p>
                      <a:pPr marL="0" indent="0" algn="ctr">
                        <a:buNone/>
                      </a:pPr>
                      <a:r>
                        <a:rPr lang="en-US" sz="1300" dirty="0">
                          <a:solidFill>
                            <a:srgbClr val="2C2C2C"/>
                          </a:solidFill>
                        </a:rPr>
                        <a:t>78.54%</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AF4FB"/>
                    </a:solidFill>
                  </a:tcPr>
                </a:tc>
                <a:tc>
                  <a:txBody>
                    <a:bodyPr/>
                    <a:lstStyle/>
                    <a:p>
                      <a:pPr marL="0" indent="0" algn="ctr">
                        <a:buNone/>
                      </a:pPr>
                      <a:r>
                        <a:rPr lang="en-US" sz="1300" dirty="0">
                          <a:solidFill>
                            <a:srgbClr val="2C2C2C"/>
                          </a:solidFill>
                        </a:rPr>
                        <a:t>62.08%</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AF4FB"/>
                    </a:solidFill>
                  </a:tcPr>
                </a:tc>
                <a:tc>
                  <a:txBody>
                    <a:bodyPr/>
                    <a:lstStyle/>
                    <a:p>
                      <a:pPr marL="0" indent="0" algn="ctr">
                        <a:buNone/>
                      </a:pPr>
                      <a:r>
                        <a:rPr lang="en-US" sz="1300" dirty="0">
                          <a:solidFill>
                            <a:srgbClr val="2C2C2C"/>
                          </a:solidFill>
                        </a:rPr>
                        <a:t>49.47%</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AF4FB"/>
                    </a:solidFill>
                  </a:tcPr>
                </a:tc>
                <a:tc>
                  <a:txBody>
                    <a:bodyPr/>
                    <a:lstStyle/>
                    <a:p>
                      <a:pPr marL="0" indent="0" algn="ctr">
                        <a:buNone/>
                      </a:pPr>
                      <a:r>
                        <a:rPr lang="en-US" sz="1300" dirty="0">
                          <a:solidFill>
                            <a:srgbClr val="2C2C2C"/>
                          </a:solidFill>
                        </a:rPr>
                        <a:t>55.06%</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EAF4FB"/>
                    </a:solidFill>
                  </a:tcPr>
                </a:tc>
                <a:extLst>
                  <a:ext uri="{0D108BD9-81ED-4DB2-BD59-A6C34878D82A}">
                    <a16:rowId xmlns:a16="http://schemas.microsoft.com/office/drawing/2014/main" val="10001"/>
                  </a:ext>
                </a:extLst>
              </a:tr>
              <a:tr h="457200">
                <a:tc>
                  <a:txBody>
                    <a:bodyPr/>
                    <a:lstStyle/>
                    <a:p>
                      <a:pPr marL="0" indent="0" algn="l">
                        <a:buNone/>
                      </a:pPr>
                      <a:r>
                        <a:rPr lang="en-US" sz="1300" b="1" dirty="0">
                          <a:solidFill>
                            <a:srgbClr val="2C2C2C"/>
                          </a:solidFill>
                        </a:rPr>
                        <a:t>Decision Tree</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C2C2C"/>
                          </a:solidFill>
                        </a:rPr>
                        <a:t>72.49%</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C2C2C"/>
                          </a:solidFill>
                        </a:rPr>
                        <a:t>48.38%</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C2C2C"/>
                          </a:solidFill>
                        </a:rPr>
                        <a:t>51.87%</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C2C2C"/>
                          </a:solidFill>
                        </a:rPr>
                        <a:t>50.06%</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300" b="1" dirty="0">
                          <a:solidFill>
                            <a:srgbClr val="FFFFFF"/>
                          </a:solidFill>
                        </a:rPr>
                        <a:t>Random Forest</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090B0"/>
                    </a:solidFill>
                  </a:tcPr>
                </a:tc>
                <a:tc>
                  <a:txBody>
                    <a:bodyPr/>
                    <a:lstStyle/>
                    <a:p>
                      <a:pPr marL="0" indent="0" algn="ctr">
                        <a:buNone/>
                      </a:pPr>
                      <a:r>
                        <a:rPr lang="en-US" sz="1300" b="1" dirty="0">
                          <a:solidFill>
                            <a:srgbClr val="FFFFFF"/>
                          </a:solidFill>
                        </a:rPr>
                        <a:t>79.25%</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090B0"/>
                    </a:solidFill>
                  </a:tcPr>
                </a:tc>
                <a:tc>
                  <a:txBody>
                    <a:bodyPr/>
                    <a:lstStyle/>
                    <a:p>
                      <a:pPr marL="0" indent="0" algn="ctr">
                        <a:buNone/>
                      </a:pPr>
                      <a:r>
                        <a:rPr lang="en-US" sz="1300" b="1" dirty="0">
                          <a:solidFill>
                            <a:srgbClr val="FFFFFF"/>
                          </a:solidFill>
                        </a:rPr>
                        <a:t>64.44%</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090B0"/>
                    </a:solidFill>
                  </a:tcPr>
                </a:tc>
                <a:tc>
                  <a:txBody>
                    <a:bodyPr/>
                    <a:lstStyle/>
                    <a:p>
                      <a:pPr marL="0" indent="0" algn="ctr">
                        <a:buNone/>
                      </a:pPr>
                      <a:r>
                        <a:rPr lang="en-US" sz="1300" b="1" dirty="0">
                          <a:solidFill>
                            <a:srgbClr val="FFFFFF"/>
                          </a:solidFill>
                        </a:rPr>
                        <a:t>48.93%</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090B0"/>
                    </a:solidFill>
                  </a:tcPr>
                </a:tc>
                <a:tc>
                  <a:txBody>
                    <a:bodyPr/>
                    <a:lstStyle/>
                    <a:p>
                      <a:pPr marL="0" indent="0" algn="ctr">
                        <a:buNone/>
                      </a:pPr>
                      <a:r>
                        <a:rPr lang="en-US" sz="1300" b="1" dirty="0">
                          <a:solidFill>
                            <a:srgbClr val="FFFFFF"/>
                          </a:solidFill>
                        </a:rPr>
                        <a:t>55.62%</a:t>
                      </a:r>
                      <a:endParaRPr lang="en-US" sz="1300" dirty="0"/>
                    </a:p>
                  </a:txBody>
                  <a:tcPr anchor="ctr">
                    <a:lnL w="9525" cap="flat" cmpd="sng" algn="ctr">
                      <a:solidFill>
                        <a:srgbClr val="D9E4EC"/>
                      </a:solidFill>
                      <a:prstDash val="solid"/>
                      <a:round/>
                      <a:headEnd type="none" w="med" len="med"/>
                      <a:tailEnd type="none" w="med" len="med"/>
                    </a:lnL>
                    <a:lnR w="9525" cap="flat" cmpd="sng" algn="ctr">
                      <a:solidFill>
                        <a:srgbClr val="D9E4EC"/>
                      </a:solidFill>
                      <a:prstDash val="solid"/>
                      <a:round/>
                      <a:headEnd type="none" w="med" len="med"/>
                      <a:tailEnd type="none" w="med" len="med"/>
                    </a:lnR>
                    <a:lnT w="9525" cap="flat" cmpd="sng" algn="ctr">
                      <a:solidFill>
                        <a:srgbClr val="D9E4EC"/>
                      </a:solidFill>
                      <a:prstDash val="solid"/>
                      <a:round/>
                      <a:headEnd type="none" w="med" len="med"/>
                      <a:tailEnd type="none" w="med" len="med"/>
                    </a:lnT>
                    <a:lnB w="9525" cap="flat" cmpd="sng" algn="ctr">
                      <a:solidFill>
                        <a:srgbClr val="D9E4EC"/>
                      </a:solidFill>
                      <a:prstDash val="solid"/>
                      <a:round/>
                      <a:headEnd type="none" w="med" len="med"/>
                      <a:tailEnd type="none" w="med" len="med"/>
                    </a:lnB>
                    <a:solidFill>
                      <a:srgbClr val="0090B0"/>
                    </a:solidFill>
                  </a:tcPr>
                </a:tc>
                <a:extLst>
                  <a:ext uri="{0D108BD9-81ED-4DB2-BD59-A6C34878D82A}">
                    <a16:rowId xmlns:a16="http://schemas.microsoft.com/office/drawing/2014/main" val="10003"/>
                  </a:ext>
                </a:extLst>
              </a:tr>
            </a:tbl>
          </a:graphicData>
        </a:graphic>
      </p:graphicFrame>
      <p:sp>
        <p:nvSpPr>
          <p:cNvPr id="5" name="Shape 2"/>
          <p:cNvSpPr/>
          <p:nvPr/>
        </p:nvSpPr>
        <p:spPr>
          <a:xfrm>
            <a:off x="822960" y="3886200"/>
            <a:ext cx="10515600" cy="502920"/>
          </a:xfrm>
          <a:prstGeom prst="roundRect">
            <a:avLst>
              <a:gd name="adj" fmla="val 54545"/>
            </a:avLst>
          </a:prstGeom>
          <a:solidFill>
            <a:srgbClr val="EAF4FB"/>
          </a:solidFill>
          <a:ln/>
        </p:spPr>
      </p:sp>
      <p:sp>
        <p:nvSpPr>
          <p:cNvPr id="6" name="Shape 3"/>
          <p:cNvSpPr/>
          <p:nvPr/>
        </p:nvSpPr>
        <p:spPr>
          <a:xfrm>
            <a:off x="914400" y="3913632"/>
            <a:ext cx="457200" cy="457200"/>
          </a:xfrm>
          <a:prstGeom prst="ellipse">
            <a:avLst/>
          </a:prstGeom>
          <a:solidFill>
            <a:srgbClr val="2E9E5B"/>
          </a:solidFill>
          <a:ln/>
        </p:spPr>
      </p:sp>
      <p:pic>
        <p:nvPicPr>
          <p:cNvPr id="7" name="Image 0" descr="/home/claude/churn_ppt/icons/check_white.png"/>
          <p:cNvPicPr>
            <a:picLocks noChangeAspect="1"/>
          </p:cNvPicPr>
          <p:nvPr/>
        </p:nvPicPr>
        <p:blipFill>
          <a:blip r:embed="rId3"/>
          <a:stretch>
            <a:fillRect/>
          </a:stretch>
        </p:blipFill>
        <p:spPr>
          <a:xfrm>
            <a:off x="978408" y="3977640"/>
            <a:ext cx="329184" cy="329184"/>
          </a:xfrm>
          <a:prstGeom prst="rect">
            <a:avLst/>
          </a:prstGeom>
        </p:spPr>
      </p:pic>
      <p:sp>
        <p:nvSpPr>
          <p:cNvPr id="8" name="Text 4"/>
          <p:cNvSpPr/>
          <p:nvPr/>
        </p:nvSpPr>
        <p:spPr>
          <a:xfrm>
            <a:off x="1508760" y="3886200"/>
            <a:ext cx="9601200" cy="50292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Best-performing model: </a:t>
            </a:r>
            <a:r>
              <a:rPr lang="en-US" sz="1250" dirty="0">
                <a:solidFill>
                  <a:srgbClr val="2C2C2C"/>
                </a:solidFill>
                <a:latin typeface="Calibri" pitchFamily="34" charset="0"/>
                <a:ea typeface="Calibri" pitchFamily="34" charset="-122"/>
                <a:cs typeface="Calibri" pitchFamily="34" charset="-120"/>
              </a:rPr>
              <a:t>Random Forest — highest accuracy (79.25%), highest precision (64.44%), and the best overall F1-score (55.62%).</a:t>
            </a:r>
            <a:endParaRPr lang="en-US" sz="1250" dirty="0"/>
          </a:p>
        </p:txBody>
      </p:sp>
      <p:graphicFrame>
        <p:nvGraphicFramePr>
          <p:cNvPr id="9" name="Chart 0"/>
          <p:cNvGraphicFramePr/>
          <p:nvPr/>
        </p:nvGraphicFramePr>
        <p:xfrm>
          <a:off x="822960" y="4572000"/>
          <a:ext cx="10515600" cy="201168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5"/>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CONFUSION MATRICES</a:t>
            </a:r>
            <a:endParaRPr lang="en-US" sz="1300" dirty="0"/>
          </a:p>
        </p:txBody>
      </p:sp>
      <p:sp>
        <p:nvSpPr>
          <p:cNvPr id="3" name="Text 1"/>
          <p:cNvSpPr/>
          <p:nvPr/>
        </p:nvSpPr>
        <p:spPr>
          <a:xfrm>
            <a:off x="548640" y="635549"/>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Prediction Breakdown by Model</a:t>
            </a:r>
            <a:endParaRPr lang="en-US" sz="3000" dirty="0"/>
          </a:p>
        </p:txBody>
      </p:sp>
      <p:sp>
        <p:nvSpPr>
          <p:cNvPr id="4" name="Text 2"/>
          <p:cNvSpPr/>
          <p:nvPr/>
        </p:nvSpPr>
        <p:spPr>
          <a:xfrm>
            <a:off x="136748" y="1691640"/>
            <a:ext cx="3383280" cy="32004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Logistic Regression</a:t>
            </a:r>
            <a:endParaRPr lang="en-US" sz="1350" dirty="0"/>
          </a:p>
        </p:txBody>
      </p:sp>
      <p:sp>
        <p:nvSpPr>
          <p:cNvPr id="5" name="Shape 3"/>
          <p:cNvSpPr/>
          <p:nvPr/>
        </p:nvSpPr>
        <p:spPr>
          <a:xfrm>
            <a:off x="1051560" y="2148840"/>
            <a:ext cx="777240" cy="777240"/>
          </a:xfrm>
          <a:prstGeom prst="roundRect">
            <a:avLst>
              <a:gd name="adj" fmla="val 5882"/>
            </a:avLst>
          </a:prstGeom>
          <a:solidFill>
            <a:srgbClr val="2E9E5B"/>
          </a:solidFill>
          <a:ln/>
        </p:spPr>
      </p:sp>
      <p:sp>
        <p:nvSpPr>
          <p:cNvPr id="6" name="Text 4"/>
          <p:cNvSpPr/>
          <p:nvPr/>
        </p:nvSpPr>
        <p:spPr>
          <a:xfrm>
            <a:off x="1051560" y="2075688"/>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920</a:t>
            </a:r>
            <a:endParaRPr lang="en-US" sz="1700" dirty="0"/>
          </a:p>
        </p:txBody>
      </p:sp>
      <p:sp>
        <p:nvSpPr>
          <p:cNvPr id="7" name="Text 5"/>
          <p:cNvSpPr/>
          <p:nvPr/>
        </p:nvSpPr>
        <p:spPr>
          <a:xfrm>
            <a:off x="1051560" y="2532888"/>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True Neg.</a:t>
            </a:r>
            <a:endParaRPr lang="en-US" sz="750" dirty="0"/>
          </a:p>
        </p:txBody>
      </p:sp>
      <p:sp>
        <p:nvSpPr>
          <p:cNvPr id="8" name="Shape 6"/>
          <p:cNvSpPr/>
          <p:nvPr/>
        </p:nvSpPr>
        <p:spPr>
          <a:xfrm>
            <a:off x="1883664" y="2148840"/>
            <a:ext cx="777240" cy="777240"/>
          </a:xfrm>
          <a:prstGeom prst="roundRect">
            <a:avLst>
              <a:gd name="adj" fmla="val 5882"/>
            </a:avLst>
          </a:prstGeom>
          <a:solidFill>
            <a:srgbClr val="C9C9C9"/>
          </a:solidFill>
          <a:ln/>
        </p:spPr>
      </p:sp>
      <p:sp>
        <p:nvSpPr>
          <p:cNvPr id="9" name="Text 7"/>
          <p:cNvSpPr/>
          <p:nvPr/>
        </p:nvSpPr>
        <p:spPr>
          <a:xfrm>
            <a:off x="1883664" y="2075688"/>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113</a:t>
            </a:r>
            <a:endParaRPr lang="en-US" sz="1700" dirty="0"/>
          </a:p>
        </p:txBody>
      </p:sp>
      <p:sp>
        <p:nvSpPr>
          <p:cNvPr id="10" name="Text 8"/>
          <p:cNvSpPr/>
          <p:nvPr/>
        </p:nvSpPr>
        <p:spPr>
          <a:xfrm>
            <a:off x="1883664" y="2532888"/>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False Pos.</a:t>
            </a:r>
            <a:endParaRPr lang="en-US" sz="750" dirty="0"/>
          </a:p>
        </p:txBody>
      </p:sp>
      <p:sp>
        <p:nvSpPr>
          <p:cNvPr id="11" name="Shape 9"/>
          <p:cNvSpPr/>
          <p:nvPr/>
        </p:nvSpPr>
        <p:spPr>
          <a:xfrm>
            <a:off x="1051560" y="2980944"/>
            <a:ext cx="777240" cy="777240"/>
          </a:xfrm>
          <a:prstGeom prst="roundRect">
            <a:avLst>
              <a:gd name="adj" fmla="val 5882"/>
            </a:avLst>
          </a:prstGeom>
          <a:solidFill>
            <a:srgbClr val="C9C9C9"/>
          </a:solidFill>
          <a:ln/>
        </p:spPr>
      </p:sp>
      <p:sp>
        <p:nvSpPr>
          <p:cNvPr id="12" name="Text 10"/>
          <p:cNvSpPr/>
          <p:nvPr/>
        </p:nvSpPr>
        <p:spPr>
          <a:xfrm>
            <a:off x="1051560" y="2907792"/>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189</a:t>
            </a:r>
            <a:endParaRPr lang="en-US" sz="1700" dirty="0"/>
          </a:p>
        </p:txBody>
      </p:sp>
      <p:sp>
        <p:nvSpPr>
          <p:cNvPr id="13" name="Text 11"/>
          <p:cNvSpPr/>
          <p:nvPr/>
        </p:nvSpPr>
        <p:spPr>
          <a:xfrm>
            <a:off x="1051560" y="3364992"/>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False Neg.</a:t>
            </a:r>
            <a:endParaRPr lang="en-US" sz="750" dirty="0"/>
          </a:p>
        </p:txBody>
      </p:sp>
      <p:sp>
        <p:nvSpPr>
          <p:cNvPr id="14" name="Shape 12"/>
          <p:cNvSpPr/>
          <p:nvPr/>
        </p:nvSpPr>
        <p:spPr>
          <a:xfrm>
            <a:off x="1883664" y="2980944"/>
            <a:ext cx="777240" cy="777240"/>
          </a:xfrm>
          <a:prstGeom prst="roundRect">
            <a:avLst>
              <a:gd name="adj" fmla="val 5882"/>
            </a:avLst>
          </a:prstGeom>
          <a:solidFill>
            <a:srgbClr val="0090B0"/>
          </a:solidFill>
          <a:ln/>
        </p:spPr>
      </p:sp>
      <p:sp>
        <p:nvSpPr>
          <p:cNvPr id="15" name="Text 13"/>
          <p:cNvSpPr/>
          <p:nvPr/>
        </p:nvSpPr>
        <p:spPr>
          <a:xfrm>
            <a:off x="1883664" y="2907792"/>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185</a:t>
            </a:r>
            <a:endParaRPr lang="en-US" sz="1700" dirty="0"/>
          </a:p>
        </p:txBody>
      </p:sp>
      <p:sp>
        <p:nvSpPr>
          <p:cNvPr id="16" name="Text 14"/>
          <p:cNvSpPr/>
          <p:nvPr/>
        </p:nvSpPr>
        <p:spPr>
          <a:xfrm>
            <a:off x="1883664" y="3364992"/>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True Pos.</a:t>
            </a:r>
            <a:endParaRPr lang="en-US" sz="750" dirty="0"/>
          </a:p>
        </p:txBody>
      </p:sp>
      <p:sp>
        <p:nvSpPr>
          <p:cNvPr id="17" name="Text 15"/>
          <p:cNvSpPr/>
          <p:nvPr/>
        </p:nvSpPr>
        <p:spPr>
          <a:xfrm>
            <a:off x="188235" y="3858768"/>
            <a:ext cx="3383280" cy="228600"/>
          </a:xfrm>
          <a:prstGeom prst="rect">
            <a:avLst/>
          </a:prstGeom>
          <a:noFill/>
          <a:ln/>
        </p:spPr>
        <p:txBody>
          <a:bodyPr wrap="square" lIns="91440" tIns="45720" rIns="91440" bIns="45720" rtlCol="0" anchor="ctr"/>
          <a:lstStyle/>
          <a:p>
            <a:pPr marL="0" indent="0" algn="ctr">
              <a:buNone/>
            </a:pPr>
            <a:r>
              <a:rPr lang="en-US" sz="1050" i="1">
                <a:solidFill>
                  <a:srgbClr val="5A6B7B"/>
                </a:solidFill>
                <a:latin typeface="Calibri"/>
                <a:ea typeface="Calibri"/>
                <a:cs typeface="Calibri"/>
              </a:rPr>
              <a:t>Predicted: No | Ye</a:t>
            </a:r>
            <a:r>
              <a:rPr lang="en-US" sz="850" i="1">
                <a:solidFill>
                  <a:srgbClr val="5A6B7B"/>
                </a:solidFill>
                <a:latin typeface="Calibri"/>
                <a:ea typeface="Calibri"/>
                <a:cs typeface="Calibri"/>
              </a:rPr>
              <a:t>s</a:t>
            </a:r>
            <a:endParaRPr lang="en-US" sz="850">
              <a:latin typeface="Calibri"/>
              <a:ea typeface="Calibri"/>
              <a:cs typeface="Calibri"/>
            </a:endParaRPr>
          </a:p>
        </p:txBody>
      </p:sp>
      <p:sp>
        <p:nvSpPr>
          <p:cNvPr id="18" name="Text 16"/>
          <p:cNvSpPr/>
          <p:nvPr/>
        </p:nvSpPr>
        <p:spPr>
          <a:xfrm>
            <a:off x="4022948" y="1691640"/>
            <a:ext cx="3383280" cy="32004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Decision Tree</a:t>
            </a:r>
            <a:endParaRPr lang="en-US" sz="1350" dirty="0"/>
          </a:p>
        </p:txBody>
      </p:sp>
      <p:sp>
        <p:nvSpPr>
          <p:cNvPr id="19" name="Shape 17"/>
          <p:cNvSpPr/>
          <p:nvPr/>
        </p:nvSpPr>
        <p:spPr>
          <a:xfrm>
            <a:off x="4937760" y="2148840"/>
            <a:ext cx="777240" cy="777240"/>
          </a:xfrm>
          <a:prstGeom prst="roundRect">
            <a:avLst>
              <a:gd name="adj" fmla="val 5882"/>
            </a:avLst>
          </a:prstGeom>
          <a:solidFill>
            <a:srgbClr val="2E9E5B"/>
          </a:solidFill>
          <a:ln/>
        </p:spPr>
      </p:sp>
      <p:sp>
        <p:nvSpPr>
          <p:cNvPr id="20" name="Text 18"/>
          <p:cNvSpPr/>
          <p:nvPr/>
        </p:nvSpPr>
        <p:spPr>
          <a:xfrm>
            <a:off x="4937760" y="2075688"/>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826</a:t>
            </a:r>
            <a:endParaRPr lang="en-US" sz="1700" dirty="0"/>
          </a:p>
        </p:txBody>
      </p:sp>
      <p:sp>
        <p:nvSpPr>
          <p:cNvPr id="21" name="Text 19"/>
          <p:cNvSpPr/>
          <p:nvPr/>
        </p:nvSpPr>
        <p:spPr>
          <a:xfrm>
            <a:off x="4937760" y="2532888"/>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True Neg.</a:t>
            </a:r>
            <a:endParaRPr lang="en-US" sz="750" dirty="0"/>
          </a:p>
        </p:txBody>
      </p:sp>
      <p:sp>
        <p:nvSpPr>
          <p:cNvPr id="22" name="Shape 20"/>
          <p:cNvSpPr/>
          <p:nvPr/>
        </p:nvSpPr>
        <p:spPr>
          <a:xfrm>
            <a:off x="5769864" y="2148840"/>
            <a:ext cx="777240" cy="777240"/>
          </a:xfrm>
          <a:prstGeom prst="roundRect">
            <a:avLst>
              <a:gd name="adj" fmla="val 5882"/>
            </a:avLst>
          </a:prstGeom>
          <a:solidFill>
            <a:srgbClr val="C9C9C9"/>
          </a:solidFill>
          <a:ln/>
        </p:spPr>
      </p:sp>
      <p:sp>
        <p:nvSpPr>
          <p:cNvPr id="23" name="Text 21"/>
          <p:cNvSpPr/>
          <p:nvPr/>
        </p:nvSpPr>
        <p:spPr>
          <a:xfrm>
            <a:off x="5769864" y="2075688"/>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207</a:t>
            </a:r>
            <a:endParaRPr lang="en-US" sz="1700" dirty="0"/>
          </a:p>
        </p:txBody>
      </p:sp>
      <p:sp>
        <p:nvSpPr>
          <p:cNvPr id="24" name="Text 22"/>
          <p:cNvSpPr/>
          <p:nvPr/>
        </p:nvSpPr>
        <p:spPr>
          <a:xfrm>
            <a:off x="5769864" y="2532888"/>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False Pos.</a:t>
            </a:r>
            <a:endParaRPr lang="en-US" sz="750" dirty="0"/>
          </a:p>
        </p:txBody>
      </p:sp>
      <p:sp>
        <p:nvSpPr>
          <p:cNvPr id="25" name="Shape 23"/>
          <p:cNvSpPr/>
          <p:nvPr/>
        </p:nvSpPr>
        <p:spPr>
          <a:xfrm>
            <a:off x="4937760" y="2980944"/>
            <a:ext cx="777240" cy="777240"/>
          </a:xfrm>
          <a:prstGeom prst="roundRect">
            <a:avLst>
              <a:gd name="adj" fmla="val 5882"/>
            </a:avLst>
          </a:prstGeom>
          <a:solidFill>
            <a:srgbClr val="C9C9C9"/>
          </a:solidFill>
          <a:ln/>
        </p:spPr>
      </p:sp>
      <p:sp>
        <p:nvSpPr>
          <p:cNvPr id="26" name="Text 24"/>
          <p:cNvSpPr/>
          <p:nvPr/>
        </p:nvSpPr>
        <p:spPr>
          <a:xfrm>
            <a:off x="4937760" y="2907792"/>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180</a:t>
            </a:r>
            <a:endParaRPr lang="en-US" sz="1700" dirty="0"/>
          </a:p>
        </p:txBody>
      </p:sp>
      <p:sp>
        <p:nvSpPr>
          <p:cNvPr id="27" name="Text 25"/>
          <p:cNvSpPr/>
          <p:nvPr/>
        </p:nvSpPr>
        <p:spPr>
          <a:xfrm>
            <a:off x="4937760" y="3364992"/>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False Neg.</a:t>
            </a:r>
            <a:endParaRPr lang="en-US" sz="750" dirty="0"/>
          </a:p>
        </p:txBody>
      </p:sp>
      <p:sp>
        <p:nvSpPr>
          <p:cNvPr id="28" name="Shape 26"/>
          <p:cNvSpPr/>
          <p:nvPr/>
        </p:nvSpPr>
        <p:spPr>
          <a:xfrm>
            <a:off x="5769864" y="2980944"/>
            <a:ext cx="777240" cy="777240"/>
          </a:xfrm>
          <a:prstGeom prst="roundRect">
            <a:avLst>
              <a:gd name="adj" fmla="val 5882"/>
            </a:avLst>
          </a:prstGeom>
          <a:solidFill>
            <a:srgbClr val="E8A33D"/>
          </a:solidFill>
          <a:ln/>
        </p:spPr>
      </p:sp>
      <p:sp>
        <p:nvSpPr>
          <p:cNvPr id="29" name="Text 27"/>
          <p:cNvSpPr/>
          <p:nvPr/>
        </p:nvSpPr>
        <p:spPr>
          <a:xfrm>
            <a:off x="5769864" y="2907792"/>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194</a:t>
            </a:r>
            <a:endParaRPr lang="en-US" sz="1700" dirty="0"/>
          </a:p>
        </p:txBody>
      </p:sp>
      <p:sp>
        <p:nvSpPr>
          <p:cNvPr id="30" name="Text 28"/>
          <p:cNvSpPr/>
          <p:nvPr/>
        </p:nvSpPr>
        <p:spPr>
          <a:xfrm>
            <a:off x="5769864" y="3364992"/>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True Pos.</a:t>
            </a:r>
            <a:endParaRPr lang="en-US" sz="750" dirty="0"/>
          </a:p>
        </p:txBody>
      </p:sp>
      <p:sp>
        <p:nvSpPr>
          <p:cNvPr id="31" name="Text 29"/>
          <p:cNvSpPr/>
          <p:nvPr/>
        </p:nvSpPr>
        <p:spPr>
          <a:xfrm>
            <a:off x="4022948" y="3858768"/>
            <a:ext cx="3383280" cy="228600"/>
          </a:xfrm>
          <a:prstGeom prst="rect">
            <a:avLst/>
          </a:prstGeom>
          <a:noFill/>
          <a:ln/>
        </p:spPr>
        <p:txBody>
          <a:bodyPr wrap="square" lIns="91440" tIns="45720" rIns="91440" bIns="45720" rtlCol="0" anchor="ctr"/>
          <a:lstStyle/>
          <a:p>
            <a:pPr marL="0" indent="0" algn="ctr">
              <a:buNone/>
            </a:pPr>
            <a:r>
              <a:rPr lang="en-US" sz="1050" i="1">
                <a:solidFill>
                  <a:srgbClr val="5A6B7B"/>
                </a:solidFill>
                <a:latin typeface="Calibri"/>
                <a:ea typeface="Calibri"/>
                <a:cs typeface="Calibri"/>
              </a:rPr>
              <a:t>Predicted: No | Yes</a:t>
            </a:r>
            <a:endParaRPr lang="en-US" sz="1050">
              <a:latin typeface="Calibri"/>
              <a:ea typeface="Calibri"/>
              <a:cs typeface="Calibri"/>
            </a:endParaRPr>
          </a:p>
        </p:txBody>
      </p:sp>
      <p:sp>
        <p:nvSpPr>
          <p:cNvPr id="32" name="Text 30"/>
          <p:cNvSpPr/>
          <p:nvPr/>
        </p:nvSpPr>
        <p:spPr>
          <a:xfrm>
            <a:off x="7898851" y="1691640"/>
            <a:ext cx="3383280" cy="32004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Random Forest</a:t>
            </a:r>
            <a:endParaRPr lang="en-US" sz="1350" dirty="0"/>
          </a:p>
        </p:txBody>
      </p:sp>
      <p:sp>
        <p:nvSpPr>
          <p:cNvPr id="33" name="Shape 31"/>
          <p:cNvSpPr/>
          <p:nvPr/>
        </p:nvSpPr>
        <p:spPr>
          <a:xfrm>
            <a:off x="8823960" y="2148840"/>
            <a:ext cx="777240" cy="777240"/>
          </a:xfrm>
          <a:prstGeom prst="roundRect">
            <a:avLst>
              <a:gd name="adj" fmla="val 5882"/>
            </a:avLst>
          </a:prstGeom>
          <a:solidFill>
            <a:srgbClr val="2E9E5B"/>
          </a:solidFill>
          <a:ln/>
        </p:spPr>
      </p:sp>
      <p:sp>
        <p:nvSpPr>
          <p:cNvPr id="34" name="Text 32"/>
          <p:cNvSpPr/>
          <p:nvPr/>
        </p:nvSpPr>
        <p:spPr>
          <a:xfrm>
            <a:off x="8823960" y="2075688"/>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932</a:t>
            </a:r>
            <a:endParaRPr lang="en-US" sz="1700" dirty="0"/>
          </a:p>
        </p:txBody>
      </p:sp>
      <p:sp>
        <p:nvSpPr>
          <p:cNvPr id="35" name="Text 33"/>
          <p:cNvSpPr/>
          <p:nvPr/>
        </p:nvSpPr>
        <p:spPr>
          <a:xfrm>
            <a:off x="8823960" y="2532888"/>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True Neg.</a:t>
            </a:r>
            <a:endParaRPr lang="en-US" sz="750" dirty="0"/>
          </a:p>
        </p:txBody>
      </p:sp>
      <p:sp>
        <p:nvSpPr>
          <p:cNvPr id="36" name="Shape 34"/>
          <p:cNvSpPr/>
          <p:nvPr/>
        </p:nvSpPr>
        <p:spPr>
          <a:xfrm>
            <a:off x="9656064" y="2148840"/>
            <a:ext cx="777240" cy="777240"/>
          </a:xfrm>
          <a:prstGeom prst="roundRect">
            <a:avLst>
              <a:gd name="adj" fmla="val 5882"/>
            </a:avLst>
          </a:prstGeom>
          <a:solidFill>
            <a:srgbClr val="C9C9C9"/>
          </a:solidFill>
          <a:ln/>
        </p:spPr>
      </p:sp>
      <p:sp>
        <p:nvSpPr>
          <p:cNvPr id="37" name="Text 35"/>
          <p:cNvSpPr/>
          <p:nvPr/>
        </p:nvSpPr>
        <p:spPr>
          <a:xfrm>
            <a:off x="9656064" y="2075688"/>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101</a:t>
            </a:r>
            <a:endParaRPr lang="en-US" sz="1700" dirty="0"/>
          </a:p>
        </p:txBody>
      </p:sp>
      <p:sp>
        <p:nvSpPr>
          <p:cNvPr id="38" name="Text 36"/>
          <p:cNvSpPr/>
          <p:nvPr/>
        </p:nvSpPr>
        <p:spPr>
          <a:xfrm>
            <a:off x="9656064" y="2532888"/>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False Pos.</a:t>
            </a:r>
            <a:endParaRPr lang="en-US" sz="750" dirty="0"/>
          </a:p>
        </p:txBody>
      </p:sp>
      <p:sp>
        <p:nvSpPr>
          <p:cNvPr id="39" name="Shape 37"/>
          <p:cNvSpPr/>
          <p:nvPr/>
        </p:nvSpPr>
        <p:spPr>
          <a:xfrm>
            <a:off x="8823960" y="2980944"/>
            <a:ext cx="777240" cy="777240"/>
          </a:xfrm>
          <a:prstGeom prst="roundRect">
            <a:avLst>
              <a:gd name="adj" fmla="val 5882"/>
            </a:avLst>
          </a:prstGeom>
          <a:solidFill>
            <a:srgbClr val="C9C9C9"/>
          </a:solidFill>
          <a:ln/>
        </p:spPr>
      </p:sp>
      <p:sp>
        <p:nvSpPr>
          <p:cNvPr id="40" name="Text 38"/>
          <p:cNvSpPr/>
          <p:nvPr/>
        </p:nvSpPr>
        <p:spPr>
          <a:xfrm>
            <a:off x="8823960" y="2907792"/>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191</a:t>
            </a:r>
            <a:endParaRPr lang="en-US" sz="1700" dirty="0"/>
          </a:p>
        </p:txBody>
      </p:sp>
      <p:sp>
        <p:nvSpPr>
          <p:cNvPr id="41" name="Text 39"/>
          <p:cNvSpPr/>
          <p:nvPr/>
        </p:nvSpPr>
        <p:spPr>
          <a:xfrm>
            <a:off x="8823960" y="3364992"/>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False Neg.</a:t>
            </a:r>
            <a:endParaRPr lang="en-US" sz="750" dirty="0"/>
          </a:p>
        </p:txBody>
      </p:sp>
      <p:sp>
        <p:nvSpPr>
          <p:cNvPr id="42" name="Shape 40"/>
          <p:cNvSpPr/>
          <p:nvPr/>
        </p:nvSpPr>
        <p:spPr>
          <a:xfrm>
            <a:off x="9656064" y="2980944"/>
            <a:ext cx="777240" cy="777240"/>
          </a:xfrm>
          <a:prstGeom prst="roundRect">
            <a:avLst>
              <a:gd name="adj" fmla="val 5882"/>
            </a:avLst>
          </a:prstGeom>
          <a:solidFill>
            <a:srgbClr val="2E9E5B"/>
          </a:solidFill>
          <a:ln/>
        </p:spPr>
      </p:sp>
      <p:sp>
        <p:nvSpPr>
          <p:cNvPr id="43" name="Text 41"/>
          <p:cNvSpPr/>
          <p:nvPr/>
        </p:nvSpPr>
        <p:spPr>
          <a:xfrm>
            <a:off x="9656064" y="2907792"/>
            <a:ext cx="777240" cy="77724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183</a:t>
            </a:r>
            <a:endParaRPr lang="en-US" sz="1700" dirty="0"/>
          </a:p>
        </p:txBody>
      </p:sp>
      <p:sp>
        <p:nvSpPr>
          <p:cNvPr id="44" name="Text 42"/>
          <p:cNvSpPr/>
          <p:nvPr/>
        </p:nvSpPr>
        <p:spPr>
          <a:xfrm>
            <a:off x="9656064" y="3364992"/>
            <a:ext cx="77724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True Pos.</a:t>
            </a:r>
            <a:endParaRPr lang="en-US" sz="750" dirty="0"/>
          </a:p>
        </p:txBody>
      </p:sp>
      <p:sp>
        <p:nvSpPr>
          <p:cNvPr id="45" name="Text 43"/>
          <p:cNvSpPr/>
          <p:nvPr/>
        </p:nvSpPr>
        <p:spPr>
          <a:xfrm>
            <a:off x="7960635" y="3858768"/>
            <a:ext cx="3383280" cy="228600"/>
          </a:xfrm>
          <a:prstGeom prst="rect">
            <a:avLst/>
          </a:prstGeom>
          <a:noFill/>
          <a:ln/>
        </p:spPr>
        <p:txBody>
          <a:bodyPr wrap="square" lIns="91440" tIns="45720" rIns="91440" bIns="45720" rtlCol="0" anchor="ctr"/>
          <a:lstStyle/>
          <a:p>
            <a:pPr marL="0" indent="0" algn="ctr">
              <a:buNone/>
            </a:pPr>
            <a:r>
              <a:rPr lang="en-US" sz="1050" i="1">
                <a:solidFill>
                  <a:srgbClr val="5A6B7B"/>
                </a:solidFill>
                <a:latin typeface="Calibri"/>
                <a:ea typeface="Calibri"/>
                <a:cs typeface="Calibri"/>
              </a:rPr>
              <a:t>Predicted: No | Yes</a:t>
            </a:r>
            <a:endParaRPr lang="en-US" sz="1050">
              <a:latin typeface="Calibri"/>
              <a:ea typeface="Calibri"/>
              <a:cs typeface="Calibri"/>
            </a:endParaRPr>
          </a:p>
        </p:txBody>
      </p:sp>
      <p:sp>
        <p:nvSpPr>
          <p:cNvPr id="46" name="Shape 44"/>
          <p:cNvSpPr/>
          <p:nvPr/>
        </p:nvSpPr>
        <p:spPr>
          <a:xfrm>
            <a:off x="548640" y="4937760"/>
            <a:ext cx="11064240" cy="1417320"/>
          </a:xfrm>
          <a:prstGeom prst="roundRect">
            <a:avLst>
              <a:gd name="adj" fmla="val 6452"/>
            </a:avLst>
          </a:prstGeom>
          <a:solidFill>
            <a:srgbClr val="EAF4FB"/>
          </a:solidFill>
          <a:ln/>
        </p:spPr>
      </p:sp>
      <p:sp>
        <p:nvSpPr>
          <p:cNvPr id="47" name="Text 45"/>
          <p:cNvSpPr/>
          <p:nvPr/>
        </p:nvSpPr>
        <p:spPr>
          <a:xfrm>
            <a:off x="818429" y="4920461"/>
            <a:ext cx="10565851" cy="1404962"/>
          </a:xfrm>
          <a:prstGeom prst="rect">
            <a:avLst/>
          </a:prstGeom>
          <a:noFill/>
          <a:ln/>
        </p:spPr>
        <p:txBody>
          <a:bodyPr wrap="square" rtlCol="0" anchor="ctr"/>
          <a:lstStyle/>
          <a:p>
            <a:pPr marL="0" indent="0">
              <a:lnSpc>
                <a:spcPct val="125000"/>
              </a:lnSpc>
              <a:buNone/>
            </a:pPr>
            <a:r>
              <a:rPr lang="en-US" sz="1200" b="1" dirty="0">
                <a:solidFill>
                  <a:srgbClr val="0B2545"/>
                </a:solidFill>
                <a:latin typeface="Calibri" pitchFamily="34" charset="0"/>
                <a:ea typeface="Calibri" pitchFamily="34" charset="-122"/>
                <a:cs typeface="Calibri" pitchFamily="34" charset="-120"/>
              </a:rPr>
              <a:t>Interpretation:  </a:t>
            </a:r>
            <a:r>
              <a:rPr lang="en-US" sz="1200" dirty="0">
                <a:solidFill>
                  <a:srgbClr val="2C2C2C"/>
                </a:solidFill>
                <a:latin typeface="Calibri" pitchFamily="34" charset="0"/>
                <a:ea typeface="Calibri" pitchFamily="34" charset="-122"/>
                <a:cs typeface="Calibri" pitchFamily="34" charset="-120"/>
              </a:rPr>
              <a:t>Random Forest yields the fewest false positives (101) and the most true negatives (932), making it the most reliable at correctly identifying loyal customers. All three models still miss roughly 180-190 actual churners (false negatives) out of ~374 in the test set — reducing this recall gap is a key target for future tuning.</a:t>
            </a:r>
            <a:endParaRPr lang="en-US" sz="1200" dirty="0"/>
          </a:p>
        </p:txBody>
      </p:sp>
      <p:sp>
        <p:nvSpPr>
          <p:cNvPr id="48" name="Text 46"/>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CORRELATION ANALYSIS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What Correlates Most with Churn?</a:t>
            </a:r>
            <a:endParaRPr lang="en-US" sz="3000" dirty="0"/>
          </a:p>
        </p:txBody>
      </p:sp>
      <p:graphicFrame>
        <p:nvGraphicFramePr>
          <p:cNvPr id="4" name="Chart 0"/>
          <p:cNvGraphicFramePr/>
          <p:nvPr/>
        </p:nvGraphicFramePr>
        <p:xfrm>
          <a:off x="548640" y="1691640"/>
          <a:ext cx="6492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0" y="1691640"/>
            <a:ext cx="4297680" cy="4480560"/>
          </a:xfrm>
          <a:prstGeom prst="roundRect">
            <a:avLst>
              <a:gd name="adj" fmla="val 2128"/>
            </a:avLst>
          </a:prstGeom>
          <a:solidFill>
            <a:srgbClr val="EAF4FB"/>
          </a:solidFill>
          <a:ln/>
        </p:spPr>
      </p:sp>
      <p:sp>
        <p:nvSpPr>
          <p:cNvPr id="6" name="Shape 3"/>
          <p:cNvSpPr/>
          <p:nvPr/>
        </p:nvSpPr>
        <p:spPr>
          <a:xfrm>
            <a:off x="7543800" y="1920240"/>
            <a:ext cx="594360" cy="594360"/>
          </a:xfrm>
          <a:prstGeom prst="ellipse">
            <a:avLst/>
          </a:prstGeom>
          <a:solidFill>
            <a:srgbClr val="0B2545"/>
          </a:solidFill>
          <a:ln/>
        </p:spPr>
      </p:sp>
      <p:pic>
        <p:nvPicPr>
          <p:cNvPr id="7" name="Image 0" descr="/home/claude/churn_ppt/icons/chartBar_white.png"/>
          <p:cNvPicPr>
            <a:picLocks noChangeAspect="1"/>
          </p:cNvPicPr>
          <p:nvPr/>
        </p:nvPicPr>
        <p:blipFill>
          <a:blip r:embed="rId4"/>
          <a:stretch>
            <a:fillRect/>
          </a:stretch>
        </p:blipFill>
        <p:spPr>
          <a:xfrm>
            <a:off x="7632954" y="2009394"/>
            <a:ext cx="416052" cy="416052"/>
          </a:xfrm>
          <a:prstGeom prst="rect">
            <a:avLst/>
          </a:prstGeom>
        </p:spPr>
      </p:pic>
      <p:sp>
        <p:nvSpPr>
          <p:cNvPr id="8" name="Text 4"/>
          <p:cNvSpPr/>
          <p:nvPr/>
        </p:nvSpPr>
        <p:spPr>
          <a:xfrm>
            <a:off x="8321040" y="1993392"/>
            <a:ext cx="310896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Heatmap Takeaways</a:t>
            </a:r>
            <a:endParaRPr lang="en-US" sz="1400" dirty="0"/>
          </a:p>
        </p:txBody>
      </p:sp>
      <p:sp>
        <p:nvSpPr>
          <p:cNvPr id="9" name="Shape 5"/>
          <p:cNvSpPr/>
          <p:nvPr/>
        </p:nvSpPr>
        <p:spPr>
          <a:xfrm>
            <a:off x="7589520" y="2569464"/>
            <a:ext cx="73152" cy="73152"/>
          </a:xfrm>
          <a:prstGeom prst="ellipse">
            <a:avLst/>
          </a:prstGeom>
          <a:solidFill>
            <a:srgbClr val="0090B0"/>
          </a:solidFill>
          <a:ln/>
        </p:spPr>
      </p:sp>
      <p:sp>
        <p:nvSpPr>
          <p:cNvPr id="10" name="Text 6"/>
          <p:cNvSpPr/>
          <p:nvPr/>
        </p:nvSpPr>
        <p:spPr>
          <a:xfrm>
            <a:off x="7772400" y="2441448"/>
            <a:ext cx="3657600" cy="777240"/>
          </a:xfrm>
          <a:prstGeom prst="rect">
            <a:avLst/>
          </a:prstGeom>
          <a:noFill/>
          <a:ln/>
        </p:spPr>
        <p:txBody>
          <a:bodyPr wrap="square" rtlCol="0" anchor="ctr"/>
          <a:lstStyle/>
          <a:p>
            <a:pPr marL="0" indent="0">
              <a:lnSpc>
                <a:spcPct val="115000"/>
              </a:lnSpc>
              <a:buNone/>
            </a:pPr>
            <a:r>
              <a:rPr lang="en-US" sz="1100" dirty="0">
                <a:solidFill>
                  <a:srgbClr val="2C2C2C"/>
                </a:solidFill>
                <a:latin typeface="Calibri" pitchFamily="34" charset="0"/>
                <a:ea typeface="Calibri" pitchFamily="34" charset="-122"/>
                <a:cs typeface="Calibri" pitchFamily="34" charset="-120"/>
              </a:rPr>
              <a:t>Contract and Tenure show the strongest negative correlation with Churn — longer commitments and longer relationships both reduce churn risk.</a:t>
            </a:r>
            <a:endParaRPr lang="en-US" sz="1100" dirty="0"/>
          </a:p>
        </p:txBody>
      </p:sp>
      <p:sp>
        <p:nvSpPr>
          <p:cNvPr id="11" name="Shape 7"/>
          <p:cNvSpPr/>
          <p:nvPr/>
        </p:nvSpPr>
        <p:spPr>
          <a:xfrm>
            <a:off x="7589520" y="3438144"/>
            <a:ext cx="73152" cy="73152"/>
          </a:xfrm>
          <a:prstGeom prst="ellipse">
            <a:avLst/>
          </a:prstGeom>
          <a:solidFill>
            <a:srgbClr val="0090B0"/>
          </a:solidFill>
          <a:ln/>
        </p:spPr>
      </p:sp>
      <p:sp>
        <p:nvSpPr>
          <p:cNvPr id="12" name="Text 8"/>
          <p:cNvSpPr/>
          <p:nvPr/>
        </p:nvSpPr>
        <p:spPr>
          <a:xfrm>
            <a:off x="7772400" y="3310128"/>
            <a:ext cx="3657600" cy="777240"/>
          </a:xfrm>
          <a:prstGeom prst="rect">
            <a:avLst/>
          </a:prstGeom>
          <a:noFill/>
          <a:ln/>
        </p:spPr>
        <p:txBody>
          <a:bodyPr wrap="square" rtlCol="0" anchor="ctr"/>
          <a:lstStyle/>
          <a:p>
            <a:pPr marL="0" indent="0">
              <a:lnSpc>
                <a:spcPct val="115000"/>
              </a:lnSpc>
              <a:buNone/>
            </a:pPr>
            <a:r>
              <a:rPr lang="en-US" sz="1100" dirty="0">
                <a:solidFill>
                  <a:srgbClr val="2C2C2C"/>
                </a:solidFill>
                <a:latin typeface="Calibri" pitchFamily="34" charset="0"/>
                <a:ea typeface="Calibri" pitchFamily="34" charset="-122"/>
                <a:cs typeface="Calibri" pitchFamily="34" charset="-120"/>
              </a:rPr>
              <a:t>Online Security and Tech Support show moderate negative correlations — customers with these add-ons churn less.</a:t>
            </a:r>
            <a:endParaRPr lang="en-US" sz="1100" dirty="0"/>
          </a:p>
        </p:txBody>
      </p:sp>
      <p:sp>
        <p:nvSpPr>
          <p:cNvPr id="13" name="Shape 9"/>
          <p:cNvSpPr/>
          <p:nvPr/>
        </p:nvSpPr>
        <p:spPr>
          <a:xfrm>
            <a:off x="7589520" y="4306824"/>
            <a:ext cx="73152" cy="73152"/>
          </a:xfrm>
          <a:prstGeom prst="ellipse">
            <a:avLst/>
          </a:prstGeom>
          <a:solidFill>
            <a:srgbClr val="0090B0"/>
          </a:solidFill>
          <a:ln/>
        </p:spPr>
      </p:sp>
      <p:sp>
        <p:nvSpPr>
          <p:cNvPr id="14" name="Text 10"/>
          <p:cNvSpPr/>
          <p:nvPr/>
        </p:nvSpPr>
        <p:spPr>
          <a:xfrm>
            <a:off x="7772400" y="4178808"/>
            <a:ext cx="3657600" cy="777240"/>
          </a:xfrm>
          <a:prstGeom prst="rect">
            <a:avLst/>
          </a:prstGeom>
          <a:noFill/>
          <a:ln/>
        </p:spPr>
        <p:txBody>
          <a:bodyPr wrap="square" rtlCol="0" anchor="ctr"/>
          <a:lstStyle/>
          <a:p>
            <a:pPr marL="0" indent="0">
              <a:lnSpc>
                <a:spcPct val="115000"/>
              </a:lnSpc>
              <a:buNone/>
            </a:pPr>
            <a:r>
              <a:rPr lang="en-US" sz="1100" dirty="0">
                <a:solidFill>
                  <a:srgbClr val="2C2C2C"/>
                </a:solidFill>
                <a:latin typeface="Calibri" pitchFamily="34" charset="0"/>
                <a:ea typeface="Calibri" pitchFamily="34" charset="-122"/>
                <a:cs typeface="Calibri" pitchFamily="34" charset="-120"/>
              </a:rPr>
              <a:t>MonthlyCharges, PaymentMethod, and InternetService show moderate positive correlation with churn.</a:t>
            </a:r>
            <a:endParaRPr lang="en-US" sz="1100" dirty="0"/>
          </a:p>
        </p:txBody>
      </p:sp>
      <p:sp>
        <p:nvSpPr>
          <p:cNvPr id="15" name="Shape 11"/>
          <p:cNvSpPr/>
          <p:nvPr/>
        </p:nvSpPr>
        <p:spPr>
          <a:xfrm>
            <a:off x="7589520" y="5175504"/>
            <a:ext cx="73152" cy="73152"/>
          </a:xfrm>
          <a:prstGeom prst="ellipse">
            <a:avLst/>
          </a:prstGeom>
          <a:solidFill>
            <a:srgbClr val="0090B0"/>
          </a:solidFill>
          <a:ln/>
        </p:spPr>
      </p:sp>
      <p:sp>
        <p:nvSpPr>
          <p:cNvPr id="16" name="Text 12"/>
          <p:cNvSpPr/>
          <p:nvPr/>
        </p:nvSpPr>
        <p:spPr>
          <a:xfrm>
            <a:off x="7772400" y="5047488"/>
            <a:ext cx="3657600" cy="777240"/>
          </a:xfrm>
          <a:prstGeom prst="rect">
            <a:avLst/>
          </a:prstGeom>
          <a:noFill/>
          <a:ln/>
        </p:spPr>
        <p:txBody>
          <a:bodyPr wrap="square" rtlCol="0" anchor="ctr"/>
          <a:lstStyle/>
          <a:p>
            <a:pPr marL="0" indent="0">
              <a:lnSpc>
                <a:spcPct val="115000"/>
              </a:lnSpc>
              <a:buNone/>
            </a:pPr>
            <a:r>
              <a:rPr lang="en-US" sz="1100" dirty="0">
                <a:solidFill>
                  <a:srgbClr val="2C2C2C"/>
                </a:solidFill>
                <a:latin typeface="Calibri" pitchFamily="34" charset="0"/>
                <a:ea typeface="Calibri" pitchFamily="34" charset="-122"/>
                <a:cs typeface="Calibri" pitchFamily="34" charset="-120"/>
              </a:rPr>
              <a:t>Gender shows almost no correlation (~ -0.01), confirming it has little influence on churn behaviour.</a:t>
            </a:r>
            <a:endParaRPr lang="en-US" sz="1100" dirty="0"/>
          </a:p>
        </p:txBody>
      </p:sp>
      <p:sp>
        <p:nvSpPr>
          <p:cNvPr id="17" name="Text 13"/>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BUSINESS BENEFITS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Turning Predictions into Business Value</a:t>
            </a:r>
            <a:endParaRPr lang="en-US" sz="3000" dirty="0"/>
          </a:p>
        </p:txBody>
      </p:sp>
      <p:sp>
        <p:nvSpPr>
          <p:cNvPr id="4" name="Shape 2"/>
          <p:cNvSpPr/>
          <p:nvPr/>
        </p:nvSpPr>
        <p:spPr>
          <a:xfrm>
            <a:off x="548640" y="1691640"/>
            <a:ext cx="3611880" cy="2148840"/>
          </a:xfrm>
          <a:prstGeom prst="roundRect">
            <a:avLst>
              <a:gd name="adj" fmla="val 4255"/>
            </a:avLst>
          </a:prstGeom>
          <a:solidFill>
            <a:srgbClr val="EAF4FB"/>
          </a:solidFill>
          <a:ln/>
        </p:spPr>
      </p:sp>
      <p:sp>
        <p:nvSpPr>
          <p:cNvPr id="5" name="Shape 3"/>
          <p:cNvSpPr/>
          <p:nvPr/>
        </p:nvSpPr>
        <p:spPr>
          <a:xfrm>
            <a:off x="777240" y="1920240"/>
            <a:ext cx="594360" cy="594360"/>
          </a:xfrm>
          <a:prstGeom prst="ellipse">
            <a:avLst/>
          </a:prstGeom>
          <a:solidFill>
            <a:srgbClr val="0B2545"/>
          </a:solidFill>
          <a:ln/>
        </p:spPr>
      </p:sp>
      <p:pic>
        <p:nvPicPr>
          <p:cNvPr id="6" name="Image 0" descr="/home/claude/churn_ppt/icons/shield_white.png"/>
          <p:cNvPicPr>
            <a:picLocks noChangeAspect="1"/>
          </p:cNvPicPr>
          <p:nvPr/>
        </p:nvPicPr>
        <p:blipFill>
          <a:blip r:embed="rId3"/>
          <a:stretch>
            <a:fillRect/>
          </a:stretch>
        </p:blipFill>
        <p:spPr>
          <a:xfrm>
            <a:off x="866394" y="2009394"/>
            <a:ext cx="416052" cy="416052"/>
          </a:xfrm>
          <a:prstGeom prst="rect">
            <a:avLst/>
          </a:prstGeom>
        </p:spPr>
      </p:pic>
      <p:sp>
        <p:nvSpPr>
          <p:cNvPr id="7" name="Text 4"/>
          <p:cNvSpPr/>
          <p:nvPr/>
        </p:nvSpPr>
        <p:spPr>
          <a:xfrm>
            <a:off x="777240" y="260604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Reduce Customer Churn</a:t>
            </a:r>
            <a:endParaRPr lang="en-US" sz="1400" dirty="0"/>
          </a:p>
        </p:txBody>
      </p:sp>
      <p:sp>
        <p:nvSpPr>
          <p:cNvPr id="8" name="Text 5"/>
          <p:cNvSpPr/>
          <p:nvPr/>
        </p:nvSpPr>
        <p:spPr>
          <a:xfrm>
            <a:off x="777240" y="304495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Proactively flag at-risk accounts before they leave, instead of reacting after the fact.</a:t>
            </a:r>
            <a:endParaRPr lang="en-US" sz="1100" dirty="0"/>
          </a:p>
        </p:txBody>
      </p:sp>
      <p:sp>
        <p:nvSpPr>
          <p:cNvPr id="9" name="Shape 6"/>
          <p:cNvSpPr/>
          <p:nvPr/>
        </p:nvSpPr>
        <p:spPr>
          <a:xfrm>
            <a:off x="4389120" y="1691640"/>
            <a:ext cx="3611880" cy="2148840"/>
          </a:xfrm>
          <a:prstGeom prst="roundRect">
            <a:avLst>
              <a:gd name="adj" fmla="val 4255"/>
            </a:avLst>
          </a:prstGeom>
          <a:solidFill>
            <a:srgbClr val="EAF4FB"/>
          </a:solidFill>
          <a:ln/>
        </p:spPr>
      </p:sp>
      <p:sp>
        <p:nvSpPr>
          <p:cNvPr id="10" name="Shape 7"/>
          <p:cNvSpPr/>
          <p:nvPr/>
        </p:nvSpPr>
        <p:spPr>
          <a:xfrm>
            <a:off x="4617720" y="1920240"/>
            <a:ext cx="594360" cy="594360"/>
          </a:xfrm>
          <a:prstGeom prst="ellipse">
            <a:avLst/>
          </a:prstGeom>
          <a:solidFill>
            <a:srgbClr val="0B2545"/>
          </a:solidFill>
          <a:ln/>
        </p:spPr>
      </p:sp>
      <p:pic>
        <p:nvPicPr>
          <p:cNvPr id="11" name="Image 1" descr="/home/claude/churn_ppt/icons/userCheck_white.png"/>
          <p:cNvPicPr>
            <a:picLocks noChangeAspect="1"/>
          </p:cNvPicPr>
          <p:nvPr/>
        </p:nvPicPr>
        <p:blipFill>
          <a:blip r:embed="rId4"/>
          <a:stretch>
            <a:fillRect/>
          </a:stretch>
        </p:blipFill>
        <p:spPr>
          <a:xfrm>
            <a:off x="4706874" y="2009394"/>
            <a:ext cx="416052" cy="416052"/>
          </a:xfrm>
          <a:prstGeom prst="rect">
            <a:avLst/>
          </a:prstGeom>
        </p:spPr>
      </p:pic>
      <p:sp>
        <p:nvSpPr>
          <p:cNvPr id="12" name="Text 8"/>
          <p:cNvSpPr/>
          <p:nvPr/>
        </p:nvSpPr>
        <p:spPr>
          <a:xfrm>
            <a:off x="4617720" y="260604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Increase Customer Retention</a:t>
            </a:r>
            <a:endParaRPr lang="en-US" sz="1400" dirty="0"/>
          </a:p>
        </p:txBody>
      </p:sp>
      <p:sp>
        <p:nvSpPr>
          <p:cNvPr id="13" name="Text 9"/>
          <p:cNvSpPr/>
          <p:nvPr/>
        </p:nvSpPr>
        <p:spPr>
          <a:xfrm>
            <a:off x="4617720" y="304495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Target retention offers precisely at customers the model identifies as high-risk.</a:t>
            </a:r>
            <a:endParaRPr lang="en-US" sz="1100" dirty="0"/>
          </a:p>
        </p:txBody>
      </p:sp>
      <p:sp>
        <p:nvSpPr>
          <p:cNvPr id="14" name="Shape 10"/>
          <p:cNvSpPr/>
          <p:nvPr/>
        </p:nvSpPr>
        <p:spPr>
          <a:xfrm>
            <a:off x="8229600" y="1691640"/>
            <a:ext cx="3611880" cy="2148840"/>
          </a:xfrm>
          <a:prstGeom prst="roundRect">
            <a:avLst>
              <a:gd name="adj" fmla="val 4255"/>
            </a:avLst>
          </a:prstGeom>
          <a:solidFill>
            <a:srgbClr val="EAF4FB"/>
          </a:solidFill>
          <a:ln/>
        </p:spPr>
      </p:sp>
      <p:sp>
        <p:nvSpPr>
          <p:cNvPr id="15" name="Shape 11"/>
          <p:cNvSpPr/>
          <p:nvPr/>
        </p:nvSpPr>
        <p:spPr>
          <a:xfrm>
            <a:off x="8458200" y="1920240"/>
            <a:ext cx="594360" cy="594360"/>
          </a:xfrm>
          <a:prstGeom prst="ellipse">
            <a:avLst/>
          </a:prstGeom>
          <a:solidFill>
            <a:srgbClr val="0B2545"/>
          </a:solidFill>
          <a:ln/>
        </p:spPr>
      </p:sp>
      <p:pic>
        <p:nvPicPr>
          <p:cNvPr id="16" name="Image 2" descr="/home/claude/churn_ppt/icons/smile_white.png"/>
          <p:cNvPicPr>
            <a:picLocks noChangeAspect="1"/>
          </p:cNvPicPr>
          <p:nvPr/>
        </p:nvPicPr>
        <p:blipFill>
          <a:blip r:embed="rId5"/>
          <a:stretch>
            <a:fillRect/>
          </a:stretch>
        </p:blipFill>
        <p:spPr>
          <a:xfrm>
            <a:off x="8547354" y="2009394"/>
            <a:ext cx="416052" cy="416052"/>
          </a:xfrm>
          <a:prstGeom prst="rect">
            <a:avLst/>
          </a:prstGeom>
        </p:spPr>
      </p:pic>
      <p:sp>
        <p:nvSpPr>
          <p:cNvPr id="17" name="Text 12"/>
          <p:cNvSpPr/>
          <p:nvPr/>
        </p:nvSpPr>
        <p:spPr>
          <a:xfrm>
            <a:off x="8458200" y="260604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Improve Customer Satisfaction</a:t>
            </a:r>
            <a:endParaRPr lang="en-US" sz="1400" dirty="0"/>
          </a:p>
        </p:txBody>
      </p:sp>
      <p:sp>
        <p:nvSpPr>
          <p:cNvPr id="18" name="Text 13"/>
          <p:cNvSpPr/>
          <p:nvPr/>
        </p:nvSpPr>
        <p:spPr>
          <a:xfrm>
            <a:off x="8458200" y="3044952"/>
            <a:ext cx="3154680" cy="731520"/>
          </a:xfrm>
          <a:prstGeom prst="rect">
            <a:avLst/>
          </a:prstGeom>
          <a:noFill/>
          <a:ln/>
        </p:spPr>
        <p:txBody>
          <a:bodyPr wrap="square" rtlCol="0" anchor="ctr"/>
          <a:lstStyle/>
          <a:p>
            <a:pPr marL="0" indent="0">
              <a:lnSpc>
                <a:spcPct val="115000"/>
              </a:lnSpc>
              <a:buNone/>
            </a:pPr>
            <a:r>
              <a:rPr lang="en-US" sz="1100" dirty="0">
                <a:solidFill>
                  <a:srgbClr val="3B3B3B"/>
                </a:solidFill>
                <a:latin typeface="Calibri" pitchFamily="34" charset="0"/>
                <a:ea typeface="Calibri" pitchFamily="34" charset="-122"/>
                <a:cs typeface="Calibri" pitchFamily="34" charset="-120"/>
              </a:rPr>
              <a:t>Address service gaps — like missing Tech Support — that are driving dissatisfaction.</a:t>
            </a:r>
            <a:endParaRPr lang="en-US" sz="1100" dirty="0"/>
          </a:p>
        </p:txBody>
      </p:sp>
      <p:sp>
        <p:nvSpPr>
          <p:cNvPr id="19" name="Shape 14"/>
          <p:cNvSpPr/>
          <p:nvPr/>
        </p:nvSpPr>
        <p:spPr>
          <a:xfrm>
            <a:off x="548640" y="4114800"/>
            <a:ext cx="3611880" cy="2148840"/>
          </a:xfrm>
          <a:prstGeom prst="roundRect">
            <a:avLst>
              <a:gd name="adj" fmla="val 4255"/>
            </a:avLst>
          </a:prstGeom>
          <a:solidFill>
            <a:srgbClr val="0B2545"/>
          </a:solidFill>
          <a:ln/>
        </p:spPr>
      </p:sp>
      <p:sp>
        <p:nvSpPr>
          <p:cNvPr id="20" name="Shape 15"/>
          <p:cNvSpPr/>
          <p:nvPr/>
        </p:nvSpPr>
        <p:spPr>
          <a:xfrm>
            <a:off x="777240" y="4343400"/>
            <a:ext cx="594360" cy="594360"/>
          </a:xfrm>
          <a:prstGeom prst="ellipse">
            <a:avLst/>
          </a:prstGeom>
          <a:solidFill>
            <a:srgbClr val="00B4D8"/>
          </a:solidFill>
          <a:ln/>
        </p:spPr>
      </p:sp>
      <p:pic>
        <p:nvPicPr>
          <p:cNvPr id="21" name="Image 3" descr="/home/claude/churn_ppt/icons/bullhorn_navy.png"/>
          <p:cNvPicPr>
            <a:picLocks noChangeAspect="1"/>
          </p:cNvPicPr>
          <p:nvPr/>
        </p:nvPicPr>
        <p:blipFill>
          <a:blip r:embed="rId6"/>
          <a:stretch>
            <a:fillRect/>
          </a:stretch>
        </p:blipFill>
        <p:spPr>
          <a:xfrm>
            <a:off x="866394" y="4432554"/>
            <a:ext cx="416052" cy="416052"/>
          </a:xfrm>
          <a:prstGeom prst="rect">
            <a:avLst/>
          </a:prstGeom>
        </p:spPr>
      </p:pic>
      <p:sp>
        <p:nvSpPr>
          <p:cNvPr id="22" name="Text 16"/>
          <p:cNvSpPr/>
          <p:nvPr/>
        </p:nvSpPr>
        <p:spPr>
          <a:xfrm>
            <a:off x="777240" y="5029200"/>
            <a:ext cx="315468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Better Marketing Strategies</a:t>
            </a:r>
            <a:endParaRPr lang="en-US" sz="1400" dirty="0"/>
          </a:p>
        </p:txBody>
      </p:sp>
      <p:sp>
        <p:nvSpPr>
          <p:cNvPr id="23" name="Text 17"/>
          <p:cNvSpPr/>
          <p:nvPr/>
        </p:nvSpPr>
        <p:spPr>
          <a:xfrm>
            <a:off x="777240" y="5468112"/>
            <a:ext cx="3154680" cy="731520"/>
          </a:xfrm>
          <a:prstGeom prst="rect">
            <a:avLst/>
          </a:prstGeom>
          <a:noFill/>
          <a:ln/>
        </p:spPr>
        <p:txBody>
          <a:bodyPr wrap="square" rtlCol="0" anchor="ctr"/>
          <a:lstStyle/>
          <a:p>
            <a:pPr marL="0" indent="0">
              <a:lnSpc>
                <a:spcPct val="115000"/>
              </a:lnSpc>
              <a:buNone/>
            </a:pPr>
            <a:r>
              <a:rPr lang="en-US" sz="1100" dirty="0">
                <a:solidFill>
                  <a:srgbClr val="D8E6F2"/>
                </a:solidFill>
                <a:latin typeface="Calibri" pitchFamily="34" charset="0"/>
                <a:ea typeface="Calibri" pitchFamily="34" charset="-122"/>
                <a:cs typeface="Calibri" pitchFamily="34" charset="-120"/>
              </a:rPr>
              <a:t>Segment customers by churn risk to personalize campaigns and offers.</a:t>
            </a:r>
            <a:endParaRPr lang="en-US" sz="1100" dirty="0"/>
          </a:p>
        </p:txBody>
      </p:sp>
      <p:sp>
        <p:nvSpPr>
          <p:cNvPr id="24" name="Shape 18"/>
          <p:cNvSpPr/>
          <p:nvPr/>
        </p:nvSpPr>
        <p:spPr>
          <a:xfrm>
            <a:off x="4389120" y="4114800"/>
            <a:ext cx="3611880" cy="2148840"/>
          </a:xfrm>
          <a:prstGeom prst="roundRect">
            <a:avLst>
              <a:gd name="adj" fmla="val 4255"/>
            </a:avLst>
          </a:prstGeom>
          <a:solidFill>
            <a:srgbClr val="0B2545"/>
          </a:solidFill>
          <a:ln/>
        </p:spPr>
      </p:sp>
      <p:sp>
        <p:nvSpPr>
          <p:cNvPr id="25" name="Shape 19"/>
          <p:cNvSpPr/>
          <p:nvPr/>
        </p:nvSpPr>
        <p:spPr>
          <a:xfrm>
            <a:off x="4617720" y="4343400"/>
            <a:ext cx="594360" cy="594360"/>
          </a:xfrm>
          <a:prstGeom prst="ellipse">
            <a:avLst/>
          </a:prstGeom>
          <a:solidFill>
            <a:srgbClr val="00B4D8"/>
          </a:solidFill>
          <a:ln/>
        </p:spPr>
      </p:sp>
      <p:pic>
        <p:nvPicPr>
          <p:cNvPr id="26" name="Image 4" descr="/home/claude/churn_ppt/icons/dollar_navy.png"/>
          <p:cNvPicPr>
            <a:picLocks noChangeAspect="1"/>
          </p:cNvPicPr>
          <p:nvPr/>
        </p:nvPicPr>
        <p:blipFill>
          <a:blip r:embed="rId7"/>
          <a:stretch>
            <a:fillRect/>
          </a:stretch>
        </p:blipFill>
        <p:spPr>
          <a:xfrm>
            <a:off x="4706874" y="4432554"/>
            <a:ext cx="416052" cy="416052"/>
          </a:xfrm>
          <a:prstGeom prst="rect">
            <a:avLst/>
          </a:prstGeom>
        </p:spPr>
      </p:pic>
      <p:sp>
        <p:nvSpPr>
          <p:cNvPr id="27" name="Text 20"/>
          <p:cNvSpPr/>
          <p:nvPr/>
        </p:nvSpPr>
        <p:spPr>
          <a:xfrm>
            <a:off x="4617720" y="5029200"/>
            <a:ext cx="315468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Higher Company Revenue</a:t>
            </a:r>
            <a:endParaRPr lang="en-US" sz="1400" dirty="0"/>
          </a:p>
        </p:txBody>
      </p:sp>
      <p:sp>
        <p:nvSpPr>
          <p:cNvPr id="28" name="Text 21"/>
          <p:cNvSpPr/>
          <p:nvPr/>
        </p:nvSpPr>
        <p:spPr>
          <a:xfrm>
            <a:off x="4617720" y="5468112"/>
            <a:ext cx="3154680" cy="731520"/>
          </a:xfrm>
          <a:prstGeom prst="rect">
            <a:avLst/>
          </a:prstGeom>
          <a:noFill/>
          <a:ln/>
        </p:spPr>
        <p:txBody>
          <a:bodyPr wrap="square" rtlCol="0" anchor="ctr"/>
          <a:lstStyle/>
          <a:p>
            <a:pPr marL="0" indent="0">
              <a:lnSpc>
                <a:spcPct val="115000"/>
              </a:lnSpc>
              <a:buNone/>
            </a:pPr>
            <a:r>
              <a:rPr lang="en-US" sz="1100" dirty="0">
                <a:solidFill>
                  <a:srgbClr val="D8E6F2"/>
                </a:solidFill>
                <a:latin typeface="Calibri" pitchFamily="34" charset="0"/>
                <a:ea typeface="Calibri" pitchFamily="34" charset="-122"/>
                <a:cs typeface="Calibri" pitchFamily="34" charset="-120"/>
              </a:rPr>
              <a:t>Every retained customer protects recurring revenue and lowers re-acquisition cost.</a:t>
            </a:r>
            <a:endParaRPr lang="en-US" sz="1100" dirty="0"/>
          </a:p>
        </p:txBody>
      </p:sp>
      <p:sp>
        <p:nvSpPr>
          <p:cNvPr id="29" name="Text 2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FUTURE ENHANCEMENTS</a:t>
            </a:r>
            <a:endParaRPr lang="en-US" sz="1300" dirty="0"/>
          </a:p>
        </p:txBody>
      </p:sp>
      <p:sp>
        <p:nvSpPr>
          <p:cNvPr id="3" name="Text 1"/>
          <p:cNvSpPr/>
          <p:nvPr/>
        </p:nvSpPr>
        <p:spPr>
          <a:xfrm>
            <a:off x="476559" y="748819"/>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Where This Project Goes Next</a:t>
            </a:r>
            <a:endParaRPr lang="en-US" sz="3000" dirty="0"/>
          </a:p>
        </p:txBody>
      </p:sp>
      <p:sp>
        <p:nvSpPr>
          <p:cNvPr id="4" name="Shape 2"/>
          <p:cNvSpPr/>
          <p:nvPr/>
        </p:nvSpPr>
        <p:spPr>
          <a:xfrm>
            <a:off x="548640" y="1691640"/>
            <a:ext cx="3611880" cy="2148840"/>
          </a:xfrm>
          <a:prstGeom prst="roundRect">
            <a:avLst>
              <a:gd name="adj" fmla="val 4255"/>
            </a:avLst>
          </a:prstGeom>
          <a:solidFill>
            <a:srgbClr val="EAF4FB"/>
          </a:solidFill>
          <a:ln/>
        </p:spPr>
      </p:sp>
      <p:sp>
        <p:nvSpPr>
          <p:cNvPr id="5" name="Shape 3"/>
          <p:cNvSpPr/>
          <p:nvPr/>
        </p:nvSpPr>
        <p:spPr>
          <a:xfrm>
            <a:off x="777240" y="1920240"/>
            <a:ext cx="594360" cy="594360"/>
          </a:xfrm>
          <a:prstGeom prst="ellipse">
            <a:avLst/>
          </a:prstGeom>
          <a:solidFill>
            <a:srgbClr val="0B2545"/>
          </a:solidFill>
          <a:ln/>
        </p:spPr>
      </p:sp>
      <p:pic>
        <p:nvPicPr>
          <p:cNvPr id="6" name="Image 0" descr="/home/claude/churn_ppt/icons/robot_white.png"/>
          <p:cNvPicPr>
            <a:picLocks noChangeAspect="1"/>
          </p:cNvPicPr>
          <p:nvPr/>
        </p:nvPicPr>
        <p:blipFill>
          <a:blip r:embed="rId3"/>
          <a:stretch>
            <a:fillRect/>
          </a:stretch>
        </p:blipFill>
        <p:spPr>
          <a:xfrm>
            <a:off x="866394" y="2009394"/>
            <a:ext cx="416052" cy="416052"/>
          </a:xfrm>
          <a:prstGeom prst="rect">
            <a:avLst/>
          </a:prstGeom>
        </p:spPr>
      </p:pic>
      <p:sp>
        <p:nvSpPr>
          <p:cNvPr id="7" name="Text 4"/>
          <p:cNvSpPr/>
          <p:nvPr/>
        </p:nvSpPr>
        <p:spPr>
          <a:xfrm>
            <a:off x="777240" y="260604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Advanced Models</a:t>
            </a:r>
            <a:endParaRPr lang="en-US" sz="1400" dirty="0"/>
          </a:p>
        </p:txBody>
      </p:sp>
      <p:sp>
        <p:nvSpPr>
          <p:cNvPr id="8" name="Text 5"/>
          <p:cNvSpPr/>
          <p:nvPr/>
        </p:nvSpPr>
        <p:spPr>
          <a:xfrm>
            <a:off x="777240" y="3044952"/>
            <a:ext cx="3154680" cy="731520"/>
          </a:xfrm>
          <a:prstGeom prst="rect">
            <a:avLst/>
          </a:prstGeom>
          <a:noFill/>
          <a:ln/>
        </p:spPr>
        <p:txBody>
          <a:bodyPr wrap="square" rtlCol="0" anchor="ctr"/>
          <a:lstStyle/>
          <a:p>
            <a:pPr marL="0" indent="0">
              <a:lnSpc>
                <a:spcPct val="115000"/>
              </a:lnSpc>
              <a:buNone/>
            </a:pPr>
            <a:r>
              <a:rPr lang="en-US" sz="1050" dirty="0">
                <a:solidFill>
                  <a:srgbClr val="3B3B3B"/>
                </a:solidFill>
                <a:latin typeface="Calibri" pitchFamily="34" charset="0"/>
                <a:ea typeface="Calibri" pitchFamily="34" charset="-122"/>
                <a:cs typeface="Calibri" pitchFamily="34" charset="-120"/>
              </a:rPr>
              <a:t>Extend comparison to XGBoost and Deep Learning architectures for potentially stronger performance.</a:t>
            </a:r>
            <a:endParaRPr lang="en-US" sz="1050" dirty="0"/>
          </a:p>
        </p:txBody>
      </p:sp>
      <p:sp>
        <p:nvSpPr>
          <p:cNvPr id="9" name="Shape 6"/>
          <p:cNvSpPr/>
          <p:nvPr/>
        </p:nvSpPr>
        <p:spPr>
          <a:xfrm>
            <a:off x="4389120" y="1691640"/>
            <a:ext cx="3611880" cy="2148840"/>
          </a:xfrm>
          <a:prstGeom prst="roundRect">
            <a:avLst>
              <a:gd name="adj" fmla="val 4255"/>
            </a:avLst>
          </a:prstGeom>
          <a:solidFill>
            <a:srgbClr val="EAF4FB"/>
          </a:solidFill>
          <a:ln/>
        </p:spPr>
      </p:sp>
      <p:sp>
        <p:nvSpPr>
          <p:cNvPr id="10" name="Shape 7"/>
          <p:cNvSpPr/>
          <p:nvPr/>
        </p:nvSpPr>
        <p:spPr>
          <a:xfrm>
            <a:off x="4617720" y="1920240"/>
            <a:ext cx="594360" cy="594360"/>
          </a:xfrm>
          <a:prstGeom prst="ellipse">
            <a:avLst/>
          </a:prstGeom>
          <a:solidFill>
            <a:srgbClr val="0B2545"/>
          </a:solidFill>
          <a:ln/>
        </p:spPr>
      </p:sp>
      <p:pic>
        <p:nvPicPr>
          <p:cNvPr id="11" name="Image 1" descr="/home/claude/churn_ppt/icons/chartLine_white.png"/>
          <p:cNvPicPr>
            <a:picLocks noChangeAspect="1"/>
          </p:cNvPicPr>
          <p:nvPr/>
        </p:nvPicPr>
        <p:blipFill>
          <a:blip r:embed="rId4"/>
          <a:stretch>
            <a:fillRect/>
          </a:stretch>
        </p:blipFill>
        <p:spPr>
          <a:xfrm>
            <a:off x="4706874" y="2009394"/>
            <a:ext cx="416052" cy="416052"/>
          </a:xfrm>
          <a:prstGeom prst="rect">
            <a:avLst/>
          </a:prstGeom>
        </p:spPr>
      </p:pic>
      <p:sp>
        <p:nvSpPr>
          <p:cNvPr id="12" name="Text 8"/>
          <p:cNvSpPr/>
          <p:nvPr/>
        </p:nvSpPr>
        <p:spPr>
          <a:xfrm>
            <a:off x="4617720" y="260604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ROC-AUC &amp; Tuning</a:t>
            </a:r>
            <a:endParaRPr lang="en-US" sz="1400" dirty="0"/>
          </a:p>
        </p:txBody>
      </p:sp>
      <p:sp>
        <p:nvSpPr>
          <p:cNvPr id="13" name="Text 9"/>
          <p:cNvSpPr/>
          <p:nvPr/>
        </p:nvSpPr>
        <p:spPr>
          <a:xfrm>
            <a:off x="4617720" y="3044952"/>
            <a:ext cx="3154680" cy="731520"/>
          </a:xfrm>
          <a:prstGeom prst="rect">
            <a:avLst/>
          </a:prstGeom>
          <a:noFill/>
          <a:ln/>
        </p:spPr>
        <p:txBody>
          <a:bodyPr wrap="square" rtlCol="0" anchor="ctr"/>
          <a:lstStyle/>
          <a:p>
            <a:pPr marL="0" indent="0">
              <a:lnSpc>
                <a:spcPct val="115000"/>
              </a:lnSpc>
              <a:buNone/>
            </a:pPr>
            <a:r>
              <a:rPr lang="en-US" sz="1050" dirty="0">
                <a:solidFill>
                  <a:srgbClr val="3B3B3B"/>
                </a:solidFill>
                <a:latin typeface="Calibri" pitchFamily="34" charset="0"/>
                <a:ea typeface="Calibri" pitchFamily="34" charset="-122"/>
                <a:cs typeface="Calibri" pitchFamily="34" charset="-120"/>
              </a:rPr>
              <a:t>Add ROC-AUC evaluation and GridSearchCV hyperparameter tuning to squeeze out more recall.</a:t>
            </a:r>
            <a:endParaRPr lang="en-US" sz="1050" dirty="0"/>
          </a:p>
        </p:txBody>
      </p:sp>
      <p:sp>
        <p:nvSpPr>
          <p:cNvPr id="14" name="Shape 10"/>
          <p:cNvSpPr/>
          <p:nvPr/>
        </p:nvSpPr>
        <p:spPr>
          <a:xfrm>
            <a:off x="8229600" y="1691640"/>
            <a:ext cx="3611880" cy="2148840"/>
          </a:xfrm>
          <a:prstGeom prst="roundRect">
            <a:avLst>
              <a:gd name="adj" fmla="val 4255"/>
            </a:avLst>
          </a:prstGeom>
          <a:solidFill>
            <a:srgbClr val="EAF4FB"/>
          </a:solidFill>
          <a:ln/>
        </p:spPr>
      </p:sp>
      <p:sp>
        <p:nvSpPr>
          <p:cNvPr id="15" name="Shape 11"/>
          <p:cNvSpPr/>
          <p:nvPr/>
        </p:nvSpPr>
        <p:spPr>
          <a:xfrm>
            <a:off x="8458200" y="1920240"/>
            <a:ext cx="594360" cy="594360"/>
          </a:xfrm>
          <a:prstGeom prst="ellipse">
            <a:avLst/>
          </a:prstGeom>
          <a:solidFill>
            <a:srgbClr val="0B2545"/>
          </a:solidFill>
          <a:ln/>
        </p:spPr>
      </p:sp>
      <p:pic>
        <p:nvPicPr>
          <p:cNvPr id="16" name="Image 2" descr="/home/claude/churn_ppt/icons/bolt_white.png"/>
          <p:cNvPicPr>
            <a:picLocks noChangeAspect="1"/>
          </p:cNvPicPr>
          <p:nvPr/>
        </p:nvPicPr>
        <p:blipFill>
          <a:blip r:embed="rId5"/>
          <a:stretch>
            <a:fillRect/>
          </a:stretch>
        </p:blipFill>
        <p:spPr>
          <a:xfrm>
            <a:off x="8547354" y="2009394"/>
            <a:ext cx="416052" cy="416052"/>
          </a:xfrm>
          <a:prstGeom prst="rect">
            <a:avLst/>
          </a:prstGeom>
        </p:spPr>
      </p:pic>
      <p:sp>
        <p:nvSpPr>
          <p:cNvPr id="17" name="Text 12"/>
          <p:cNvSpPr/>
          <p:nvPr/>
        </p:nvSpPr>
        <p:spPr>
          <a:xfrm>
            <a:off x="8458200" y="260604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Real-Time Prediction</a:t>
            </a:r>
            <a:endParaRPr lang="en-US" sz="1400" dirty="0"/>
          </a:p>
        </p:txBody>
      </p:sp>
      <p:sp>
        <p:nvSpPr>
          <p:cNvPr id="18" name="Text 13"/>
          <p:cNvSpPr/>
          <p:nvPr/>
        </p:nvSpPr>
        <p:spPr>
          <a:xfrm>
            <a:off x="8458200" y="3044952"/>
            <a:ext cx="3154680" cy="731520"/>
          </a:xfrm>
          <a:prstGeom prst="rect">
            <a:avLst/>
          </a:prstGeom>
          <a:noFill/>
          <a:ln/>
        </p:spPr>
        <p:txBody>
          <a:bodyPr wrap="square" rtlCol="0" anchor="ctr"/>
          <a:lstStyle/>
          <a:p>
            <a:pPr marL="0" indent="0">
              <a:lnSpc>
                <a:spcPct val="115000"/>
              </a:lnSpc>
              <a:buNone/>
            </a:pPr>
            <a:r>
              <a:rPr lang="en-US" sz="1050" dirty="0">
                <a:solidFill>
                  <a:srgbClr val="3B3B3B"/>
                </a:solidFill>
                <a:latin typeface="Calibri" pitchFamily="34" charset="0"/>
                <a:ea typeface="Calibri" pitchFamily="34" charset="-122"/>
                <a:cs typeface="Calibri" pitchFamily="34" charset="-120"/>
              </a:rPr>
              <a:t>Move from batch scoring to real-time churn scoring as customer behaviour updates.</a:t>
            </a:r>
            <a:endParaRPr lang="en-US" sz="1050" dirty="0"/>
          </a:p>
        </p:txBody>
      </p:sp>
      <p:sp>
        <p:nvSpPr>
          <p:cNvPr id="19" name="Shape 14"/>
          <p:cNvSpPr/>
          <p:nvPr/>
        </p:nvSpPr>
        <p:spPr>
          <a:xfrm>
            <a:off x="548640" y="4114800"/>
            <a:ext cx="3611880" cy="2148840"/>
          </a:xfrm>
          <a:prstGeom prst="roundRect">
            <a:avLst>
              <a:gd name="adj" fmla="val 4255"/>
            </a:avLst>
          </a:prstGeom>
          <a:solidFill>
            <a:srgbClr val="EAF4FB"/>
          </a:solidFill>
          <a:ln/>
        </p:spPr>
      </p:sp>
      <p:sp>
        <p:nvSpPr>
          <p:cNvPr id="20" name="Shape 15"/>
          <p:cNvSpPr/>
          <p:nvPr/>
        </p:nvSpPr>
        <p:spPr>
          <a:xfrm>
            <a:off x="777240" y="4343400"/>
            <a:ext cx="594360" cy="594360"/>
          </a:xfrm>
          <a:prstGeom prst="ellipse">
            <a:avLst/>
          </a:prstGeom>
          <a:solidFill>
            <a:srgbClr val="0B2545"/>
          </a:solidFill>
          <a:ln/>
        </p:spPr>
      </p:sp>
      <p:pic>
        <p:nvPicPr>
          <p:cNvPr id="21" name="Image 3" descr="/home/claude/churn_ppt/icons/brain_white.png"/>
          <p:cNvPicPr>
            <a:picLocks noChangeAspect="1"/>
          </p:cNvPicPr>
          <p:nvPr/>
        </p:nvPicPr>
        <p:blipFill>
          <a:blip r:embed="rId6"/>
          <a:stretch>
            <a:fillRect/>
          </a:stretch>
        </p:blipFill>
        <p:spPr>
          <a:xfrm>
            <a:off x="866394" y="4432554"/>
            <a:ext cx="416052" cy="416052"/>
          </a:xfrm>
          <a:prstGeom prst="rect">
            <a:avLst/>
          </a:prstGeom>
        </p:spPr>
      </p:pic>
      <p:sp>
        <p:nvSpPr>
          <p:cNvPr id="22" name="Text 16"/>
          <p:cNvSpPr/>
          <p:nvPr/>
        </p:nvSpPr>
        <p:spPr>
          <a:xfrm>
            <a:off x="777240" y="502920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Explainable AI</a:t>
            </a:r>
            <a:endParaRPr lang="en-US" sz="1400" dirty="0"/>
          </a:p>
        </p:txBody>
      </p:sp>
      <p:sp>
        <p:nvSpPr>
          <p:cNvPr id="23" name="Text 17"/>
          <p:cNvSpPr/>
          <p:nvPr/>
        </p:nvSpPr>
        <p:spPr>
          <a:xfrm>
            <a:off x="777240" y="5468112"/>
            <a:ext cx="3154680" cy="731520"/>
          </a:xfrm>
          <a:prstGeom prst="rect">
            <a:avLst/>
          </a:prstGeom>
          <a:noFill/>
          <a:ln/>
        </p:spPr>
        <p:txBody>
          <a:bodyPr wrap="square" rtlCol="0" anchor="ctr"/>
          <a:lstStyle/>
          <a:p>
            <a:pPr marL="0" indent="0">
              <a:lnSpc>
                <a:spcPct val="115000"/>
              </a:lnSpc>
              <a:buNone/>
            </a:pPr>
            <a:r>
              <a:rPr lang="en-US" sz="1050" dirty="0">
                <a:solidFill>
                  <a:srgbClr val="3B3B3B"/>
                </a:solidFill>
                <a:latin typeface="Calibri" pitchFamily="34" charset="0"/>
                <a:ea typeface="Calibri" pitchFamily="34" charset="-122"/>
                <a:cs typeface="Calibri" pitchFamily="34" charset="-120"/>
              </a:rPr>
              <a:t>Use SHAP or LIME to explain individual predictions to business stakeholders.</a:t>
            </a:r>
            <a:endParaRPr lang="en-US" sz="1050" dirty="0"/>
          </a:p>
        </p:txBody>
      </p:sp>
      <p:sp>
        <p:nvSpPr>
          <p:cNvPr id="24" name="Shape 18"/>
          <p:cNvSpPr/>
          <p:nvPr/>
        </p:nvSpPr>
        <p:spPr>
          <a:xfrm>
            <a:off x="4389120" y="4114800"/>
            <a:ext cx="3611880" cy="2148840"/>
          </a:xfrm>
          <a:prstGeom prst="roundRect">
            <a:avLst>
              <a:gd name="adj" fmla="val 4255"/>
            </a:avLst>
          </a:prstGeom>
          <a:solidFill>
            <a:srgbClr val="EAF4FB"/>
          </a:solidFill>
          <a:ln/>
        </p:spPr>
      </p:sp>
      <p:sp>
        <p:nvSpPr>
          <p:cNvPr id="25" name="Shape 19"/>
          <p:cNvSpPr/>
          <p:nvPr/>
        </p:nvSpPr>
        <p:spPr>
          <a:xfrm>
            <a:off x="4617720" y="4343400"/>
            <a:ext cx="594360" cy="594360"/>
          </a:xfrm>
          <a:prstGeom prst="ellipse">
            <a:avLst/>
          </a:prstGeom>
          <a:solidFill>
            <a:srgbClr val="0B2545"/>
          </a:solidFill>
          <a:ln/>
        </p:spPr>
      </p:sp>
      <p:pic>
        <p:nvPicPr>
          <p:cNvPr id="26" name="Image 4" descr="/home/claude/churn_ppt/icons/cloud_white.png"/>
          <p:cNvPicPr>
            <a:picLocks noChangeAspect="1"/>
          </p:cNvPicPr>
          <p:nvPr/>
        </p:nvPicPr>
        <p:blipFill>
          <a:blip r:embed="rId7"/>
          <a:stretch>
            <a:fillRect/>
          </a:stretch>
        </p:blipFill>
        <p:spPr>
          <a:xfrm>
            <a:off x="4706874" y="4432554"/>
            <a:ext cx="416052" cy="416052"/>
          </a:xfrm>
          <a:prstGeom prst="rect">
            <a:avLst/>
          </a:prstGeom>
        </p:spPr>
      </p:pic>
      <p:sp>
        <p:nvSpPr>
          <p:cNvPr id="27" name="Text 20"/>
          <p:cNvSpPr/>
          <p:nvPr/>
        </p:nvSpPr>
        <p:spPr>
          <a:xfrm>
            <a:off x="4617720" y="502920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Deployment</a:t>
            </a:r>
            <a:endParaRPr lang="en-US" sz="1400" dirty="0"/>
          </a:p>
        </p:txBody>
      </p:sp>
      <p:sp>
        <p:nvSpPr>
          <p:cNvPr id="28" name="Text 21"/>
          <p:cNvSpPr/>
          <p:nvPr/>
        </p:nvSpPr>
        <p:spPr>
          <a:xfrm>
            <a:off x="4617720" y="5468112"/>
            <a:ext cx="3154680" cy="731520"/>
          </a:xfrm>
          <a:prstGeom prst="rect">
            <a:avLst/>
          </a:prstGeom>
          <a:noFill/>
          <a:ln/>
        </p:spPr>
        <p:txBody>
          <a:bodyPr wrap="square" rtlCol="0" anchor="ctr"/>
          <a:lstStyle/>
          <a:p>
            <a:pPr marL="0" indent="0">
              <a:lnSpc>
                <a:spcPct val="115000"/>
              </a:lnSpc>
              <a:buNone/>
            </a:pPr>
            <a:r>
              <a:rPr lang="en-US" sz="1050" dirty="0">
                <a:solidFill>
                  <a:srgbClr val="3B3B3B"/>
                </a:solidFill>
                <a:latin typeface="Calibri" pitchFamily="34" charset="0"/>
                <a:ea typeface="Calibri" pitchFamily="34" charset="-122"/>
                <a:cs typeface="Calibri" pitchFamily="34" charset="-120"/>
              </a:rPr>
              <a:t>Package the best model behind a Streamlit or Flask web application.</a:t>
            </a:r>
            <a:endParaRPr lang="en-US" sz="1050" dirty="0"/>
          </a:p>
        </p:txBody>
      </p:sp>
      <p:sp>
        <p:nvSpPr>
          <p:cNvPr id="29" name="Shape 22"/>
          <p:cNvSpPr/>
          <p:nvPr/>
        </p:nvSpPr>
        <p:spPr>
          <a:xfrm>
            <a:off x="8229600" y="4114800"/>
            <a:ext cx="3611880" cy="2148840"/>
          </a:xfrm>
          <a:prstGeom prst="roundRect">
            <a:avLst>
              <a:gd name="adj" fmla="val 4255"/>
            </a:avLst>
          </a:prstGeom>
          <a:solidFill>
            <a:srgbClr val="EAF4FB"/>
          </a:solidFill>
          <a:ln/>
        </p:spPr>
      </p:sp>
      <p:sp>
        <p:nvSpPr>
          <p:cNvPr id="30" name="Shape 23"/>
          <p:cNvSpPr/>
          <p:nvPr/>
        </p:nvSpPr>
        <p:spPr>
          <a:xfrm>
            <a:off x="8458200" y="4343400"/>
            <a:ext cx="594360" cy="594360"/>
          </a:xfrm>
          <a:prstGeom prst="ellipse">
            <a:avLst/>
          </a:prstGeom>
          <a:solidFill>
            <a:srgbClr val="0B2545"/>
          </a:solidFill>
          <a:ln/>
        </p:spPr>
      </p:sp>
      <p:pic>
        <p:nvPicPr>
          <p:cNvPr id="31" name="Image 5" descr="/home/claude/churn_ppt/icons/puzzle_white.png"/>
          <p:cNvPicPr>
            <a:picLocks noChangeAspect="1"/>
          </p:cNvPicPr>
          <p:nvPr/>
        </p:nvPicPr>
        <p:blipFill>
          <a:blip r:embed="rId8"/>
          <a:stretch>
            <a:fillRect/>
          </a:stretch>
        </p:blipFill>
        <p:spPr>
          <a:xfrm>
            <a:off x="8547354" y="4432554"/>
            <a:ext cx="416052" cy="416052"/>
          </a:xfrm>
          <a:prstGeom prst="rect">
            <a:avLst/>
          </a:prstGeom>
        </p:spPr>
      </p:pic>
      <p:sp>
        <p:nvSpPr>
          <p:cNvPr id="32" name="Text 24"/>
          <p:cNvSpPr/>
          <p:nvPr/>
        </p:nvSpPr>
        <p:spPr>
          <a:xfrm>
            <a:off x="8458200" y="5029200"/>
            <a:ext cx="3154680"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CRM Integration</a:t>
            </a:r>
            <a:endParaRPr lang="en-US" sz="1400" dirty="0"/>
          </a:p>
        </p:txBody>
      </p:sp>
      <p:sp>
        <p:nvSpPr>
          <p:cNvPr id="33" name="Text 25"/>
          <p:cNvSpPr/>
          <p:nvPr/>
        </p:nvSpPr>
        <p:spPr>
          <a:xfrm>
            <a:off x="8458200" y="5468112"/>
            <a:ext cx="3154680" cy="731520"/>
          </a:xfrm>
          <a:prstGeom prst="rect">
            <a:avLst/>
          </a:prstGeom>
          <a:noFill/>
          <a:ln/>
        </p:spPr>
        <p:txBody>
          <a:bodyPr wrap="square" rtlCol="0" anchor="ctr"/>
          <a:lstStyle/>
          <a:p>
            <a:pPr marL="0" indent="0">
              <a:lnSpc>
                <a:spcPct val="115000"/>
              </a:lnSpc>
              <a:buNone/>
            </a:pPr>
            <a:r>
              <a:rPr lang="en-US" sz="1050" dirty="0">
                <a:solidFill>
                  <a:srgbClr val="3B3B3B"/>
                </a:solidFill>
                <a:latin typeface="Calibri" pitchFamily="34" charset="0"/>
                <a:ea typeface="Calibri" pitchFamily="34" charset="-122"/>
                <a:cs typeface="Calibri" pitchFamily="34" charset="-120"/>
              </a:rPr>
              <a:t>Feed churn scores directly into the CRM so agents can act on them daily.</a:t>
            </a:r>
            <a:endParaRPr lang="en-US" sz="1050" dirty="0"/>
          </a:p>
        </p:txBody>
      </p:sp>
      <p:sp>
        <p:nvSpPr>
          <p:cNvPr id="34" name="Text 26"/>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822960"/>
            <a:ext cx="1106424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Bringing It All Together</a:t>
            </a:r>
            <a:endParaRPr lang="en-US" sz="3000" dirty="0"/>
          </a:p>
        </p:txBody>
      </p:sp>
      <p:sp>
        <p:nvSpPr>
          <p:cNvPr id="4" name="Shape 2"/>
          <p:cNvSpPr/>
          <p:nvPr/>
        </p:nvSpPr>
        <p:spPr>
          <a:xfrm>
            <a:off x="640080" y="1828800"/>
            <a:ext cx="685800" cy="685800"/>
          </a:xfrm>
          <a:prstGeom prst="ellipse">
            <a:avLst/>
          </a:prstGeom>
          <a:solidFill>
            <a:srgbClr val="00B4D8"/>
          </a:solidFill>
          <a:ln/>
        </p:spPr>
      </p:sp>
      <p:pic>
        <p:nvPicPr>
          <p:cNvPr id="5" name="Image 0" descr="/home/claude/churn_ppt/icons/file_navy.png"/>
          <p:cNvPicPr>
            <a:picLocks noChangeAspect="1"/>
          </p:cNvPicPr>
          <p:nvPr/>
        </p:nvPicPr>
        <p:blipFill>
          <a:blip r:embed="rId3"/>
          <a:stretch>
            <a:fillRect/>
          </a:stretch>
        </p:blipFill>
        <p:spPr>
          <a:xfrm>
            <a:off x="749808" y="1938528"/>
            <a:ext cx="466344" cy="466344"/>
          </a:xfrm>
          <a:prstGeom prst="rect">
            <a:avLst/>
          </a:prstGeom>
        </p:spPr>
      </p:pic>
      <p:sp>
        <p:nvSpPr>
          <p:cNvPr id="6" name="Text 3"/>
          <p:cNvSpPr/>
          <p:nvPr/>
        </p:nvSpPr>
        <p:spPr>
          <a:xfrm>
            <a:off x="1508760" y="1847088"/>
            <a:ext cx="96012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Project Summary</a:t>
            </a:r>
            <a:endParaRPr lang="en-US" sz="1600" dirty="0"/>
          </a:p>
        </p:txBody>
      </p:sp>
      <p:sp>
        <p:nvSpPr>
          <p:cNvPr id="7" name="Text 4"/>
          <p:cNvSpPr/>
          <p:nvPr/>
        </p:nvSpPr>
        <p:spPr>
          <a:xfrm>
            <a:off x="1508760" y="2212848"/>
            <a:ext cx="9875520" cy="594360"/>
          </a:xfrm>
          <a:prstGeom prst="rect">
            <a:avLst/>
          </a:prstGeom>
          <a:noFill/>
          <a:ln/>
        </p:spPr>
        <p:txBody>
          <a:bodyPr wrap="square"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We built an end-to-end churn prediction pipeline: cleaning and encoding 7,032 customer records, engineering new features, and training three classification models.</a:t>
            </a:r>
            <a:endParaRPr lang="en-US" sz="1250" dirty="0"/>
          </a:p>
        </p:txBody>
      </p:sp>
      <p:sp>
        <p:nvSpPr>
          <p:cNvPr id="8" name="Shape 5"/>
          <p:cNvSpPr/>
          <p:nvPr/>
        </p:nvSpPr>
        <p:spPr>
          <a:xfrm>
            <a:off x="640080" y="2944368"/>
            <a:ext cx="685800" cy="685800"/>
          </a:xfrm>
          <a:prstGeom prst="ellipse">
            <a:avLst/>
          </a:prstGeom>
          <a:solidFill>
            <a:srgbClr val="00B4D8"/>
          </a:solidFill>
          <a:ln/>
        </p:spPr>
      </p:sp>
      <p:pic>
        <p:nvPicPr>
          <p:cNvPr id="9" name="Image 1" descr="/home/claude/churn_ppt/icons/check_navy.png"/>
          <p:cNvPicPr>
            <a:picLocks noChangeAspect="1"/>
          </p:cNvPicPr>
          <p:nvPr/>
        </p:nvPicPr>
        <p:blipFill>
          <a:blip r:embed="rId4"/>
          <a:stretch>
            <a:fillRect/>
          </a:stretch>
        </p:blipFill>
        <p:spPr>
          <a:xfrm>
            <a:off x="749808" y="3054096"/>
            <a:ext cx="466344" cy="466344"/>
          </a:xfrm>
          <a:prstGeom prst="rect">
            <a:avLst/>
          </a:prstGeom>
        </p:spPr>
      </p:pic>
      <p:sp>
        <p:nvSpPr>
          <p:cNvPr id="10" name="Text 6"/>
          <p:cNvSpPr/>
          <p:nvPr/>
        </p:nvSpPr>
        <p:spPr>
          <a:xfrm>
            <a:off x="1508760" y="2962656"/>
            <a:ext cx="96012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Best-Performing Model</a:t>
            </a:r>
            <a:endParaRPr lang="en-US" sz="1600" dirty="0"/>
          </a:p>
        </p:txBody>
      </p:sp>
      <p:sp>
        <p:nvSpPr>
          <p:cNvPr id="11" name="Text 7"/>
          <p:cNvSpPr/>
          <p:nvPr/>
        </p:nvSpPr>
        <p:spPr>
          <a:xfrm>
            <a:off x="1508760" y="3328416"/>
            <a:ext cx="9875520" cy="594360"/>
          </a:xfrm>
          <a:prstGeom prst="rect">
            <a:avLst/>
          </a:prstGeom>
          <a:noFill/>
          <a:ln/>
        </p:spPr>
        <p:txBody>
          <a:bodyPr wrap="square"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Random Forest delivered the strongest results — 79.25% accuracy, 64.44% precision, and an F1-score of 55.62%.</a:t>
            </a:r>
            <a:endParaRPr lang="en-US" sz="1250" dirty="0"/>
          </a:p>
        </p:txBody>
      </p:sp>
      <p:sp>
        <p:nvSpPr>
          <p:cNvPr id="12" name="Shape 8"/>
          <p:cNvSpPr/>
          <p:nvPr/>
        </p:nvSpPr>
        <p:spPr>
          <a:xfrm>
            <a:off x="640080" y="4059936"/>
            <a:ext cx="685800" cy="685800"/>
          </a:xfrm>
          <a:prstGeom prst="ellipse">
            <a:avLst/>
          </a:prstGeom>
          <a:solidFill>
            <a:srgbClr val="00B4D8"/>
          </a:solidFill>
          <a:ln/>
        </p:spPr>
      </p:sp>
      <p:pic>
        <p:nvPicPr>
          <p:cNvPr id="13" name="Image 2" descr="/home/claude/churn_ppt/icons/lightbulb_navy.png"/>
          <p:cNvPicPr>
            <a:picLocks noChangeAspect="1"/>
          </p:cNvPicPr>
          <p:nvPr/>
        </p:nvPicPr>
        <p:blipFill>
          <a:blip r:embed="rId5"/>
          <a:stretch>
            <a:fillRect/>
          </a:stretch>
        </p:blipFill>
        <p:spPr>
          <a:xfrm>
            <a:off x="749808" y="4169664"/>
            <a:ext cx="466344" cy="466344"/>
          </a:xfrm>
          <a:prstGeom prst="rect">
            <a:avLst/>
          </a:prstGeom>
        </p:spPr>
      </p:pic>
      <p:sp>
        <p:nvSpPr>
          <p:cNvPr id="14" name="Text 9"/>
          <p:cNvSpPr/>
          <p:nvPr/>
        </p:nvSpPr>
        <p:spPr>
          <a:xfrm>
            <a:off x="1508760" y="4078224"/>
            <a:ext cx="96012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Key Findings</a:t>
            </a:r>
            <a:endParaRPr lang="en-US" sz="1600" dirty="0"/>
          </a:p>
        </p:txBody>
      </p:sp>
      <p:sp>
        <p:nvSpPr>
          <p:cNvPr id="15" name="Text 10"/>
          <p:cNvSpPr/>
          <p:nvPr/>
        </p:nvSpPr>
        <p:spPr>
          <a:xfrm>
            <a:off x="1508760" y="4443984"/>
            <a:ext cx="9875520" cy="594360"/>
          </a:xfrm>
          <a:prstGeom prst="rect">
            <a:avLst/>
          </a:prstGeom>
          <a:noFill/>
          <a:ln/>
        </p:spPr>
        <p:txBody>
          <a:bodyPr wrap="square"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Contract type, tenure, and support add-ons (Online Security, Tech Support) are the strongest drivers of churn.</a:t>
            </a:r>
            <a:endParaRPr lang="en-US" sz="1250" dirty="0"/>
          </a:p>
        </p:txBody>
      </p:sp>
      <p:sp>
        <p:nvSpPr>
          <p:cNvPr id="16" name="Shape 11"/>
          <p:cNvSpPr/>
          <p:nvPr/>
        </p:nvSpPr>
        <p:spPr>
          <a:xfrm>
            <a:off x="640080" y="5175504"/>
            <a:ext cx="685800" cy="685800"/>
          </a:xfrm>
          <a:prstGeom prst="ellipse">
            <a:avLst/>
          </a:prstGeom>
          <a:solidFill>
            <a:srgbClr val="00B4D8"/>
          </a:solidFill>
          <a:ln/>
        </p:spPr>
      </p:sp>
      <p:pic>
        <p:nvPicPr>
          <p:cNvPr id="17" name="Image 3" descr="/home/claude/churn_ppt/icons/dollar_navy.png"/>
          <p:cNvPicPr>
            <a:picLocks noChangeAspect="1"/>
          </p:cNvPicPr>
          <p:nvPr/>
        </p:nvPicPr>
        <p:blipFill>
          <a:blip r:embed="rId6"/>
          <a:stretch>
            <a:fillRect/>
          </a:stretch>
        </p:blipFill>
        <p:spPr>
          <a:xfrm>
            <a:off x="749808" y="5285232"/>
            <a:ext cx="466344" cy="466344"/>
          </a:xfrm>
          <a:prstGeom prst="rect">
            <a:avLst/>
          </a:prstGeom>
        </p:spPr>
      </p:pic>
      <p:sp>
        <p:nvSpPr>
          <p:cNvPr id="18" name="Text 12"/>
          <p:cNvSpPr/>
          <p:nvPr/>
        </p:nvSpPr>
        <p:spPr>
          <a:xfrm>
            <a:off x="1508760" y="5193792"/>
            <a:ext cx="96012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Business Impact</a:t>
            </a:r>
            <a:endParaRPr lang="en-US" sz="1600" dirty="0"/>
          </a:p>
        </p:txBody>
      </p:sp>
      <p:sp>
        <p:nvSpPr>
          <p:cNvPr id="19" name="Text 13"/>
          <p:cNvSpPr/>
          <p:nvPr/>
        </p:nvSpPr>
        <p:spPr>
          <a:xfrm>
            <a:off x="1508760" y="5559552"/>
            <a:ext cx="9875520" cy="594360"/>
          </a:xfrm>
          <a:prstGeom prst="rect">
            <a:avLst/>
          </a:prstGeom>
          <a:noFill/>
          <a:ln/>
        </p:spPr>
        <p:txBody>
          <a:bodyPr wrap="square"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This model gives the business a practical, data-driven way to flag at-risk customers early and protect recurring revenue.</a:t>
            </a:r>
            <a:endParaRPr lang="en-US" sz="1250" dirty="0"/>
          </a:p>
        </p:txBody>
      </p:sp>
      <p:sp>
        <p:nvSpPr>
          <p:cNvPr id="20"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0090B0"/>
                </a:solidFill>
                <a:latin typeface="Calibri" pitchFamily="34" charset="0"/>
                <a:ea typeface="Calibri" pitchFamily="34" charset="-122"/>
                <a:cs typeface="Calibri" pitchFamily="34" charset="-120"/>
              </a:rPr>
              <a:t>REFERENCES</a:t>
            </a:r>
            <a:endParaRPr lang="en-US" sz="1300" dirty="0"/>
          </a:p>
        </p:txBody>
      </p:sp>
      <p:sp>
        <p:nvSpPr>
          <p:cNvPr id="3" name="Text 1"/>
          <p:cNvSpPr/>
          <p:nvPr/>
        </p:nvSpPr>
        <p:spPr>
          <a:xfrm>
            <a:off x="548640" y="594360"/>
            <a:ext cx="11064240" cy="68580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References &amp; Resources</a:t>
            </a:r>
            <a:endParaRPr lang="en-US" sz="3000" dirty="0"/>
          </a:p>
        </p:txBody>
      </p:sp>
      <p:sp>
        <p:nvSpPr>
          <p:cNvPr id="4" name="Shape 2"/>
          <p:cNvSpPr/>
          <p:nvPr/>
        </p:nvSpPr>
        <p:spPr>
          <a:xfrm>
            <a:off x="548640" y="1783080"/>
            <a:ext cx="11064240" cy="777240"/>
          </a:xfrm>
          <a:prstGeom prst="roundRect">
            <a:avLst>
              <a:gd name="adj" fmla="val 9412"/>
            </a:avLst>
          </a:prstGeom>
          <a:solidFill>
            <a:srgbClr val="EAF4FB"/>
          </a:solidFill>
          <a:ln/>
        </p:spPr>
      </p:sp>
      <p:sp>
        <p:nvSpPr>
          <p:cNvPr id="5" name="Shape 3"/>
          <p:cNvSpPr/>
          <p:nvPr/>
        </p:nvSpPr>
        <p:spPr>
          <a:xfrm>
            <a:off x="731520" y="1892808"/>
            <a:ext cx="548640" cy="548640"/>
          </a:xfrm>
          <a:prstGeom prst="ellipse">
            <a:avLst/>
          </a:prstGeom>
          <a:solidFill>
            <a:srgbClr val="0B2545"/>
          </a:solidFill>
          <a:ln/>
        </p:spPr>
      </p:sp>
      <p:pic>
        <p:nvPicPr>
          <p:cNvPr id="6" name="Image 0" descr="/home/claude/churn_ppt/icons/book_white.png"/>
          <p:cNvPicPr>
            <a:picLocks noChangeAspect="1"/>
          </p:cNvPicPr>
          <p:nvPr/>
        </p:nvPicPr>
        <p:blipFill>
          <a:blip r:embed="rId3"/>
          <a:stretch>
            <a:fillRect/>
          </a:stretch>
        </p:blipFill>
        <p:spPr>
          <a:xfrm>
            <a:off x="813816" y="1975104"/>
            <a:ext cx="384048" cy="384048"/>
          </a:xfrm>
          <a:prstGeom prst="rect">
            <a:avLst/>
          </a:prstGeom>
        </p:spPr>
      </p:pic>
      <p:sp>
        <p:nvSpPr>
          <p:cNvPr id="7" name="Text 4"/>
          <p:cNvSpPr/>
          <p:nvPr/>
        </p:nvSpPr>
        <p:spPr>
          <a:xfrm>
            <a:off x="1463040" y="1847088"/>
            <a:ext cx="4754880" cy="64008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Scikit-learn Documentation</a:t>
            </a:r>
            <a:endParaRPr lang="en-US" sz="1350" dirty="0"/>
          </a:p>
        </p:txBody>
      </p:sp>
      <p:sp>
        <p:nvSpPr>
          <p:cNvPr id="8" name="Text 5"/>
          <p:cNvSpPr/>
          <p:nvPr/>
        </p:nvSpPr>
        <p:spPr>
          <a:xfrm>
            <a:off x="6309360" y="1847088"/>
            <a:ext cx="5120640" cy="640080"/>
          </a:xfrm>
          <a:prstGeom prst="rect">
            <a:avLst/>
          </a:prstGeom>
          <a:noFill/>
          <a:ln/>
        </p:spPr>
        <p:txBody>
          <a:bodyPr wrap="square" rtlCol="0" anchor="ctr"/>
          <a:lstStyle/>
          <a:p>
            <a:pPr marL="0" indent="0">
              <a:buNone/>
            </a:pPr>
            <a:r>
              <a:rPr lang="en-US" sz="1150" i="1" dirty="0">
                <a:solidFill>
                  <a:srgbClr val="3B3B3B"/>
                </a:solidFill>
                <a:latin typeface="Calibri" pitchFamily="34" charset="0"/>
                <a:ea typeface="Calibri" pitchFamily="34" charset="-122"/>
                <a:cs typeface="Calibri" pitchFamily="34" charset="-120"/>
              </a:rPr>
              <a:t>scikit-learn.org — model implementations, preprocessing &amp; evaluation metrics</a:t>
            </a:r>
            <a:endParaRPr lang="en-US" sz="1150" dirty="0"/>
          </a:p>
        </p:txBody>
      </p:sp>
      <p:sp>
        <p:nvSpPr>
          <p:cNvPr id="9" name="Shape 6"/>
          <p:cNvSpPr/>
          <p:nvPr/>
        </p:nvSpPr>
        <p:spPr>
          <a:xfrm>
            <a:off x="548640" y="2679192"/>
            <a:ext cx="11064240" cy="777240"/>
          </a:xfrm>
          <a:prstGeom prst="roundRect">
            <a:avLst>
              <a:gd name="adj" fmla="val 9412"/>
            </a:avLst>
          </a:prstGeom>
          <a:solidFill>
            <a:srgbClr val="EAF4FB"/>
          </a:solidFill>
          <a:ln/>
        </p:spPr>
      </p:sp>
      <p:sp>
        <p:nvSpPr>
          <p:cNvPr id="10" name="Shape 7"/>
          <p:cNvSpPr/>
          <p:nvPr/>
        </p:nvSpPr>
        <p:spPr>
          <a:xfrm>
            <a:off x="731520" y="2788920"/>
            <a:ext cx="548640" cy="548640"/>
          </a:xfrm>
          <a:prstGeom prst="ellipse">
            <a:avLst/>
          </a:prstGeom>
          <a:solidFill>
            <a:srgbClr val="0B2545"/>
          </a:solidFill>
          <a:ln/>
        </p:spPr>
      </p:sp>
      <p:pic>
        <p:nvPicPr>
          <p:cNvPr id="11" name="Image 1" descr="/home/claude/churn_ppt/icons/flask_white.png"/>
          <p:cNvPicPr>
            <a:picLocks noChangeAspect="1"/>
          </p:cNvPicPr>
          <p:nvPr/>
        </p:nvPicPr>
        <p:blipFill>
          <a:blip r:embed="rId4"/>
          <a:stretch>
            <a:fillRect/>
          </a:stretch>
        </p:blipFill>
        <p:spPr>
          <a:xfrm>
            <a:off x="813816" y="2871216"/>
            <a:ext cx="384048" cy="384048"/>
          </a:xfrm>
          <a:prstGeom prst="rect">
            <a:avLst/>
          </a:prstGeom>
        </p:spPr>
      </p:pic>
      <p:sp>
        <p:nvSpPr>
          <p:cNvPr id="12" name="Text 8"/>
          <p:cNvSpPr/>
          <p:nvPr/>
        </p:nvSpPr>
        <p:spPr>
          <a:xfrm>
            <a:off x="1463040" y="2743200"/>
            <a:ext cx="4754880" cy="64008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XGBoost Documentation</a:t>
            </a:r>
            <a:endParaRPr lang="en-US" sz="1350" dirty="0"/>
          </a:p>
        </p:txBody>
      </p:sp>
      <p:sp>
        <p:nvSpPr>
          <p:cNvPr id="13" name="Text 9"/>
          <p:cNvSpPr/>
          <p:nvPr/>
        </p:nvSpPr>
        <p:spPr>
          <a:xfrm>
            <a:off x="6309360" y="2743200"/>
            <a:ext cx="5120640" cy="640080"/>
          </a:xfrm>
          <a:prstGeom prst="rect">
            <a:avLst/>
          </a:prstGeom>
          <a:noFill/>
          <a:ln/>
        </p:spPr>
        <p:txBody>
          <a:bodyPr wrap="square" rtlCol="0" anchor="ctr"/>
          <a:lstStyle/>
          <a:p>
            <a:pPr marL="0" indent="0">
              <a:buNone/>
            </a:pPr>
            <a:r>
              <a:rPr lang="en-US" sz="1150" i="1" dirty="0">
                <a:solidFill>
                  <a:srgbClr val="3B3B3B"/>
                </a:solidFill>
                <a:latin typeface="Calibri" pitchFamily="34" charset="0"/>
                <a:ea typeface="Calibri" pitchFamily="34" charset="-122"/>
                <a:cs typeface="Calibri" pitchFamily="34" charset="-120"/>
              </a:rPr>
              <a:t>xgboost.readthedocs.io — gradient boosting reference for future model extensions</a:t>
            </a:r>
            <a:endParaRPr lang="en-US" sz="1150" dirty="0"/>
          </a:p>
        </p:txBody>
      </p:sp>
      <p:sp>
        <p:nvSpPr>
          <p:cNvPr id="14" name="Shape 10"/>
          <p:cNvSpPr/>
          <p:nvPr/>
        </p:nvSpPr>
        <p:spPr>
          <a:xfrm>
            <a:off x="548640" y="3575304"/>
            <a:ext cx="11064240" cy="777240"/>
          </a:xfrm>
          <a:prstGeom prst="roundRect">
            <a:avLst>
              <a:gd name="adj" fmla="val 9412"/>
            </a:avLst>
          </a:prstGeom>
          <a:solidFill>
            <a:srgbClr val="EAF4FB"/>
          </a:solidFill>
          <a:ln/>
        </p:spPr>
      </p:sp>
      <p:sp>
        <p:nvSpPr>
          <p:cNvPr id="15" name="Shape 11"/>
          <p:cNvSpPr/>
          <p:nvPr/>
        </p:nvSpPr>
        <p:spPr>
          <a:xfrm>
            <a:off x="731520" y="3685032"/>
            <a:ext cx="548640" cy="548640"/>
          </a:xfrm>
          <a:prstGeom prst="ellipse">
            <a:avLst/>
          </a:prstGeom>
          <a:solidFill>
            <a:srgbClr val="0B2545"/>
          </a:solidFill>
          <a:ln/>
        </p:spPr>
      </p:sp>
      <p:pic>
        <p:nvPicPr>
          <p:cNvPr id="16" name="Image 2" descr="/home/claude/churn_ppt/icons/database_white.png"/>
          <p:cNvPicPr>
            <a:picLocks noChangeAspect="1"/>
          </p:cNvPicPr>
          <p:nvPr/>
        </p:nvPicPr>
        <p:blipFill>
          <a:blip r:embed="rId5"/>
          <a:stretch>
            <a:fillRect/>
          </a:stretch>
        </p:blipFill>
        <p:spPr>
          <a:xfrm>
            <a:off x="813816" y="3767328"/>
            <a:ext cx="384048" cy="384048"/>
          </a:xfrm>
          <a:prstGeom prst="rect">
            <a:avLst/>
          </a:prstGeom>
        </p:spPr>
      </p:pic>
      <p:sp>
        <p:nvSpPr>
          <p:cNvPr id="17" name="Text 12"/>
          <p:cNvSpPr/>
          <p:nvPr/>
        </p:nvSpPr>
        <p:spPr>
          <a:xfrm>
            <a:off x="1463040" y="3639312"/>
            <a:ext cx="4754880" cy="64008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Kaggle: Telco Customer Churn Dataset</a:t>
            </a:r>
            <a:endParaRPr lang="en-US" sz="1350" dirty="0"/>
          </a:p>
        </p:txBody>
      </p:sp>
      <p:sp>
        <p:nvSpPr>
          <p:cNvPr id="18" name="Text 13"/>
          <p:cNvSpPr/>
          <p:nvPr/>
        </p:nvSpPr>
        <p:spPr>
          <a:xfrm>
            <a:off x="6309360" y="3639312"/>
            <a:ext cx="5120640" cy="640080"/>
          </a:xfrm>
          <a:prstGeom prst="rect">
            <a:avLst/>
          </a:prstGeom>
          <a:noFill/>
          <a:ln/>
        </p:spPr>
        <p:txBody>
          <a:bodyPr wrap="square" rtlCol="0" anchor="ctr"/>
          <a:lstStyle/>
          <a:p>
            <a:pPr marL="0" indent="0">
              <a:buNone/>
            </a:pPr>
            <a:r>
              <a:rPr lang="en-US" sz="1150" i="1" dirty="0">
                <a:solidFill>
                  <a:srgbClr val="3B3B3B"/>
                </a:solidFill>
                <a:latin typeface="Calibri" pitchFamily="34" charset="0"/>
                <a:ea typeface="Calibri" pitchFamily="34" charset="-122"/>
                <a:cs typeface="Calibri" pitchFamily="34" charset="-120"/>
              </a:rPr>
              <a:t>kaggle.com — source dataset used for this project</a:t>
            </a:r>
            <a:endParaRPr lang="en-US" sz="1150" dirty="0"/>
          </a:p>
        </p:txBody>
      </p:sp>
      <p:sp>
        <p:nvSpPr>
          <p:cNvPr id="19" name="Shape 14"/>
          <p:cNvSpPr/>
          <p:nvPr/>
        </p:nvSpPr>
        <p:spPr>
          <a:xfrm>
            <a:off x="548640" y="4471416"/>
            <a:ext cx="11064240" cy="777240"/>
          </a:xfrm>
          <a:prstGeom prst="roundRect">
            <a:avLst>
              <a:gd name="adj" fmla="val 9412"/>
            </a:avLst>
          </a:prstGeom>
          <a:solidFill>
            <a:srgbClr val="EAF4FB"/>
          </a:solidFill>
          <a:ln/>
        </p:spPr>
      </p:sp>
      <p:sp>
        <p:nvSpPr>
          <p:cNvPr id="20" name="Shape 15"/>
          <p:cNvSpPr/>
          <p:nvPr/>
        </p:nvSpPr>
        <p:spPr>
          <a:xfrm>
            <a:off x="731520" y="4581144"/>
            <a:ext cx="548640" cy="548640"/>
          </a:xfrm>
          <a:prstGeom prst="ellipse">
            <a:avLst/>
          </a:prstGeom>
          <a:solidFill>
            <a:srgbClr val="0B2545"/>
          </a:solidFill>
          <a:ln/>
        </p:spPr>
      </p:sp>
      <p:pic>
        <p:nvPicPr>
          <p:cNvPr id="21" name="Image 3" descr="/home/claude/churn_ppt/icons/clipboard_white.png"/>
          <p:cNvPicPr>
            <a:picLocks noChangeAspect="1"/>
          </p:cNvPicPr>
          <p:nvPr/>
        </p:nvPicPr>
        <p:blipFill>
          <a:blip r:embed="rId6"/>
          <a:stretch>
            <a:fillRect/>
          </a:stretch>
        </p:blipFill>
        <p:spPr>
          <a:xfrm>
            <a:off x="813816" y="4663440"/>
            <a:ext cx="384048" cy="384048"/>
          </a:xfrm>
          <a:prstGeom prst="rect">
            <a:avLst/>
          </a:prstGeom>
        </p:spPr>
      </p:pic>
      <p:sp>
        <p:nvSpPr>
          <p:cNvPr id="22" name="Text 16"/>
          <p:cNvSpPr/>
          <p:nvPr/>
        </p:nvSpPr>
        <p:spPr>
          <a:xfrm>
            <a:off x="1463040" y="4535424"/>
            <a:ext cx="4754880" cy="64008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Research Papers on Churn Prediction</a:t>
            </a:r>
            <a:endParaRPr lang="en-US" sz="1350" dirty="0"/>
          </a:p>
        </p:txBody>
      </p:sp>
      <p:sp>
        <p:nvSpPr>
          <p:cNvPr id="23" name="Text 17"/>
          <p:cNvSpPr/>
          <p:nvPr/>
        </p:nvSpPr>
        <p:spPr>
          <a:xfrm>
            <a:off x="6309360" y="4535424"/>
            <a:ext cx="5120640" cy="640080"/>
          </a:xfrm>
          <a:prstGeom prst="rect">
            <a:avLst/>
          </a:prstGeom>
          <a:noFill/>
          <a:ln/>
        </p:spPr>
        <p:txBody>
          <a:bodyPr wrap="square" rtlCol="0" anchor="ctr"/>
          <a:lstStyle/>
          <a:p>
            <a:pPr marL="0" indent="0">
              <a:buNone/>
            </a:pPr>
            <a:r>
              <a:rPr lang="en-US" sz="1150" i="1" dirty="0">
                <a:solidFill>
                  <a:srgbClr val="3B3B3B"/>
                </a:solidFill>
                <a:latin typeface="Calibri" pitchFamily="34" charset="0"/>
                <a:ea typeface="Calibri" pitchFamily="34" charset="-122"/>
                <a:cs typeface="Calibri" pitchFamily="34" charset="-120"/>
              </a:rPr>
              <a:t>Peer-reviewed literature on customer churn modelling in telecom</a:t>
            </a:r>
            <a:endParaRPr lang="en-US" sz="1150" dirty="0"/>
          </a:p>
        </p:txBody>
      </p:sp>
      <p:sp>
        <p:nvSpPr>
          <p:cNvPr id="24" name="Shape 18"/>
          <p:cNvSpPr/>
          <p:nvPr/>
        </p:nvSpPr>
        <p:spPr>
          <a:xfrm>
            <a:off x="548640" y="5367528"/>
            <a:ext cx="11064240" cy="777240"/>
          </a:xfrm>
          <a:prstGeom prst="roundRect">
            <a:avLst>
              <a:gd name="adj" fmla="val 9412"/>
            </a:avLst>
          </a:prstGeom>
          <a:solidFill>
            <a:srgbClr val="EAF4FB"/>
          </a:solidFill>
          <a:ln/>
        </p:spPr>
      </p:sp>
      <p:sp>
        <p:nvSpPr>
          <p:cNvPr id="25" name="Shape 19"/>
          <p:cNvSpPr/>
          <p:nvPr/>
        </p:nvSpPr>
        <p:spPr>
          <a:xfrm>
            <a:off x="731520" y="5477256"/>
            <a:ext cx="548640" cy="548640"/>
          </a:xfrm>
          <a:prstGeom prst="ellipse">
            <a:avLst/>
          </a:prstGeom>
          <a:solidFill>
            <a:srgbClr val="0B2545"/>
          </a:solidFill>
          <a:ln/>
        </p:spPr>
      </p:sp>
      <p:pic>
        <p:nvPicPr>
          <p:cNvPr id="26" name="Image 4" descr="/home/claude/churn_ppt/icons/cogs_white.png"/>
          <p:cNvPicPr>
            <a:picLocks noChangeAspect="1"/>
          </p:cNvPicPr>
          <p:nvPr/>
        </p:nvPicPr>
        <p:blipFill>
          <a:blip r:embed="rId7"/>
          <a:stretch>
            <a:fillRect/>
          </a:stretch>
        </p:blipFill>
        <p:spPr>
          <a:xfrm>
            <a:off x="813816" y="5559552"/>
            <a:ext cx="384048" cy="384048"/>
          </a:xfrm>
          <a:prstGeom prst="rect">
            <a:avLst/>
          </a:prstGeom>
        </p:spPr>
      </p:pic>
      <p:sp>
        <p:nvSpPr>
          <p:cNvPr id="27" name="Text 20"/>
          <p:cNvSpPr/>
          <p:nvPr/>
        </p:nvSpPr>
        <p:spPr>
          <a:xfrm>
            <a:off x="1463040" y="5431536"/>
            <a:ext cx="4754880" cy="64008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Python Documentation</a:t>
            </a:r>
            <a:endParaRPr lang="en-US" sz="1350" dirty="0"/>
          </a:p>
        </p:txBody>
      </p:sp>
      <p:sp>
        <p:nvSpPr>
          <p:cNvPr id="28" name="Text 21"/>
          <p:cNvSpPr/>
          <p:nvPr/>
        </p:nvSpPr>
        <p:spPr>
          <a:xfrm>
            <a:off x="6309360" y="5431536"/>
            <a:ext cx="5120640" cy="640080"/>
          </a:xfrm>
          <a:prstGeom prst="rect">
            <a:avLst/>
          </a:prstGeom>
          <a:noFill/>
          <a:ln/>
        </p:spPr>
        <p:txBody>
          <a:bodyPr wrap="square" rtlCol="0" anchor="ctr"/>
          <a:lstStyle/>
          <a:p>
            <a:pPr marL="0" indent="0">
              <a:buNone/>
            </a:pPr>
            <a:r>
              <a:rPr lang="en-US" sz="1150" i="1" dirty="0">
                <a:solidFill>
                  <a:srgbClr val="3B3B3B"/>
                </a:solidFill>
                <a:latin typeface="Calibri" pitchFamily="34" charset="0"/>
                <a:ea typeface="Calibri" pitchFamily="34" charset="-122"/>
                <a:cs typeface="Calibri" pitchFamily="34" charset="-120"/>
              </a:rPr>
              <a:t>python.org — pandas, NumPy, Matplotlib &amp; Seaborn references</a:t>
            </a:r>
            <a:endParaRPr lang="en-US" sz="1150" dirty="0"/>
          </a:p>
        </p:txBody>
      </p:sp>
      <p:sp>
        <p:nvSpPr>
          <p:cNvPr id="29" name="Text 22"/>
          <p:cNvSpPr/>
          <p:nvPr/>
        </p:nvSpPr>
        <p:spPr>
          <a:xfrm>
            <a:off x="548640" y="6263640"/>
            <a:ext cx="5486400" cy="365760"/>
          </a:xfrm>
          <a:prstGeom prst="rect">
            <a:avLst/>
          </a:prstGeom>
          <a:noFill/>
          <a:ln/>
        </p:spPr>
        <p:txBody>
          <a:bodyPr wrap="square" lIns="91440" tIns="45720" rIns="91440" bIns="45720" rtlCol="0" anchor="ctr"/>
          <a:lstStyle/>
          <a:p>
            <a:pPr marL="0" indent="0">
              <a:buNone/>
            </a:pPr>
            <a:r>
              <a:rPr lang="en-US" sz="2000" b="1" dirty="0">
                <a:solidFill>
                  <a:srgbClr val="0090B0"/>
                </a:solidFill>
                <a:latin typeface="Cambria"/>
                <a:ea typeface="Cambria"/>
                <a:cs typeface="Cambria" pitchFamily="34" charset="-120"/>
              </a:rPr>
              <a:t>Thank you</a:t>
            </a:r>
            <a:endParaRPr lang="en-US" sz="2000">
              <a:latin typeface="Cambria"/>
              <a:ea typeface="Cambria"/>
              <a:cs typeface="Calibri"/>
            </a:endParaRPr>
          </a:p>
        </p:txBody>
      </p:sp>
      <p:sp>
        <p:nvSpPr>
          <p:cNvPr id="30" name="Text 23"/>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6B7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3530</Words>
  <Application>Microsoft Office PowerPoint</Application>
  <PresentationFormat>Widescreen</PresentationFormat>
  <Paragraphs>402</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Saiveekshith2006@outlook.com</cp:lastModifiedBy>
  <cp:revision>72</cp:revision>
  <dcterms:created xsi:type="dcterms:W3CDTF">2026-07-31T19:19:26Z</dcterms:created>
  <dcterms:modified xsi:type="dcterms:W3CDTF">2026-07-31T19:42:48Z</dcterms:modified>
</cp:coreProperties>
</file>